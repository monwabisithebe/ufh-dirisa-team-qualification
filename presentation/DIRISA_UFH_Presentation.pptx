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9.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0.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2016</c:v>
                </c:pt>
              </c:strCache>
            </c:strRef>
          </c:tx>
          <c:spPr>
            <a:solidFill>
              <a:srgbClr val="0E5E5A"/>
            </a:solidFill>
            <a:ln>
              <a:noFill/>
            </a:ln>
            <a:effectLst/>
          </c:spPr>
          <c:marker>
            <c:symbol val="circle"/>
            <c:size val="7"/>
            <c:spPr>
              <a:solidFill>
                <a:srgbClr val="0E5E5A"/>
              </a:solidFill>
              <a:ln w="9525" cap="flat">
                <a:solidFill>
                  <a:srgbClr val="0E5E5A"/>
                </a:solidFill>
                <a:prstDash val="solid"/>
                <a:round/>
              </a:ln>
              <a:effectLst/>
            </c:spPr>
          </c:marker>
          <c:xVal>
            <c:numRef>
              <c:f>Sheet1!$A$2:$A$67</c:f>
              <c:numCache>
                <c:formatCode>General</c:formatCode>
                <c:ptCount val="66"/>
                <c:pt idx="0">
                  <c:v>55.93</c:v>
                </c:pt>
                <c:pt idx="1">
                  <c:v>61.16</c:v>
                </c:pt>
                <c:pt idx="2">
                  <c:v>60.76</c:v>
                </c:pt>
                <c:pt idx="3">
                  <c:v>52.34</c:v>
                </c:pt>
                <c:pt idx="4">
                  <c:v>65.34</c:v>
                </c:pt>
                <c:pt idx="5">
                  <c:v>57.69</c:v>
                </c:pt>
                <c:pt idx="6">
                  <c:v>66.04</c:v>
                </c:pt>
                <c:pt idx="7">
                  <c:v>59.29</c:v>
                </c:pt>
                <c:pt idx="8">
                  <c:v>53.81</c:v>
                </c:pt>
                <c:pt idx="9">
                  <c:v>51.28</c:v>
                </c:pt>
                <c:pt idx="10">
                  <c:v>61.6</c:v>
                </c:pt>
                <c:pt idx="11">
                  <c:v>54.41</c:v>
                </c:pt>
                <c:pt idx="12">
                  <c:v>57.39</c:v>
                </c:pt>
                <c:pt idx="13">
                  <c:v>55.08</c:v>
                </c:pt>
                <c:pt idx="14">
                  <c:v>56.86</c:v>
                </c:pt>
                <c:pt idx="15">
                  <c:v>58.15</c:v>
                </c:pt>
                <c:pt idx="16">
                  <c:v>59.83</c:v>
                </c:pt>
                <c:pt idx="17">
                  <c:v>52</c:v>
                </c:pt>
                <c:pt idx="18">
                  <c:v>55.12</c:v>
                </c:pt>
                <c:pt idx="19">
                  <c:v>53.75</c:v>
                </c:pt>
                <c:pt idx="20">
                  <c:v>54.88</c:v>
                </c:pt>
                <c:pt idx="21">
                  <c:v>58.2</c:v>
                </c:pt>
                <c:pt idx="22">
                  <c:v>57.34</c:v>
                </c:pt>
                <c:pt idx="23">
                  <c:v>52.32</c:v>
                </c:pt>
                <c:pt idx="24">
                  <c:v>56.17</c:v>
                </c:pt>
                <c:pt idx="25">
                  <c:v>50.95</c:v>
                </c:pt>
                <c:pt idx="26">
                  <c:v>53.3</c:v>
                </c:pt>
                <c:pt idx="27">
                  <c:v>45.33</c:v>
                </c:pt>
                <c:pt idx="28">
                  <c:v>59.49</c:v>
                </c:pt>
                <c:pt idx="29">
                  <c:v>54.17</c:v>
                </c:pt>
                <c:pt idx="30">
                  <c:v>56.78</c:v>
                </c:pt>
                <c:pt idx="31">
                  <c:v>54.22</c:v>
                </c:pt>
                <c:pt idx="32">
                  <c:v>63.86</c:v>
                </c:pt>
                <c:pt idx="33">
                  <c:v>45.24</c:v>
                </c:pt>
                <c:pt idx="34">
                  <c:v>47.04</c:v>
                </c:pt>
                <c:pt idx="35">
                  <c:v>52.7</c:v>
                </c:pt>
                <c:pt idx="36">
                  <c:v>44.18</c:v>
                </c:pt>
                <c:pt idx="37">
                  <c:v>55.16</c:v>
                </c:pt>
                <c:pt idx="38">
                  <c:v>46.27</c:v>
                </c:pt>
                <c:pt idx="39">
                  <c:v>57.08</c:v>
                </c:pt>
                <c:pt idx="40">
                  <c:v>51.38</c:v>
                </c:pt>
                <c:pt idx="41">
                  <c:v>46.3</c:v>
                </c:pt>
                <c:pt idx="42">
                  <c:v>42.46</c:v>
                </c:pt>
                <c:pt idx="43">
                  <c:v>55.65</c:v>
                </c:pt>
                <c:pt idx="44">
                  <c:v>47.32</c:v>
                </c:pt>
                <c:pt idx="45">
                  <c:v>52.58</c:v>
                </c:pt>
                <c:pt idx="46">
                  <c:v>48.3</c:v>
                </c:pt>
                <c:pt idx="47">
                  <c:v>49.01</c:v>
                </c:pt>
                <c:pt idx="48">
                  <c:v>49.09</c:v>
                </c:pt>
                <c:pt idx="49">
                  <c:v>52.5</c:v>
                </c:pt>
                <c:pt idx="50">
                  <c:v>46.96</c:v>
                </c:pt>
                <c:pt idx="51">
                  <c:v>49</c:v>
                </c:pt>
                <c:pt idx="52">
                  <c:v>47.11</c:v>
                </c:pt>
                <c:pt idx="53">
                  <c:v>48.04</c:v>
                </c:pt>
                <c:pt idx="54">
                  <c:v>46.2</c:v>
                </c:pt>
                <c:pt idx="55">
                  <c:v>47.3</c:v>
                </c:pt>
                <c:pt idx="56">
                  <c:v>45.39</c:v>
                </c:pt>
                <c:pt idx="57">
                  <c:v>51.45</c:v>
                </c:pt>
                <c:pt idx="58">
                  <c:v>42.59</c:v>
                </c:pt>
                <c:pt idx="59">
                  <c:v>46.26</c:v>
                </c:pt>
                <c:pt idx="60">
                  <c:v>39.53</c:v>
                </c:pt>
                <c:pt idx="61">
                  <c:v>52.57</c:v>
                </c:pt>
                <c:pt idx="62">
                  <c:v>46.91</c:v>
                </c:pt>
                <c:pt idx="63">
                  <c:v>46.72</c:v>
                </c:pt>
                <c:pt idx="64">
                  <c:v>48.15</c:v>
                </c:pt>
                <c:pt idx="65">
                  <c:v>45.88</c:v>
                </c:pt>
              </c:numCache>
            </c:numRef>
          </c:xVal>
          <c:yVal>
            <c:numRef>
              <c:f>Sheet1!$B$2:$B$67</c:f>
              <c:numCache>
                <c:formatCode>General</c:formatCode>
                <c:ptCount val="66"/>
                <c:pt idx="0">
                  <c:v>55.75</c:v>
                </c:pt>
                <c:pt idx="1">
                  <c:v>61.31</c:v>
                </c:pt>
                <c:pt idx="2">
                  <c:v>59.83</c:v>
                </c:pt>
                <c:pt idx="3">
                  <c:v>52.59</c:v>
                </c:pt>
                <c:pt idx="4">
                  <c:v>65.23</c:v>
                </c:pt>
                <c:pt idx="5">
                  <c:v>57.69</c:v>
                </c:pt>
                <c:pt idx="6">
                  <c:v>66.11</c:v>
                </c:pt>
                <c:pt idx="7">
                  <c:v>59.32</c:v>
                </c:pt>
                <c:pt idx="8">
                  <c:v>53.29</c:v>
                </c:pt>
                <c:pt idx="9">
                  <c:v>51.19</c:v>
                </c:pt>
                <c:pt idx="10">
                  <c:v>59.3</c:v>
                </c:pt>
                <c:pt idx="11">
                  <c:v>53.81</c:v>
                </c:pt>
                <c:pt idx="12">
                  <c:v>57.21</c:v>
                </c:pt>
                <c:pt idx="13">
                  <c:v>54.85</c:v>
                </c:pt>
                <c:pt idx="14">
                  <c:v>56.97</c:v>
                </c:pt>
                <c:pt idx="15">
                  <c:v>57.88</c:v>
                </c:pt>
                <c:pt idx="16">
                  <c:v>59.64</c:v>
                </c:pt>
                <c:pt idx="17">
                  <c:v>51.03</c:v>
                </c:pt>
                <c:pt idx="18">
                  <c:v>55.12</c:v>
                </c:pt>
                <c:pt idx="19">
                  <c:v>53.76</c:v>
                </c:pt>
                <c:pt idx="20">
                  <c:v>54.49</c:v>
                </c:pt>
                <c:pt idx="21">
                  <c:v>57.77</c:v>
                </c:pt>
                <c:pt idx="22">
                  <c:v>57.36</c:v>
                </c:pt>
                <c:pt idx="23">
                  <c:v>52.14</c:v>
                </c:pt>
                <c:pt idx="24">
                  <c:v>55.96</c:v>
                </c:pt>
                <c:pt idx="25">
                  <c:v>50.67</c:v>
                </c:pt>
                <c:pt idx="26">
                  <c:v>53.11</c:v>
                </c:pt>
                <c:pt idx="27">
                  <c:v>45.11</c:v>
                </c:pt>
                <c:pt idx="28">
                  <c:v>59.3</c:v>
                </c:pt>
                <c:pt idx="29">
                  <c:v>54.26</c:v>
                </c:pt>
                <c:pt idx="30">
                  <c:v>56.52</c:v>
                </c:pt>
                <c:pt idx="31">
                  <c:v>53.49</c:v>
                </c:pt>
                <c:pt idx="32">
                  <c:v>63.53</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numCache>
            </c:numRef>
          </c:yVal>
          <c:smooth val="0"/>
        </c:ser>
        <c:ser>
          <c:idx val="1"/>
          <c:order val="1"/>
          <c:tx>
            <c:strRef>
              <c:f>Sheet1!$C$1</c:f>
              <c:strCache>
                <c:ptCount val="1"/>
                <c:pt idx="0">
                  <c:v>2021</c:v>
                </c:pt>
              </c:strCache>
            </c:strRef>
          </c:tx>
          <c:spPr>
            <a:solidFill>
              <a:srgbClr val="D2542B"/>
            </a:solidFill>
            <a:ln>
              <a:noFill/>
            </a:ln>
            <a:effectLst/>
          </c:spPr>
          <c:marker>
            <c:symbol val="circle"/>
            <c:size val="7"/>
            <c:spPr>
              <a:solidFill>
                <a:srgbClr val="D2542B"/>
              </a:solidFill>
              <a:ln w="9525" cap="flat">
                <a:solidFill>
                  <a:srgbClr val="D2542B"/>
                </a:solidFill>
                <a:prstDash val="solid"/>
                <a:round/>
              </a:ln>
              <a:effectLst/>
            </c:spPr>
          </c:marker>
          <c:xVal>
            <c:numRef>
              <c:f>Sheet1!$A$2:$A$67</c:f>
              <c:numCache>
                <c:formatCode>General</c:formatCode>
                <c:ptCount val="66"/>
                <c:pt idx="0">
                  <c:v>55.93</c:v>
                </c:pt>
                <c:pt idx="1">
                  <c:v>61.16</c:v>
                </c:pt>
                <c:pt idx="2">
                  <c:v>60.76</c:v>
                </c:pt>
                <c:pt idx="3">
                  <c:v>52.34</c:v>
                </c:pt>
                <c:pt idx="4">
                  <c:v>65.34</c:v>
                </c:pt>
                <c:pt idx="5">
                  <c:v>57.69</c:v>
                </c:pt>
                <c:pt idx="6">
                  <c:v>66.04</c:v>
                </c:pt>
                <c:pt idx="7">
                  <c:v>59.29</c:v>
                </c:pt>
                <c:pt idx="8">
                  <c:v>53.81</c:v>
                </c:pt>
                <c:pt idx="9">
                  <c:v>51.28</c:v>
                </c:pt>
                <c:pt idx="10">
                  <c:v>61.6</c:v>
                </c:pt>
                <c:pt idx="11">
                  <c:v>54.41</c:v>
                </c:pt>
                <c:pt idx="12">
                  <c:v>57.39</c:v>
                </c:pt>
                <c:pt idx="13">
                  <c:v>55.08</c:v>
                </c:pt>
                <c:pt idx="14">
                  <c:v>56.86</c:v>
                </c:pt>
                <c:pt idx="15">
                  <c:v>58.15</c:v>
                </c:pt>
                <c:pt idx="16">
                  <c:v>59.83</c:v>
                </c:pt>
                <c:pt idx="17">
                  <c:v>52</c:v>
                </c:pt>
                <c:pt idx="18">
                  <c:v>55.12</c:v>
                </c:pt>
                <c:pt idx="19">
                  <c:v>53.75</c:v>
                </c:pt>
                <c:pt idx="20">
                  <c:v>54.88</c:v>
                </c:pt>
                <c:pt idx="21">
                  <c:v>58.2</c:v>
                </c:pt>
                <c:pt idx="22">
                  <c:v>57.34</c:v>
                </c:pt>
                <c:pt idx="23">
                  <c:v>52.32</c:v>
                </c:pt>
                <c:pt idx="24">
                  <c:v>56.17</c:v>
                </c:pt>
                <c:pt idx="25">
                  <c:v>50.95</c:v>
                </c:pt>
                <c:pt idx="26">
                  <c:v>53.3</c:v>
                </c:pt>
                <c:pt idx="27">
                  <c:v>45.33</c:v>
                </c:pt>
                <c:pt idx="28">
                  <c:v>59.49</c:v>
                </c:pt>
                <c:pt idx="29">
                  <c:v>54.17</c:v>
                </c:pt>
                <c:pt idx="30">
                  <c:v>56.78</c:v>
                </c:pt>
                <c:pt idx="31">
                  <c:v>54.22</c:v>
                </c:pt>
                <c:pt idx="32">
                  <c:v>63.86</c:v>
                </c:pt>
                <c:pt idx="33">
                  <c:v>45.24</c:v>
                </c:pt>
                <c:pt idx="34">
                  <c:v>47.04</c:v>
                </c:pt>
                <c:pt idx="35">
                  <c:v>52.7</c:v>
                </c:pt>
                <c:pt idx="36">
                  <c:v>44.18</c:v>
                </c:pt>
                <c:pt idx="37">
                  <c:v>55.16</c:v>
                </c:pt>
                <c:pt idx="38">
                  <c:v>46.27</c:v>
                </c:pt>
                <c:pt idx="39">
                  <c:v>57.08</c:v>
                </c:pt>
                <c:pt idx="40">
                  <c:v>51.38</c:v>
                </c:pt>
                <c:pt idx="41">
                  <c:v>46.3</c:v>
                </c:pt>
                <c:pt idx="42">
                  <c:v>42.46</c:v>
                </c:pt>
                <c:pt idx="43">
                  <c:v>55.65</c:v>
                </c:pt>
                <c:pt idx="44">
                  <c:v>47.32</c:v>
                </c:pt>
                <c:pt idx="45">
                  <c:v>52.58</c:v>
                </c:pt>
                <c:pt idx="46">
                  <c:v>48.3</c:v>
                </c:pt>
                <c:pt idx="47">
                  <c:v>49.01</c:v>
                </c:pt>
                <c:pt idx="48">
                  <c:v>49.09</c:v>
                </c:pt>
                <c:pt idx="49">
                  <c:v>52.5</c:v>
                </c:pt>
                <c:pt idx="50">
                  <c:v>46.96</c:v>
                </c:pt>
                <c:pt idx="51">
                  <c:v>49</c:v>
                </c:pt>
                <c:pt idx="52">
                  <c:v>47.11</c:v>
                </c:pt>
                <c:pt idx="53">
                  <c:v>48.04</c:v>
                </c:pt>
                <c:pt idx="54">
                  <c:v>46.2</c:v>
                </c:pt>
                <c:pt idx="55">
                  <c:v>47.3</c:v>
                </c:pt>
                <c:pt idx="56">
                  <c:v>45.39</c:v>
                </c:pt>
                <c:pt idx="57">
                  <c:v>51.45</c:v>
                </c:pt>
                <c:pt idx="58">
                  <c:v>42.59</c:v>
                </c:pt>
                <c:pt idx="59">
                  <c:v>46.26</c:v>
                </c:pt>
                <c:pt idx="60">
                  <c:v>39.53</c:v>
                </c:pt>
                <c:pt idx="61">
                  <c:v>52.57</c:v>
                </c:pt>
                <c:pt idx="62">
                  <c:v>46.91</c:v>
                </c:pt>
                <c:pt idx="63">
                  <c:v>46.72</c:v>
                </c:pt>
                <c:pt idx="64">
                  <c:v>48.15</c:v>
                </c:pt>
                <c:pt idx="65">
                  <c:v>45.88</c:v>
                </c:pt>
              </c:numCache>
            </c:numRef>
          </c:xVal>
          <c:yVal>
            <c:numRef>
              <c:f>Sheet1!$C$2:$C$67</c:f>
              <c:numCache>
                <c:formatCode>General</c:formatCode>
                <c:ptCount val="6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45.23</c:v>
                </c:pt>
                <c:pt idx="34">
                  <c:v>46.86</c:v>
                </c:pt>
                <c:pt idx="35">
                  <c:v>52.77</c:v>
                </c:pt>
                <c:pt idx="36">
                  <c:v>42.93</c:v>
                </c:pt>
                <c:pt idx="37">
                  <c:v>55.53</c:v>
                </c:pt>
                <c:pt idx="38">
                  <c:v>46.38</c:v>
                </c:pt>
                <c:pt idx="39">
                  <c:v>57.01</c:v>
                </c:pt>
                <c:pt idx="40">
                  <c:v>51.01</c:v>
                </c:pt>
                <c:pt idx="41">
                  <c:v>46.01</c:v>
                </c:pt>
                <c:pt idx="42">
                  <c:v>42.3</c:v>
                </c:pt>
                <c:pt idx="43">
                  <c:v>54.89</c:v>
                </c:pt>
                <c:pt idx="44">
                  <c:v>47.2</c:v>
                </c:pt>
                <c:pt idx="45">
                  <c:v>52.45</c:v>
                </c:pt>
                <c:pt idx="46">
                  <c:v>48.03</c:v>
                </c:pt>
                <c:pt idx="47">
                  <c:v>49.15</c:v>
                </c:pt>
                <c:pt idx="48">
                  <c:v>48.07</c:v>
                </c:pt>
                <c:pt idx="49">
                  <c:v>52.74</c:v>
                </c:pt>
                <c:pt idx="50">
                  <c:v>46.71</c:v>
                </c:pt>
                <c:pt idx="51">
                  <c:v>48.24</c:v>
                </c:pt>
                <c:pt idx="52">
                  <c:v>47.04</c:v>
                </c:pt>
                <c:pt idx="53">
                  <c:v>47.76</c:v>
                </c:pt>
                <c:pt idx="54">
                  <c:v>46.41</c:v>
                </c:pt>
                <c:pt idx="55">
                  <c:v>47.25</c:v>
                </c:pt>
                <c:pt idx="56">
                  <c:v>44.51</c:v>
                </c:pt>
                <c:pt idx="57">
                  <c:v>50.99</c:v>
                </c:pt>
                <c:pt idx="58">
                  <c:v>42.31</c:v>
                </c:pt>
                <c:pt idx="59">
                  <c:v>45.52</c:v>
                </c:pt>
                <c:pt idx="60">
                  <c:v>39.42</c:v>
                </c:pt>
                <c:pt idx="61">
                  <c:v>52.36</c:v>
                </c:pt>
                <c:pt idx="62">
                  <c:v>47.02</c:v>
                </c:pt>
                <c:pt idx="63">
                  <c:v>46.62</c:v>
                </c:pt>
                <c:pt idx="64">
                  <c:v>48.34</c:v>
                </c:pt>
                <c:pt idx="65">
                  <c:v>45.78</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70"/>
          <c:min val="38"/>
        </c:scaling>
        <c:delete val="0"/>
        <c:axPos val="b"/>
        <c:title>
          <c:tx>
            <c:rich>
              <a:bodyPr/>
              <a:lstStyle/>
              <a:p>
                <a:pPr>
                  <a:defRPr sz="1200" b="0" i="0" u="none" strike="noStrike">
                    <a:solidFill>
                      <a:srgbClr val="5C6B6E"/>
                    </a:solidFill>
                    <a:latin typeface="Arial"/>
                  </a:defRPr>
                </a:pPr>
                <a:r>
                  <a:rPr sz="1200" b="0" i="0" u="none" strike="noStrike">
                    <a:solidFill>
                      <a:srgbClr val="5C6B6E"/>
                    </a:solidFill>
                    <a:latin typeface="Arial"/>
                  </a:rPr>
                  <a:t>Official IEC turnout (%)</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2"/>
        <c:crosses val="autoZero"/>
        <c:auto val="1"/>
        <c:lblAlgn val="ctr"/>
        <c:noMultiLvlLbl val="1"/>
        <c:majorUnit val="8"/>
      </c:valAx>
      <c:valAx>
        <c:axId val="2094734552"/>
        <c:scaling>
          <c:orientation val="minMax"/>
          <c:max val="70"/>
          <c:min val="38"/>
        </c:scaling>
        <c:delete val="0"/>
        <c:axPos val="l"/>
        <c:majorGridlines>
          <c:spPr>
            <a:ln w="6350" cap="flat">
              <a:solidFill>
                <a:srgbClr val="E3E9E8"/>
              </a:solidFill>
              <a:prstDash val="solid"/>
              <a:round/>
            </a:ln>
          </c:spPr>
        </c:majorGridlines>
        <c:title>
          <c:tx>
            <c:rich>
              <a:bodyPr/>
              <a:lstStyle/>
              <a:p>
                <a:pPr>
                  <a:defRPr sz="1200" b="0" i="0" u="none" strike="noStrike">
                    <a:solidFill>
                      <a:srgbClr val="5C6B6E"/>
                    </a:solidFill>
                    <a:latin typeface="Arial"/>
                  </a:defRPr>
                </a:pPr>
                <a:r>
                  <a:rPr sz="1200" b="0" i="0" u="none" strike="noStrike">
                    <a:solidFill>
                      <a:srgbClr val="5C6B6E"/>
                    </a:solidFill>
                    <a:latin typeface="Arial"/>
                  </a:rPr>
                  <a:t>Reconstructed turnout (%)</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4"/>
        <c:crosses val="autoZero"/>
        <c:crossBetween val="midCat"/>
        <c:majorUnit val="8"/>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Municipal mean</c:v>
                </c:pt>
              </c:strCache>
            </c:strRef>
          </c:tx>
          <c:spPr>
            <a:solidFill>
              <a:srgbClr val="0E5E5A"/>
            </a:solidFill>
            <a:ln w="38100" cap="flat">
              <a:solidFill>
                <a:srgbClr val="0E5E5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0E5E5A"/>
              </a:solidFill>
              <a:ln w="9525" cap="flat">
                <a:solidFill>
                  <a:srgbClr val="0E5E5A"/>
                </a:solidFill>
                <a:prstDash val="solid"/>
                <a:round/>
              </a:ln>
              <a:effectLst/>
            </c:spPr>
          </c:marker>
          <c:cat>
            <c:multiLvlStrRef>
              <c:f>Sheet1!$A$2:$A$6</c:f>
              <c:multiLvlStrCache>
                <c:ptCount val="5"/>
                <c:lvl>
                  <c:pt idx="0">
                    <c:v>2000</c:v>
                  </c:pt>
                  <c:pt idx="1">
                    <c:v>2006</c:v>
                  </c:pt>
                  <c:pt idx="2">
                    <c:v>2011</c:v>
                  </c:pt>
                  <c:pt idx="3">
                    <c:v>2016</c:v>
                  </c:pt>
                  <c:pt idx="4">
                    <c:v>2021</c:v>
                  </c:pt>
                </c:lvl>
              </c:multiLvlStrCache>
            </c:multiLvlStrRef>
          </c:cat>
          <c:val>
            <c:numRef>
              <c:f>Sheet1!$B$2:$B$6</c:f>
              <c:numCache>
                <c:formatCode>General</c:formatCode>
                <c:ptCount val="5"/>
                <c:pt idx="0">
                  <c:v>56.3</c:v>
                </c:pt>
                <c:pt idx="1">
                  <c:v>57.19</c:v>
                </c:pt>
                <c:pt idx="2">
                  <c:v>58.03</c:v>
                </c:pt>
                <c:pt idx="3">
                  <c:v>56.23</c:v>
                </c:pt>
                <c:pt idx="4">
                  <c:v>48.03</c:v>
                </c:pt>
              </c:numCache>
            </c:numRef>
          </c:val>
          <c:smooth val="0"/>
        </c:ser>
        <c:ser>
          <c:idx val="1"/>
          <c:order val="1"/>
          <c:tx>
            <c:strRef>
              <c:f>Sheet1!$C$1</c:f>
              <c:strCache>
                <c:ptCount val="1"/>
                <c:pt idx="0">
                  <c:v>Registered-voter weighted</c:v>
                </c:pt>
              </c:strCache>
            </c:strRef>
          </c:tx>
          <c:spPr>
            <a:solidFill>
              <a:srgbClr val="D2542B"/>
            </a:solidFill>
            <a:ln w="38100" cap="flat">
              <a:solidFill>
                <a:srgbClr val="D254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D2542B"/>
              </a:solidFill>
              <a:ln w="9525" cap="flat">
                <a:solidFill>
                  <a:srgbClr val="D2542B"/>
                </a:solidFill>
                <a:prstDash val="solid"/>
                <a:round/>
              </a:ln>
              <a:effectLst/>
            </c:spPr>
          </c:marker>
          <c:cat>
            <c:multiLvlStrRef>
              <c:f>Sheet1!$A$2:$A$6</c:f>
              <c:multiLvlStrCache>
                <c:ptCount val="5"/>
                <c:lvl>
                  <c:pt idx="0">
                    <c:v>2000</c:v>
                  </c:pt>
                  <c:pt idx="1">
                    <c:v>2006</c:v>
                  </c:pt>
                  <c:pt idx="2">
                    <c:v>2011</c:v>
                  </c:pt>
                  <c:pt idx="3">
                    <c:v>2016</c:v>
                  </c:pt>
                  <c:pt idx="4">
                    <c:v>2021</c:v>
                  </c:pt>
                </c:lvl>
              </c:multiLvlStrCache>
            </c:multiLvlStrRef>
          </c:cat>
          <c:val>
            <c:numRef>
              <c:f>Sheet1!$C$2:$C$6</c:f>
              <c:numCache>
                <c:formatCode>General</c:formatCode>
                <c:ptCount val="5"/>
                <c:pt idx="0">
                  <c:v>56.16</c:v>
                </c:pt>
                <c:pt idx="1">
                  <c:v>56.33</c:v>
                </c:pt>
                <c:pt idx="2">
                  <c:v>57.86</c:v>
                </c:pt>
                <c:pt idx="3">
                  <c:v>56.17</c:v>
                </c:pt>
                <c:pt idx="4">
                  <c:v>46.36</c:v>
                </c:pt>
              </c:numCache>
            </c:numRef>
          </c:val>
          <c:smooth val="0"/>
        </c:ser>
        <c:ser>
          <c:idx val="2"/>
          <c:order val="2"/>
          <c:tx>
            <c:strRef>
              <c:f>Sheet1!$D$1</c:f>
              <c:strCache>
                <c:ptCount val="1"/>
                <c:pt idx="0">
                  <c:v>Lowest municipality</c:v>
                </c:pt>
              </c:strCache>
            </c:strRef>
          </c:tx>
          <c:spPr>
            <a:solidFill>
              <a:srgbClr val="C9D6D4"/>
            </a:solidFill>
            <a:ln w="38100" cap="flat">
              <a:solidFill>
                <a:srgbClr val="C9D6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C9D6D4"/>
              </a:solidFill>
              <a:ln w="9525" cap="flat">
                <a:solidFill>
                  <a:srgbClr val="C9D6D4"/>
                </a:solidFill>
                <a:prstDash val="solid"/>
                <a:round/>
              </a:ln>
              <a:effectLst/>
            </c:spPr>
          </c:marker>
          <c:cat>
            <c:multiLvlStrRef>
              <c:f>Sheet1!$A$2:$A$6</c:f>
              <c:multiLvlStrCache>
                <c:ptCount val="5"/>
                <c:lvl>
                  <c:pt idx="0">
                    <c:v>2000</c:v>
                  </c:pt>
                  <c:pt idx="1">
                    <c:v>2006</c:v>
                  </c:pt>
                  <c:pt idx="2">
                    <c:v>2011</c:v>
                  </c:pt>
                  <c:pt idx="3">
                    <c:v>2016</c:v>
                  </c:pt>
                  <c:pt idx="4">
                    <c:v>2021</c:v>
                  </c:pt>
                </c:lvl>
              </c:multiLvlStrCache>
            </c:multiLvlStrRef>
          </c:cat>
          <c:val>
            <c:numRef>
              <c:f>Sheet1!$D$2:$D$6</c:f>
              <c:numCache>
                <c:formatCode>General</c:formatCode>
                <c:ptCount val="5"/>
                <c:pt idx="0">
                  <c:v>43.1</c:v>
                </c:pt>
                <c:pt idx="1">
                  <c:v>49.7</c:v>
                </c:pt>
                <c:pt idx="2">
                  <c:v>46.7</c:v>
                </c:pt>
                <c:pt idx="3">
                  <c:v>45.1</c:v>
                </c:pt>
                <c:pt idx="4">
                  <c:v>39.4</c:v>
                </c:pt>
              </c:numCache>
            </c:numRef>
          </c:val>
          <c:smooth val="0"/>
        </c:ser>
        <c:ser>
          <c:idx val="3"/>
          <c:order val="3"/>
          <c:tx>
            <c:strRef>
              <c:f>Sheet1!$E$1</c:f>
              <c:strCache>
                <c:ptCount val="1"/>
                <c:pt idx="0">
                  <c:v>Highest municipality</c:v>
                </c:pt>
              </c:strCache>
            </c:strRef>
          </c:tx>
          <c:spPr>
            <a:solidFill>
              <a:srgbClr val="C9D6D4"/>
            </a:solidFill>
            <a:ln w="38100" cap="flat">
              <a:solidFill>
                <a:srgbClr val="C9D6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C9D6D4"/>
              </a:solidFill>
              <a:ln w="9525" cap="flat">
                <a:solidFill>
                  <a:srgbClr val="C9D6D4"/>
                </a:solidFill>
                <a:prstDash val="solid"/>
                <a:round/>
              </a:ln>
              <a:effectLst/>
            </c:spPr>
          </c:marker>
          <c:cat>
            <c:multiLvlStrRef>
              <c:f>Sheet1!$A$2:$A$6</c:f>
              <c:multiLvlStrCache>
                <c:ptCount val="5"/>
                <c:lvl>
                  <c:pt idx="0">
                    <c:v>2000</c:v>
                  </c:pt>
                  <c:pt idx="1">
                    <c:v>2006</c:v>
                  </c:pt>
                  <c:pt idx="2">
                    <c:v>2011</c:v>
                  </c:pt>
                  <c:pt idx="3">
                    <c:v>2016</c:v>
                  </c:pt>
                  <c:pt idx="4">
                    <c:v>2021</c:v>
                  </c:pt>
                </c:lvl>
              </c:multiLvlStrCache>
            </c:multiLvlStrRef>
          </c:cat>
          <c:val>
            <c:numRef>
              <c:f>Sheet1!$E$2:$E$6</c:f>
              <c:numCache>
                <c:formatCode>General</c:formatCode>
                <c:ptCount val="5"/>
                <c:pt idx="0">
                  <c:v>66.8</c:v>
                </c:pt>
                <c:pt idx="1">
                  <c:v>63.7</c:v>
                </c:pt>
                <c:pt idx="2">
                  <c:v>68.3</c:v>
                </c:pt>
                <c:pt idx="3">
                  <c:v>66.1</c:v>
                </c:pt>
                <c:pt idx="4">
                  <c:v>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2"/>
        <c:crosses val="autoZero"/>
        <c:auto val="1"/>
        <c:lblAlgn val="ctr"/>
        <c:noMultiLvlLbl val="1"/>
      </c:catAx>
      <c:valAx>
        <c:axId val="2094734552"/>
        <c:scaling>
          <c:orientation val="minMax"/>
          <c:max val="70"/>
          <c:min val="35"/>
        </c:scaling>
        <c:delete val="0"/>
        <c:axPos val="l"/>
        <c:majorGridlines>
          <c:spPr>
            <a:ln w="6350" cap="flat">
              <a:solidFill>
                <a:srgbClr val="E3E9E8"/>
              </a:solidFill>
              <a:prstDash val="solid"/>
              <a:round/>
            </a:ln>
          </c:spPr>
        </c:majorGridlines>
        <c:title>
          <c:tx>
            <c:rich>
              <a:bodyPr/>
              <a:lstStyle/>
              <a:p>
                <a:pPr>
                  <a:defRPr sz="1200" b="0" i="0" u="none" strike="noStrike">
                    <a:solidFill>
                      <a:srgbClr val="5C6B6E"/>
                    </a:solidFill>
                    <a:latin typeface="Arial"/>
                  </a:defRPr>
                </a:pPr>
                <a:r>
                  <a:rPr sz="1200" b="0" i="0" u="none" strike="noStrike">
                    <a:solidFill>
                      <a:srgbClr val="5C6B6E"/>
                    </a:solidFill>
                    <a:latin typeface="Arial"/>
                  </a:rPr>
                  <a:t>Turnout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B2F"/>
                </a:solidFill>
                <a:latin typeface="Cambria"/>
              </a:defRPr>
            </a:pPr>
            <a:r>
              <a:rPr sz="1400" b="0" i="0" u="none" strike="noStrike">
                <a:solidFill>
                  <a:srgbClr val="1E2B2F"/>
                </a:solidFill>
                <a:latin typeface="Cambria"/>
              </a:rPr>
              <a:t>PR vote share (%)</a:t>
            </a:r>
          </a:p>
        </c:rich>
      </c:tx>
      <c:layout/>
      <c:overlay val="0"/>
    </c:title>
    <c:autoTitleDeleted val="0"/>
    <c:plotArea>
      <c:layout/>
      <c:barChart>
        <c:barDir val="col"/>
        <c:grouping val="stacked"/>
        <c:varyColors val="0"/>
        <c:ser>
          <c:idx val="0"/>
          <c:order val="0"/>
          <c:tx>
            <c:strRef>
              <c:f>Sheet1!$B$1</c:f>
              <c:strCache>
                <c:ptCount val="1"/>
                <c:pt idx="0">
                  <c:v>ANC</c:v>
                </c:pt>
              </c:strCache>
            </c:strRef>
          </c:tx>
          <c:spPr>
            <a:solidFill>
              <a:srgbClr val="1B7A3E"/>
            </a:solidFill>
            <a:effectLst/>
          </c:spPr>
          <c:invertIfNegative val="0"/>
          <c:dLbls>
            <c:numFmt formatCode="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2000</c:v>
                  </c:pt>
                  <c:pt idx="1">
                    <c:v>2006</c:v>
                  </c:pt>
                  <c:pt idx="2">
                    <c:v>2011</c:v>
                  </c:pt>
                  <c:pt idx="3">
                    <c:v>2016</c:v>
                  </c:pt>
                  <c:pt idx="4">
                    <c:v>2021</c:v>
                  </c:pt>
                </c:lvl>
              </c:multiLvlStrCache>
            </c:multiLvlStrRef>
          </c:cat>
          <c:val>
            <c:numRef>
              <c:f>Sheet1!$B$2:$B$6</c:f>
              <c:numCache>
                <c:formatCode>General</c:formatCode>
                <c:ptCount val="5"/>
                <c:pt idx="0">
                  <c:v>73.94</c:v>
                </c:pt>
                <c:pt idx="1">
                  <c:v>81.23</c:v>
                </c:pt>
                <c:pt idx="2">
                  <c:v>72.35</c:v>
                </c:pt>
                <c:pt idx="3">
                  <c:v>65.87</c:v>
                </c:pt>
                <c:pt idx="4">
                  <c:v>63.98</c:v>
                </c:pt>
              </c:numCache>
            </c:numRef>
          </c:val>
        </c:ser>
        <c:ser>
          <c:idx val="1"/>
          <c:order val="1"/>
          <c:tx>
            <c:strRef>
              <c:f>Sheet1!$C$1</c:f>
              <c:strCache>
                <c:ptCount val="1"/>
                <c:pt idx="0">
                  <c:v>DA</c:v>
                </c:pt>
              </c:strCache>
            </c:strRef>
          </c:tx>
          <c:spPr>
            <a:solidFill>
              <a:srgbClr val="1F5AA6"/>
            </a:solidFill>
            <a:effectLst/>
          </c:spPr>
          <c:invertIfNegative val="0"/>
          <c:dLbls>
            <c:numFmt formatCode="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2000</c:v>
                  </c:pt>
                  <c:pt idx="1">
                    <c:v>2006</c:v>
                  </c:pt>
                  <c:pt idx="2">
                    <c:v>2011</c:v>
                  </c:pt>
                  <c:pt idx="3">
                    <c:v>2016</c:v>
                  </c:pt>
                  <c:pt idx="4">
                    <c:v>2021</c:v>
                  </c:pt>
                </c:lvl>
              </c:multiLvlStrCache>
            </c:multiLvlStrRef>
          </c:cat>
          <c:val>
            <c:numRef>
              <c:f>Sheet1!$C$2:$C$6</c:f>
              <c:numCache>
                <c:formatCode>General</c:formatCode>
                <c:ptCount val="5"/>
                <c:pt idx="0">
                  <c:v>11.74</c:v>
                </c:pt>
                <c:pt idx="1">
                  <c:v>8.58</c:v>
                </c:pt>
                <c:pt idx="2">
                  <c:v>16.4</c:v>
                </c:pt>
                <c:pt idx="3">
                  <c:v>19.69</c:v>
                </c:pt>
                <c:pt idx="4">
                  <c:v>15.38</c:v>
                </c:pt>
              </c:numCache>
            </c:numRef>
          </c:val>
        </c:ser>
        <c:ser>
          <c:idx val="2"/>
          <c:order val="2"/>
          <c:tx>
            <c:strRef>
              <c:f>Sheet1!$D$1</c:f>
              <c:strCache>
                <c:ptCount val="1"/>
                <c:pt idx="0">
                  <c:v>EFF</c:v>
                </c:pt>
              </c:strCache>
            </c:strRef>
          </c:tx>
          <c:spPr>
            <a:solidFill>
              <a:srgbClr val="A11D33"/>
            </a:solidFill>
            <a:effectLst/>
          </c:spPr>
          <c:invertIfNegative val="0"/>
          <c:dLbls>
            <c:numFmt formatCode="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2000</c:v>
                  </c:pt>
                  <c:pt idx="1">
                    <c:v>2006</c:v>
                  </c:pt>
                  <c:pt idx="2">
                    <c:v>2011</c:v>
                  </c:pt>
                  <c:pt idx="3">
                    <c:v>2016</c:v>
                  </c:pt>
                  <c:pt idx="4">
                    <c:v>2021</c:v>
                  </c:pt>
                </c:lvl>
              </c:multiLvlStrCache>
            </c:multiLvlStrRef>
          </c:cat>
          <c:val>
            <c:numRef>
              <c:f>Sheet1!$D$2:$D$6</c:f>
              <c:numCache>
                <c:formatCode>General</c:formatCode>
                <c:ptCount val="5"/>
                <c:pt idx="0">
                  <c:v>0</c:v>
                </c:pt>
                <c:pt idx="1">
                  <c:v>0</c:v>
                </c:pt>
                <c:pt idx="2">
                  <c:v>0</c:v>
                </c:pt>
                <c:pt idx="3">
                  <c:v>5.29</c:v>
                </c:pt>
                <c:pt idx="4">
                  <c:v>8.09</c:v>
                </c:pt>
              </c:numCache>
            </c:numRef>
          </c:val>
        </c:ser>
        <c:ser>
          <c:idx val="3"/>
          <c:order val="3"/>
          <c:tx>
            <c:strRef>
              <c:f>Sheet1!$E$1</c:f>
              <c:strCache>
                <c:ptCount val="1"/>
                <c:pt idx="0">
                  <c:v>UDM</c:v>
                </c:pt>
              </c:strCache>
            </c:strRef>
          </c:tx>
          <c:spPr>
            <a:solidFill>
              <a:srgbClr val="E0A526"/>
            </a:solidFill>
            <a:effectLst/>
          </c:spPr>
          <c:invertIfNegative val="0"/>
          <c:dLbls>
            <c:numFmt formatCode="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2000</c:v>
                  </c:pt>
                  <c:pt idx="1">
                    <c:v>2006</c:v>
                  </c:pt>
                  <c:pt idx="2">
                    <c:v>2011</c:v>
                  </c:pt>
                  <c:pt idx="3">
                    <c:v>2016</c:v>
                  </c:pt>
                  <c:pt idx="4">
                    <c:v>2021</c:v>
                  </c:pt>
                </c:lvl>
              </c:multiLvlStrCache>
            </c:multiLvlStrRef>
          </c:cat>
          <c:val>
            <c:numRef>
              <c:f>Sheet1!$E$2:$E$6</c:f>
              <c:numCache>
                <c:formatCode>General</c:formatCode>
                <c:ptCount val="5"/>
                <c:pt idx="0">
                  <c:v>11.4</c:v>
                </c:pt>
                <c:pt idx="1">
                  <c:v>5.3</c:v>
                </c:pt>
                <c:pt idx="2">
                  <c:v>3.49</c:v>
                </c:pt>
                <c:pt idx="3">
                  <c:v>3.95</c:v>
                </c:pt>
                <c:pt idx="4">
                  <c:v>3.07</c:v>
                </c:pt>
              </c:numCache>
            </c:numRef>
          </c:val>
        </c:ser>
        <c:ser>
          <c:idx val="4"/>
          <c:order val="4"/>
          <c:tx>
            <c:strRef>
              <c:f>Sheet1!$F$1</c:f>
              <c:strCache>
                <c:ptCount val="1"/>
                <c:pt idx="0">
                  <c:v>ATM</c:v>
                </c:pt>
              </c:strCache>
            </c:strRef>
          </c:tx>
          <c:spPr>
            <a:solidFill>
              <a:srgbClr val="6B4C9A"/>
            </a:solidFill>
            <a:effectLst/>
          </c:spPr>
          <c:invertIfNegative val="0"/>
          <c:dLbls>
            <c:numFmt formatCode="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2000</c:v>
                  </c:pt>
                  <c:pt idx="1">
                    <c:v>2006</c:v>
                  </c:pt>
                  <c:pt idx="2">
                    <c:v>2011</c:v>
                  </c:pt>
                  <c:pt idx="3">
                    <c:v>2016</c:v>
                  </c:pt>
                  <c:pt idx="4">
                    <c:v>2021</c:v>
                  </c:pt>
                </c:lvl>
              </c:multiLvlStrCache>
            </c:multiLvlStrRef>
          </c:cat>
          <c:val>
            <c:numRef>
              <c:f>Sheet1!$F$2:$F$6</c:f>
              <c:numCache>
                <c:formatCode>General</c:formatCode>
                <c:ptCount val="5"/>
                <c:pt idx="0">
                  <c:v>0</c:v>
                </c:pt>
                <c:pt idx="1">
                  <c:v>0</c:v>
                </c:pt>
                <c:pt idx="2">
                  <c:v>0</c:v>
                </c:pt>
                <c:pt idx="3">
                  <c:v>0</c:v>
                </c:pt>
                <c:pt idx="4">
                  <c:v>2.06</c:v>
                </c:pt>
              </c:numCache>
            </c:numRef>
          </c:val>
        </c:ser>
        <c:ser>
          <c:idx val="5"/>
          <c:order val="5"/>
          <c:tx>
            <c:strRef>
              <c:f>Sheet1!$G$1</c:f>
              <c:strCache>
                <c:ptCount val="1"/>
                <c:pt idx="0">
                  <c:v>OTHER</c:v>
                </c:pt>
              </c:strCache>
            </c:strRef>
          </c:tx>
          <c:spPr>
            <a:solidFill>
              <a:srgbClr val="8C8C8C"/>
            </a:solidFill>
            <a:effectLst/>
          </c:spPr>
          <c:invertIfNegative val="0"/>
          <c:dLbls>
            <c:numFmt formatCode="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2000</c:v>
                  </c:pt>
                  <c:pt idx="1">
                    <c:v>2006</c:v>
                  </c:pt>
                  <c:pt idx="2">
                    <c:v>2011</c:v>
                  </c:pt>
                  <c:pt idx="3">
                    <c:v>2016</c:v>
                  </c:pt>
                  <c:pt idx="4">
                    <c:v>2021</c:v>
                  </c:pt>
                </c:lvl>
              </c:multiLvlStrCache>
            </c:multiLvlStrRef>
          </c:cat>
          <c:val>
            <c:numRef>
              <c:f>Sheet1!$G$2:$G$6</c:f>
              <c:numCache>
                <c:formatCode>General</c:formatCode>
                <c:ptCount val="5"/>
                <c:pt idx="0">
                  <c:v>2.92</c:v>
                </c:pt>
                <c:pt idx="1">
                  <c:v>4.89</c:v>
                </c:pt>
                <c:pt idx="2">
                  <c:v>7.76</c:v>
                </c:pt>
                <c:pt idx="3">
                  <c:v>5.2</c:v>
                </c:pt>
                <c:pt idx="4">
                  <c:v>7.42</c:v>
                </c:pt>
              </c:numCache>
            </c:numRef>
          </c:val>
        </c:ser>
        <c:dLbls>
          <c:numFmt formatCode="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3E9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B2F"/>
                </a:solidFill>
                <a:latin typeface="Cambria"/>
              </a:defRPr>
            </a:pPr>
            <a:r>
              <a:rPr sz="1400" b="0" i="0" u="none" strike="noStrike">
                <a:solidFill>
                  <a:srgbClr val="1E2B2F"/>
                </a:solidFill>
                <a:latin typeface="Cambria"/>
              </a:rPr>
              <a:t>More parties, modest fragmentation</a:t>
            </a:r>
          </a:p>
        </c:rich>
      </c:tx>
      <c:layout/>
      <c:overlay val="0"/>
    </c:title>
    <c:autoTitleDeleted val="0"/>
    <c:plotArea>
      <c:layout/>
      <c:lineChart>
        <c:varyColors val="0"/>
        <c:ser>
          <c:idx val="0"/>
          <c:order val="0"/>
          <c:tx>
            <c:strRef>
              <c:f>Sheet1!$B$1</c:f>
              <c:strCache>
                <c:ptCount val="1"/>
                <c:pt idx="0">
                  <c:v>Parties contesting (mean)</c:v>
                </c:pt>
              </c:strCache>
            </c:strRef>
          </c:tx>
          <c:spPr>
            <a:solidFill>
              <a:srgbClr val="1E2B2F"/>
            </a:solidFill>
            <a:ln w="38100" cap="flat">
              <a:solidFill>
                <a:srgbClr val="1E2B2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E2B2F"/>
              </a:solidFill>
              <a:ln w="9525" cap="flat">
                <a:solidFill>
                  <a:srgbClr val="1E2B2F"/>
                </a:solidFill>
                <a:prstDash val="solid"/>
                <a:round/>
              </a:ln>
              <a:effectLst/>
            </c:spPr>
          </c:marker>
          <c:cat>
            <c:multiLvlStrRef>
              <c:f>Sheet1!$A$2:$A$6</c:f>
              <c:multiLvlStrCache>
                <c:ptCount val="5"/>
                <c:lvl>
                  <c:pt idx="0">
                    <c:v>2000</c:v>
                  </c:pt>
                  <c:pt idx="1">
                    <c:v>2006</c:v>
                  </c:pt>
                  <c:pt idx="2">
                    <c:v>2011</c:v>
                  </c:pt>
                  <c:pt idx="3">
                    <c:v>2016</c:v>
                  </c:pt>
                  <c:pt idx="4">
                    <c:v>2021</c:v>
                  </c:pt>
                </c:lvl>
              </c:multiLvlStrCache>
            </c:multiLvlStrRef>
          </c:cat>
          <c:val>
            <c:numRef>
              <c:f>Sheet1!$B$2:$B$6</c:f>
              <c:numCache>
                <c:formatCode>General</c:formatCode>
                <c:ptCount val="5"/>
                <c:pt idx="0">
                  <c:v>3.34</c:v>
                </c:pt>
                <c:pt idx="1">
                  <c:v>4.88</c:v>
                </c:pt>
                <c:pt idx="2">
                  <c:v>5.88</c:v>
                </c:pt>
                <c:pt idx="3">
                  <c:v>7.06</c:v>
                </c:pt>
                <c:pt idx="4">
                  <c:v>10.15</c:v>
                </c:pt>
              </c:numCache>
            </c:numRef>
          </c:val>
          <c:smooth val="0"/>
        </c:ser>
        <c:ser>
          <c:idx val="1"/>
          <c:order val="1"/>
          <c:tx>
            <c:strRef>
              <c:f>Sheet1!$C$1</c:f>
              <c:strCache>
                <c:ptCount val="1"/>
                <c:pt idx="0">
                  <c:v>Effective number of parties (mean)</c:v>
                </c:pt>
              </c:strCache>
            </c:strRef>
          </c:tx>
          <c:spPr>
            <a:solidFill>
              <a:srgbClr val="0E5E5A"/>
            </a:solidFill>
            <a:ln w="38100" cap="flat">
              <a:solidFill>
                <a:srgbClr val="0E5E5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E5E5A"/>
              </a:solidFill>
              <a:ln w="9525" cap="flat">
                <a:solidFill>
                  <a:srgbClr val="0E5E5A"/>
                </a:solidFill>
                <a:prstDash val="solid"/>
                <a:round/>
              </a:ln>
              <a:effectLst/>
            </c:spPr>
          </c:marker>
          <c:cat>
            <c:multiLvlStrRef>
              <c:f>Sheet1!$A$2:$A$6</c:f>
              <c:multiLvlStrCache>
                <c:ptCount val="5"/>
                <c:lvl>
                  <c:pt idx="0">
                    <c:v>2000</c:v>
                  </c:pt>
                  <c:pt idx="1">
                    <c:v>2006</c:v>
                  </c:pt>
                  <c:pt idx="2">
                    <c:v>2011</c:v>
                  </c:pt>
                  <c:pt idx="3">
                    <c:v>2016</c:v>
                  </c:pt>
                  <c:pt idx="4">
                    <c:v>2021</c:v>
                  </c:pt>
                </c:lvl>
              </c:multiLvlStrCache>
            </c:multiLvlStrRef>
          </c:cat>
          <c:val>
            <c:numRef>
              <c:f>Sheet1!$C$2:$C$6</c:f>
              <c:numCache>
                <c:formatCode>General</c:formatCode>
                <c:ptCount val="5"/>
                <c:pt idx="0">
                  <c:v>1.62</c:v>
                </c:pt>
                <c:pt idx="1">
                  <c:v>1.46</c:v>
                </c:pt>
                <c:pt idx="2">
                  <c:v>1.58</c:v>
                </c:pt>
                <c:pt idx="3">
                  <c:v>1.76</c:v>
                </c:pt>
                <c:pt idx="4">
                  <c:v>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9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Within-election r</c:v>
                </c:pt>
              </c:strCache>
            </c:strRef>
          </c:tx>
          <c:spPr>
            <a:solidFill>
              <a:srgbClr val="0E5E5A"/>
            </a:solidFill>
            <a:effectLst/>
          </c:spPr>
          <c:invertIfNegative val="0"/>
          <c:dLbls>
            <c:numFmt formatCode="+0.00;-0.00" sourceLinked="0"/>
            <c:txPr>
              <a:bodyPr/>
              <a:lstStyle/>
              <a:p>
                <a:pPr>
                  <a:defRPr b="0" i="0" strike="noStrike" sz="1000" u="none">
                    <a:solidFill>
                      <a:srgbClr val="1E2B2F"/>
                    </a:solidFill>
                    <a:latin typeface="Arial"/>
                  </a:defRPr>
                </a:pPr>
              </a:p>
            </c:txPr>
            <c:showLegendKey val="0"/>
            <c:showVal val="1"/>
            <c:showCatName val="0"/>
            <c:showSerName val="0"/>
            <c:showPercent val="0"/>
            <c:showBubbleSize val="0"/>
            <c:showLeaderLines val="0"/>
          </c:dLbls>
          <c:cat>
            <c:multiLvlStrRef>
              <c:f>Sheet1!$A$2:$A$12</c:f>
              <c:multiLvlStrCache>
                <c:ptCount val="11"/>
                <c:lvl>
                  <c:pt idx="0">
                    <c:v>Victory margin</c:v>
                  </c:pt>
                  <c:pt idx="1">
                    <c:v>Under-15 share</c:v>
                  </c:pt>
                  <c:pt idx="2">
                    <c:v>No schooling</c:v>
                  </c:pt>
                  <c:pt idx="3">
                    <c:v>Parties contesting</c:v>
                  </c:pt>
                  <c:pt idx="4">
                    <c:v>Effective no. of parties</c:v>
                  </c:pt>
                  <c:pt idx="5">
                    <c:v>Electricity</c:v>
                  </c:pt>
                  <c:pt idx="6">
                    <c:v>Matric</c:v>
                  </c:pt>
                  <c:pt idx="7">
                    <c:v>Aged 65+</c:v>
                  </c:pt>
                  <c:pt idx="8">
                    <c:v>Formal dwellings</c:v>
                  </c:pt>
                  <c:pt idx="9">
                    <c:v>Piped water</c:v>
                  </c:pt>
                  <c:pt idx="10">
                    <c:v>Median age</c:v>
                  </c:pt>
                </c:lvl>
              </c:multiLvlStrCache>
            </c:multiLvlStrRef>
          </c:cat>
          <c:val>
            <c:numRef>
              <c:f>Sheet1!$B$2:$B$12</c:f>
              <c:numCache>
                <c:formatCode>General</c:formatCode>
                <c:ptCount val="11"/>
                <c:pt idx="0">
                  <c:v>-0.46</c:v>
                </c:pt>
                <c:pt idx="1">
                  <c:v>-0.45</c:v>
                </c:pt>
                <c:pt idx="2">
                  <c:v>-0.33</c:v>
                </c:pt>
                <c:pt idx="3">
                  <c:v>-0.24</c:v>
                </c:pt>
                <c:pt idx="4">
                  <c:v>0.22</c:v>
                </c:pt>
                <c:pt idx="5">
                  <c:v>0.28</c:v>
                </c:pt>
                <c:pt idx="6">
                  <c:v>0.31</c:v>
                </c:pt>
                <c:pt idx="7">
                  <c:v>0.35</c:v>
                </c:pt>
                <c:pt idx="8">
                  <c:v>0.4</c:v>
                </c:pt>
                <c:pt idx="9">
                  <c:v>0.47</c:v>
                </c:pt>
                <c:pt idx="10">
                  <c:v>0.5</c:v>
                </c:pt>
              </c:numCache>
            </c:numRef>
          </c:val>
        </c:ser>
        <c:dLbls>
          <c:numFmt formatCode="+0.00;-0.00" sourceLinked="0"/>
          <c:txPr>
            <a:bodyPr/>
            <a:lstStyle/>
            <a:p>
              <a:pPr>
                <a:defRPr b="0" i="0" strike="noStrike" sz="1000" u="none">
                  <a:solidFill>
                    <a:srgbClr val="1E2B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6E"/>
                </a:solidFill>
                <a:latin typeface="Calibri"/>
              </a:defRPr>
            </a:pPr>
            <a:endParaRPr lang="en-US"/>
          </a:p>
        </c:txPr>
        <c:crossAx val="2094734552"/>
        <c:crosses val="autoZero"/>
        <c:auto val="1"/>
        <c:lblAlgn val="ctr"/>
        <c:noMultiLvlLbl val="1"/>
      </c:catAx>
      <c:valAx>
        <c:axId val="2094734552"/>
        <c:scaling>
          <c:orientation val="minMax"/>
          <c:max val="0.6"/>
          <c:min val="-0.6"/>
        </c:scaling>
        <c:delete val="0"/>
        <c:axPos val="b"/>
        <c:majorGridlines>
          <c:spPr>
            <a:ln w="6350" cap="flat">
              <a:solidFill>
                <a:srgbClr val="E3E9E8"/>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Municipalities</c:v>
                </c:pt>
              </c:strCache>
            </c:strRef>
          </c:tx>
          <c:spPr>
            <a:solidFill>
              <a:srgbClr val="0E5E5A"/>
            </a:solidFill>
            <a:ln>
              <a:noFill/>
            </a:ln>
            <a:effectLst/>
          </c:spPr>
          <c:marker>
            <c:symbol val="circle"/>
            <c:size val="8"/>
            <c:spPr>
              <a:solidFill>
                <a:srgbClr val="0E5E5A"/>
              </a:solidFill>
              <a:ln w="9525" cap="flat">
                <a:solidFill>
                  <a:srgbClr val="0E5E5A"/>
                </a:solidFill>
                <a:prstDash val="solid"/>
                <a:round/>
              </a:ln>
              <a:effectLst/>
            </c:spPr>
          </c:marker>
          <c:xVal>
            <c:numRef>
              <c:f>Sheet1!$A$2:$A$34</c:f>
              <c:numCache>
                <c:formatCode>General</c:formatCode>
                <c:ptCount val="33"/>
                <c:pt idx="0">
                  <c:v>-0.48</c:v>
                </c:pt>
                <c:pt idx="1">
                  <c:v>5.08</c:v>
                </c:pt>
                <c:pt idx="2">
                  <c:v>3.6</c:v>
                </c:pt>
                <c:pt idx="3">
                  <c:v>-3.64</c:v>
                </c:pt>
                <c:pt idx="4">
                  <c:v>9</c:v>
                </c:pt>
                <c:pt idx="5">
                  <c:v>1.46</c:v>
                </c:pt>
                <c:pt idx="6">
                  <c:v>9.88</c:v>
                </c:pt>
                <c:pt idx="7">
                  <c:v>3.09</c:v>
                </c:pt>
                <c:pt idx="8">
                  <c:v>-2.94</c:v>
                </c:pt>
                <c:pt idx="9">
                  <c:v>-5.04</c:v>
                </c:pt>
                <c:pt idx="10">
                  <c:v>3.07</c:v>
                </c:pt>
                <c:pt idx="11">
                  <c:v>-2.42</c:v>
                </c:pt>
                <c:pt idx="12">
                  <c:v>0.98</c:v>
                </c:pt>
                <c:pt idx="13">
                  <c:v>-1.38</c:v>
                </c:pt>
                <c:pt idx="14">
                  <c:v>0.74</c:v>
                </c:pt>
                <c:pt idx="15">
                  <c:v>1.65</c:v>
                </c:pt>
                <c:pt idx="16">
                  <c:v>3.41</c:v>
                </c:pt>
                <c:pt idx="17">
                  <c:v>-5.2</c:v>
                </c:pt>
                <c:pt idx="18">
                  <c:v>-1.11</c:v>
                </c:pt>
                <c:pt idx="19">
                  <c:v>-2.46</c:v>
                </c:pt>
                <c:pt idx="20">
                  <c:v>-1.74</c:v>
                </c:pt>
                <c:pt idx="21">
                  <c:v>1.54</c:v>
                </c:pt>
                <c:pt idx="22">
                  <c:v>1.13</c:v>
                </c:pt>
                <c:pt idx="23">
                  <c:v>-4.09</c:v>
                </c:pt>
                <c:pt idx="24">
                  <c:v>-0.27</c:v>
                </c:pt>
                <c:pt idx="25">
                  <c:v>-5.56</c:v>
                </c:pt>
                <c:pt idx="26">
                  <c:v>-3.12</c:v>
                </c:pt>
                <c:pt idx="27">
                  <c:v>-11.12</c:v>
                </c:pt>
                <c:pt idx="28">
                  <c:v>3.07</c:v>
                </c:pt>
                <c:pt idx="29">
                  <c:v>-1.97</c:v>
                </c:pt>
                <c:pt idx="30">
                  <c:v>0.29</c:v>
                </c:pt>
                <c:pt idx="31">
                  <c:v>-2.73</c:v>
                </c:pt>
                <c:pt idx="32">
                  <c:v>7.3</c:v>
                </c:pt>
              </c:numCache>
            </c:numRef>
          </c:xVal>
          <c:yVal>
            <c:numRef>
              <c:f>Sheet1!$B$2:$B$34</c:f>
              <c:numCache>
                <c:formatCode>General</c:formatCode>
                <c:ptCount val="33"/>
                <c:pt idx="0">
                  <c:v>-2.8</c:v>
                </c:pt>
                <c:pt idx="1">
                  <c:v>-1.16</c:v>
                </c:pt>
                <c:pt idx="2">
                  <c:v>4.74</c:v>
                </c:pt>
                <c:pt idx="3">
                  <c:v>-5.1</c:v>
                </c:pt>
                <c:pt idx="4">
                  <c:v>7.51</c:v>
                </c:pt>
                <c:pt idx="5">
                  <c:v>-1.65</c:v>
                </c:pt>
                <c:pt idx="6">
                  <c:v>8.99</c:v>
                </c:pt>
                <c:pt idx="7">
                  <c:v>2.98</c:v>
                </c:pt>
                <c:pt idx="8">
                  <c:v>-2.02</c:v>
                </c:pt>
                <c:pt idx="9">
                  <c:v>-5.72</c:v>
                </c:pt>
                <c:pt idx="10">
                  <c:v>6.87</c:v>
                </c:pt>
                <c:pt idx="11">
                  <c:v>-0.82</c:v>
                </c:pt>
                <c:pt idx="12">
                  <c:v>4.43</c:v>
                </c:pt>
                <c:pt idx="13">
                  <c:v>0</c:v>
                </c:pt>
                <c:pt idx="14">
                  <c:v>1.13</c:v>
                </c:pt>
                <c:pt idx="15">
                  <c:v>0.04</c:v>
                </c:pt>
                <c:pt idx="16">
                  <c:v>4.71</c:v>
                </c:pt>
                <c:pt idx="17">
                  <c:v>-1.32</c:v>
                </c:pt>
                <c:pt idx="18">
                  <c:v>0.22</c:v>
                </c:pt>
                <c:pt idx="19">
                  <c:v>-0.99</c:v>
                </c:pt>
                <c:pt idx="20">
                  <c:v>-0.26</c:v>
                </c:pt>
                <c:pt idx="21">
                  <c:v>-1.62</c:v>
                </c:pt>
                <c:pt idx="22">
                  <c:v>-0.78</c:v>
                </c:pt>
                <c:pt idx="23">
                  <c:v>-3.51</c:v>
                </c:pt>
                <c:pt idx="24">
                  <c:v>2.97</c:v>
                </c:pt>
                <c:pt idx="25">
                  <c:v>-5.72</c:v>
                </c:pt>
                <c:pt idx="26">
                  <c:v>-2.5</c:v>
                </c:pt>
                <c:pt idx="27">
                  <c:v>-8.61</c:v>
                </c:pt>
                <c:pt idx="28">
                  <c:v>4.34</c:v>
                </c:pt>
                <c:pt idx="29">
                  <c:v>-1</c:v>
                </c:pt>
                <c:pt idx="30">
                  <c:v>-1.41</c:v>
                </c:pt>
                <c:pt idx="31">
                  <c:v>0.32</c:v>
                </c:pt>
                <c:pt idx="32">
                  <c:v>-2.24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2"/>
          <c:min val="-12"/>
        </c:scaling>
        <c:delete val="0"/>
        <c:axPos val="b"/>
        <c:title>
          <c:tx>
            <c:rich>
              <a:bodyPr/>
              <a:lstStyle/>
              <a:p>
                <a:pPr>
                  <a:defRPr sz="1200" b="0" i="0" u="none" strike="noStrike">
                    <a:solidFill>
                      <a:srgbClr val="5C6B6E"/>
                    </a:solidFill>
                    <a:latin typeface="Arial"/>
                  </a:defRPr>
                </a:pPr>
                <a:r>
                  <a:rPr sz="1200" b="0" i="0" u="none" strike="noStrike">
                    <a:solidFill>
                      <a:srgbClr val="5C6B6E"/>
                    </a:solidFill>
                    <a:latin typeface="Arial"/>
                  </a:rPr>
                  <a:t>2016 relative turnout (pts)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2"/>
        <c:crosses val="autoZero"/>
        <c:auto val="1"/>
        <c:lblAlgn val="ctr"/>
        <c:noMultiLvlLbl val="1"/>
        <c:majorUnit val="4"/>
      </c:valAx>
      <c:valAx>
        <c:axId val="2094734552"/>
        <c:scaling>
          <c:orientation val="minMax"/>
          <c:max val="12"/>
          <c:min val="-12"/>
        </c:scaling>
        <c:delete val="0"/>
        <c:axPos val="l"/>
        <c:majorGridlines>
          <c:spPr>
            <a:ln w="6350" cap="flat">
              <a:solidFill>
                <a:srgbClr val="E3E9E8"/>
              </a:solidFill>
              <a:prstDash val="solid"/>
              <a:round/>
            </a:ln>
          </c:spPr>
        </c:majorGridlines>
        <c:title>
          <c:tx>
            <c:rich>
              <a:bodyPr/>
              <a:lstStyle/>
              <a:p>
                <a:pPr>
                  <a:defRPr sz="1200" b="0" i="0" u="none" strike="noStrike">
                    <a:solidFill>
                      <a:srgbClr val="5C6B6E"/>
                    </a:solidFill>
                    <a:latin typeface="Arial"/>
                  </a:defRPr>
                </a:pPr>
                <a:r>
                  <a:rPr sz="1200" b="0" i="0" u="none" strike="noStrike">
                    <a:solidFill>
                      <a:srgbClr val="5C6B6E"/>
                    </a:solidFill>
                    <a:latin typeface="Arial"/>
                  </a:rPr>
                  <a:t>2021 relative turnout (pts)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4"/>
        <c:crosses val="autoZero"/>
        <c:crossBetween val="midCat"/>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B2F"/>
                </a:solidFill>
                <a:latin typeface="Cambria"/>
              </a:defRPr>
            </a:pPr>
            <a:r>
              <a:rPr sz="1400" b="0" i="0" u="none" strike="noStrike">
                <a:solidFill>
                  <a:srgbClr val="1E2B2F"/>
                </a:solidFill>
                <a:latin typeface="Cambria"/>
              </a:rPr>
              <a:t>Correlation of relative position, election to election</a:t>
            </a:r>
          </a:p>
        </c:rich>
      </c:tx>
      <c:layout/>
      <c:overlay val="0"/>
    </c:title>
    <c:autoTitleDeleted val="0"/>
    <c:plotArea>
      <c:layout/>
      <c:barChart>
        <c:barDir val="col"/>
        <c:grouping val="clustered"/>
        <c:varyColors val="0"/>
        <c:ser>
          <c:idx val="0"/>
          <c:order val="0"/>
          <c:tx>
            <c:strRef>
              <c:f>Sheet1!$B$1</c:f>
              <c:strCache>
                <c:ptCount val="1"/>
                <c:pt idx="0">
                  <c:v>r</c:v>
                </c:pt>
              </c:strCache>
            </c:strRef>
          </c:tx>
          <c:spPr>
            <a:solidFill>
              <a:srgbClr val="7FB5AE"/>
            </a:solidFill>
            <a:effectLst/>
          </c:spPr>
          <c:invertIfNegative val="0"/>
          <c:dLbls>
            <c:numFmt formatCode="0.00" sourceLinked="0"/>
            <c:txPr>
              <a:bodyPr/>
              <a:lstStyle/>
              <a:p>
                <a:pPr>
                  <a:defRPr b="0" i="0" strike="noStrike" sz="1200" u="none">
                    <a:solidFill>
                      <a:srgbClr val="1E2B2F"/>
                    </a:solidFill>
                    <a:latin typeface="Arial"/>
                  </a:defRPr>
                </a:pPr>
              </a:p>
            </c:txPr>
            <c:showLegendKey val="0"/>
            <c:showVal val="1"/>
            <c:showCatName val="0"/>
            <c:showSerName val="0"/>
            <c:showPercent val="0"/>
            <c:showBubbleSize val="0"/>
            <c:showLeaderLines val="0"/>
          </c:dLbls>
          <c:cat>
            <c:multiLvlStrRef>
              <c:f>Sheet1!$A$2:$A$5</c:f>
              <c:multiLvlStrCache>
                <c:ptCount val="4"/>
                <c:lvl>
                  <c:pt idx="0">
                    <c:v>2000-&gt;2006</c:v>
                  </c:pt>
                  <c:pt idx="1">
                    <c:v>2006-&gt;2011</c:v>
                  </c:pt>
                  <c:pt idx="2">
                    <c:v>2011-&gt;2016</c:v>
                  </c:pt>
                  <c:pt idx="3">
                    <c:v>2016-&gt;2021</c:v>
                  </c:pt>
                </c:lvl>
              </c:multiLvlStrCache>
            </c:multiLvlStrRef>
          </c:cat>
          <c:val>
            <c:numRef>
              <c:f>Sheet1!$B$2:$B$5</c:f>
              <c:numCache>
                <c:formatCode>General</c:formatCode>
                <c:ptCount val="4"/>
                <c:pt idx="0">
                  <c:v>0.32</c:v>
                </c:pt>
                <c:pt idx="1">
                  <c:v>0.27</c:v>
                </c:pt>
                <c:pt idx="2">
                  <c:v>0.83</c:v>
                </c:pt>
                <c:pt idx="3">
                  <c:v>0.77</c:v>
                </c:pt>
              </c:numCache>
            </c:numRef>
          </c:val>
        </c:ser>
        <c:dLbls>
          <c:numFmt formatCode="0.00" sourceLinked="0"/>
          <c:txPr>
            <a:bodyPr/>
            <a:lstStyle/>
            <a:p>
              <a:pPr>
                <a:defRPr b="0" i="0" strike="noStrike" sz="1200" u="none">
                  <a:solidFill>
                    <a:srgbClr val="1E2B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9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Mean validation (2011, 2016)</c:v>
                </c:pt>
              </c:strCache>
            </c:strRef>
          </c:tx>
          <c:spPr>
            <a:solidFill>
              <a:srgbClr val="C9D6D4"/>
            </a:solidFill>
            <a:effectLst/>
          </c:spPr>
          <c:invertIfNegative val="0"/>
          <c:dLbls>
            <c:numFmt formatCode="0.00" sourceLinked="0"/>
            <c:txPr>
              <a:bodyPr/>
              <a:lstStyle/>
              <a:p>
                <a:pPr>
                  <a:defRPr b="0" i="0" strike="noStrike" sz="1000" u="none">
                    <a:solidFill>
                      <a:srgbClr val="1E2B2F"/>
                    </a:solidFill>
                    <a:latin typeface="Arial"/>
                  </a:defRPr>
                </a:pPr>
              </a:p>
            </c:txPr>
            <c:showLegendKey val="0"/>
            <c:showVal val="1"/>
            <c:showCatName val="0"/>
            <c:showSerName val="0"/>
            <c:showPercent val="0"/>
            <c:showBubbleSize val="0"/>
            <c:showLeaderLines val="0"/>
          </c:dLbls>
          <c:cat>
            <c:multiLvlStrRef>
              <c:f>Sheet1!$A$2:$A$6</c:f>
              <c:multiLvlStrCache>
                <c:ptCount val="5"/>
                <c:lvl>
                  <c:pt idx="0">
                    <c:v>Relative persistence</c:v>
                  </c:pt>
                  <c:pt idx="1">
                    <c:v>Shrunk persistence</c:v>
                  </c:pt>
                  <c:pt idx="2">
                    <c:v>Random forest</c:v>
                  </c:pt>
                  <c:pt idx="3">
                    <c:v>Ridge regression</c:v>
                  </c:pt>
                  <c:pt idx="4">
                    <c:v>Provincial average</c:v>
                  </c:pt>
                </c:lvl>
              </c:multiLvlStrCache>
            </c:multiLvlStrRef>
          </c:cat>
          <c:val>
            <c:numRef>
              <c:f>Sheet1!$B$2:$B$6</c:f>
              <c:numCache>
                <c:formatCode>General</c:formatCode>
                <c:ptCount val="5"/>
                <c:pt idx="0">
                  <c:v>2.9</c:v>
                </c:pt>
                <c:pt idx="1">
                  <c:v>3.06</c:v>
                </c:pt>
                <c:pt idx="2">
                  <c:v>3.11</c:v>
                </c:pt>
                <c:pt idx="3">
                  <c:v>3.31</c:v>
                </c:pt>
                <c:pt idx="4">
                  <c:v>3.48</c:v>
                </c:pt>
              </c:numCache>
            </c:numRef>
          </c:val>
        </c:ser>
        <c:ser>
          <c:idx val="1"/>
          <c:order val="1"/>
          <c:tx>
            <c:strRef>
              <c:f>Sheet1!$C$1</c:f>
              <c:strCache>
                <c:ptCount val="1"/>
                <c:pt idx="0">
                  <c:v>2021 locked test</c:v>
                </c:pt>
              </c:strCache>
            </c:strRef>
          </c:tx>
          <c:spPr>
            <a:solidFill>
              <a:srgbClr val="0E5E5A"/>
            </a:solidFill>
            <a:effectLst/>
          </c:spPr>
          <c:invertIfNegative val="0"/>
          <c:dLbls>
            <c:numFmt formatCode="0.00" sourceLinked="0"/>
            <c:txPr>
              <a:bodyPr/>
              <a:lstStyle/>
              <a:p>
                <a:pPr>
                  <a:defRPr b="0" i="0" strike="noStrike" sz="1000" u="none">
                    <a:solidFill>
                      <a:srgbClr val="1E2B2F"/>
                    </a:solidFill>
                    <a:latin typeface="Arial"/>
                  </a:defRPr>
                </a:pPr>
              </a:p>
            </c:txPr>
            <c:showLegendKey val="0"/>
            <c:showVal val="1"/>
            <c:showCatName val="0"/>
            <c:showSerName val="0"/>
            <c:showPercent val="0"/>
            <c:showBubbleSize val="0"/>
            <c:showLeaderLines val="0"/>
          </c:dLbls>
          <c:cat>
            <c:multiLvlStrRef>
              <c:f>Sheet1!$A$2:$A$6</c:f>
              <c:multiLvlStrCache>
                <c:ptCount val="5"/>
                <c:lvl>
                  <c:pt idx="0">
                    <c:v>Relative persistence</c:v>
                  </c:pt>
                  <c:pt idx="1">
                    <c:v>Shrunk persistence</c:v>
                  </c:pt>
                  <c:pt idx="2">
                    <c:v>Random forest</c:v>
                  </c:pt>
                  <c:pt idx="3">
                    <c:v>Ridge regression</c:v>
                  </c:pt>
                  <c:pt idx="4">
                    <c:v>Provincial average</c:v>
                  </c:pt>
                </c:lvl>
              </c:multiLvlStrCache>
            </c:multiLvlStrRef>
          </c:cat>
          <c:val>
            <c:numRef>
              <c:f>Sheet1!$C$2:$C$6</c:f>
              <c:numCache>
                <c:formatCode>General</c:formatCode>
                <c:ptCount val="5"/>
                <c:pt idx="0">
                  <c:v>2.08</c:v>
                </c:pt>
                <c:pt idx="1">
                  <c:v>2.24</c:v>
                </c:pt>
                <c:pt idx="2">
                  <c:v>2.34</c:v>
                </c:pt>
                <c:pt idx="3">
                  <c:v>2.35</c:v>
                </c:pt>
                <c:pt idx="4">
                  <c:v>2.98</c:v>
                </c:pt>
              </c:numCache>
            </c:numRef>
          </c:val>
        </c:ser>
        <c:dLbls>
          <c:numFmt formatCode="0.00" sourceLinked="0"/>
          <c:txPr>
            <a:bodyPr/>
            <a:lstStyle/>
            <a:p>
              <a:pPr>
                <a:defRPr b="0" i="0" strike="noStrike" sz="1000" u="none">
                  <a:solidFill>
                    <a:srgbClr val="1E2B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2"/>
        <c:crosses val="autoZero"/>
        <c:auto val="1"/>
        <c:lblAlgn val="ctr"/>
        <c:noMultiLvlLbl val="1"/>
      </c:catAx>
      <c:valAx>
        <c:axId val="2094734552"/>
        <c:scaling>
          <c:orientation val="minMax"/>
          <c:max val="4"/>
          <c:min val="0"/>
        </c:scaling>
        <c:delete val="0"/>
        <c:axPos val="b"/>
        <c:majorGridlines>
          <c:spPr>
            <a:ln w="6350" cap="flat">
              <a:solidFill>
                <a:srgbClr val="E3E9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Selected (overall 2.69)</c:v>
                </c:pt>
              </c:strCache>
            </c:strRef>
          </c:tx>
          <c:spPr>
            <a:solidFill>
              <a:srgbClr val="0E5E5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ANC</c:v>
                  </c:pt>
                  <c:pt idx="1">
                    <c:v>DA</c:v>
                  </c:pt>
                  <c:pt idx="2">
                    <c:v>EFF</c:v>
                  </c:pt>
                  <c:pt idx="3">
                    <c:v>UDM</c:v>
                  </c:pt>
                  <c:pt idx="4">
                    <c:v>ATM</c:v>
                  </c:pt>
                  <c:pt idx="5">
                    <c:v>OTHER</c:v>
                  </c:pt>
                </c:lvl>
              </c:multiLvlStrCache>
            </c:multiLvlStrRef>
          </c:cat>
          <c:val>
            <c:numRef>
              <c:f>Sheet1!$B$2:$B$7</c:f>
              <c:numCache>
                <c:formatCode>General</c:formatCode>
                <c:ptCount val="6"/>
                <c:pt idx="0">
                  <c:v>3.89</c:v>
                </c:pt>
                <c:pt idx="1">
                  <c:v>2.67</c:v>
                </c:pt>
                <c:pt idx="2">
                  <c:v>3.19</c:v>
                </c:pt>
                <c:pt idx="3">
                  <c:v>0.98</c:v>
                </c:pt>
                <c:pt idx="4">
                  <c:v>2</c:v>
                </c:pt>
                <c:pt idx="5">
                  <c:v>3.38</c:v>
                </c:pt>
              </c:numCache>
            </c:numRef>
          </c:val>
        </c:ser>
        <c:ser>
          <c:idx val="1"/>
          <c:order val="1"/>
          <c:tx>
            <c:strRef>
              <c:f>Sheet1!$C$1</c:f>
              <c:strCache>
                <c:ptCount val="1"/>
                <c:pt idx="0">
                  <c:v>No change (2.93)</c:v>
                </c:pt>
              </c:strCache>
            </c:strRef>
          </c:tx>
          <c:spPr>
            <a:solidFill>
              <a:srgbClr val="C9D6D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ANC</c:v>
                  </c:pt>
                  <c:pt idx="1">
                    <c:v>DA</c:v>
                  </c:pt>
                  <c:pt idx="2">
                    <c:v>EFF</c:v>
                  </c:pt>
                  <c:pt idx="3">
                    <c:v>UDM</c:v>
                  </c:pt>
                  <c:pt idx="4">
                    <c:v>ATM</c:v>
                  </c:pt>
                  <c:pt idx="5">
                    <c:v>OTHER</c:v>
                  </c:pt>
                </c:lvl>
              </c:multiLvlStrCache>
            </c:multiLvlStrRef>
          </c:cat>
          <c:val>
            <c:numRef>
              <c:f>Sheet1!$C$2:$C$7</c:f>
              <c:numCache>
                <c:formatCode>General</c:formatCode>
                <c:ptCount val="6"/>
                <c:pt idx="0">
                  <c:v>4.5</c:v>
                </c:pt>
                <c:pt idx="1">
                  <c:v>2.81</c:v>
                </c:pt>
                <c:pt idx="2">
                  <c:v>3.16</c:v>
                </c:pt>
                <c:pt idx="3">
                  <c:v>1</c:v>
                </c:pt>
                <c:pt idx="4">
                  <c:v>2</c:v>
                </c:pt>
                <c:pt idx="5">
                  <c:v>4.1</c:v>
                </c:pt>
              </c:numCache>
            </c:numRef>
          </c:val>
        </c:ser>
        <c:ser>
          <c:idx val="2"/>
          <c:order val="2"/>
          <c:tx>
            <c:strRef>
              <c:f>Sheet1!$D$1</c:f>
              <c:strCache>
                <c:ptCount val="1"/>
                <c:pt idx="0">
                  <c:v>Last swing (3.18)</c:v>
                </c:pt>
              </c:strCache>
            </c:strRef>
          </c:tx>
          <c:spPr>
            <a:solidFill>
              <a:srgbClr val="D254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ANC</c:v>
                  </c:pt>
                  <c:pt idx="1">
                    <c:v>DA</c:v>
                  </c:pt>
                  <c:pt idx="2">
                    <c:v>EFF</c:v>
                  </c:pt>
                  <c:pt idx="3">
                    <c:v>UDM</c:v>
                  </c:pt>
                  <c:pt idx="4">
                    <c:v>ATM</c:v>
                  </c:pt>
                  <c:pt idx="5">
                    <c:v>OTHER</c:v>
                  </c:pt>
                </c:lvl>
              </c:multiLvlStrCache>
            </c:multiLvlStrRef>
          </c:cat>
          <c:val>
            <c:numRef>
              <c:f>Sheet1!$D$2:$D$7</c:f>
              <c:numCache>
                <c:formatCode>General</c:formatCode>
                <c:ptCount val="6"/>
                <c:pt idx="0">
                  <c:v>3.27</c:v>
                </c:pt>
                <c:pt idx="1">
                  <c:v>5.13</c:v>
                </c:pt>
                <c:pt idx="2">
                  <c:v>2.61</c:v>
                </c:pt>
                <c:pt idx="3">
                  <c:v>1.1</c:v>
                </c:pt>
                <c:pt idx="4">
                  <c:v>2</c:v>
                </c:pt>
                <c:pt idx="5">
                  <c:v>4.96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9E8"/>
              </a:solidFill>
              <a:prstDash val="solid"/>
              <a:round/>
            </a:ln>
          </c:spPr>
        </c:majorGridlines>
        <c:title>
          <c:tx>
            <c:rich>
              <a:bodyPr/>
              <a:lstStyle/>
              <a:p>
                <a:pPr>
                  <a:defRPr sz="1200" b="0" i="0" u="none" strike="noStrike">
                    <a:solidFill>
                      <a:srgbClr val="5C6B6E"/>
                    </a:solidFill>
                    <a:latin typeface="Arial"/>
                  </a:defRPr>
                </a:pPr>
                <a:r>
                  <a:rPr sz="1200" b="0" i="0" u="none" strike="noStrike">
                    <a:solidFill>
                      <a:srgbClr val="5C6B6E"/>
                    </a:solidFill>
                    <a:latin typeface="Arial"/>
                  </a:rPr>
                  <a:t>MAE (pts)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Swing needed (pts)</c:v>
                </c:pt>
              </c:strCache>
            </c:strRef>
          </c:tx>
          <c:spPr>
            <a:solidFill>
              <a:srgbClr val="0E5E5A"/>
            </a:solidFill>
            <a:effectLst/>
          </c:spPr>
          <c:invertIfNegative val="0"/>
          <c:dLbls>
            <c:numFmt formatCode="0.0" sourceLinked="0"/>
            <c:txPr>
              <a:bodyPr/>
              <a:lstStyle/>
              <a:p>
                <a:pPr>
                  <a:defRPr b="0" i="0" strike="noStrike" sz="1200" u="none">
                    <a:solidFill>
                      <a:srgbClr val="1E2B2F"/>
                    </a:solidFill>
                    <a:latin typeface="Arial"/>
                  </a:defRPr>
                </a:pPr>
              </a:p>
            </c:txPr>
            <c:showLegendKey val="0"/>
            <c:showVal val="1"/>
            <c:showCatName val="0"/>
            <c:showSerName val="0"/>
            <c:showPercent val="0"/>
            <c:showBubbleSize val="0"/>
            <c:showLeaderLines val="0"/>
          </c:dLbls>
          <c:cat>
            <c:multiLvlStrRef>
              <c:f>Sheet1!$A$2:$A$8</c:f>
              <c:multiLvlStrCache>
                <c:ptCount val="7"/>
                <c:lvl>
                  <c:pt idx="0">
                    <c:v>Nelson Mandela Bay (DA over ANC)</c:v>
                  </c:pt>
                  <c:pt idx="1">
                    <c:v>Dr Beyers Naude (ANC over DA)</c:v>
                  </c:pt>
                  <c:pt idx="2">
                    <c:v>Inxuba Yethemba (ANC over DA)</c:v>
                  </c:pt>
                  <c:pt idx="3">
                    <c:v>Kouga (DA over ANC)</c:v>
                  </c:pt>
                  <c:pt idx="4">
                    <c:v>Blue Crane Route (ANC over DA)</c:v>
                  </c:pt>
                  <c:pt idx="5">
                    <c:v>Ndlambe (ANC over DA)</c:v>
                  </c:pt>
                  <c:pt idx="6">
                    <c:v>Kou-Kamma (ANC over DA)</c:v>
                  </c:pt>
                </c:lvl>
              </c:multiLvlStrCache>
            </c:multiLvlStrRef>
          </c:cat>
          <c:val>
            <c:numRef>
              <c:f>Sheet1!$B$2:$B$8</c:f>
              <c:numCache>
                <c:formatCode>General</c:formatCode>
                <c:ptCount val="7"/>
                <c:pt idx="0">
                  <c:v>0.24</c:v>
                </c:pt>
                <c:pt idx="1">
                  <c:v>3.62</c:v>
                </c:pt>
                <c:pt idx="2">
                  <c:v>6.62</c:v>
                </c:pt>
                <c:pt idx="3">
                  <c:v>8.2</c:v>
                </c:pt>
                <c:pt idx="4">
                  <c:v>9.08</c:v>
                </c:pt>
                <c:pt idx="5">
                  <c:v>10.41</c:v>
                </c:pt>
                <c:pt idx="6">
                  <c:v>10.52</c:v>
                </c:pt>
              </c:numCache>
            </c:numRef>
          </c:val>
        </c:ser>
        <c:dLbls>
          <c:numFmt formatCode="0.0" sourceLinked="0"/>
          <c:txPr>
            <a:bodyPr/>
            <a:lstStyle/>
            <a:p>
              <a:pPr>
                <a:defRPr b="0" i="0" strike="noStrike" sz="1200" u="none">
                  <a:solidFill>
                    <a:srgbClr val="1E2B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2"/>
        <c:crosses val="autoZero"/>
        <c:auto val="1"/>
        <c:lblAlgn val="ctr"/>
        <c:noMultiLvlLbl val="1"/>
      </c:catAx>
      <c:valAx>
        <c:axId val="2094734552"/>
        <c:scaling>
          <c:orientation val="minMax"/>
          <c:min val="0"/>
        </c:scaling>
        <c:delete val="0"/>
        <c:axPos val="b"/>
        <c:majorGridlines>
          <c:spPr>
            <a:ln w="6350" cap="flat">
              <a:solidFill>
                <a:srgbClr val="E3E9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B6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Good morning. We are a team from the University of Fort Hare. Our project asks two questions about the Eastern Cape: why does turnout differ so much between municipalities, and what do two decades of results suggest about the 2026 local elections? The map shows 2021 turnout; lighter municipalities voted more. Over the next fifteen minutes each of us presents one part: the problem and data, what we found, how we tested our models, and what it means for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Our research question is on the slide. The data to answer it exists, but it is fragmented: results files in different formats, separate turnout reports, a registration dashboard, and municipal boundaries that changed twice. Comparing a municipality across twenty years only works if every election is first put onto the same map. And because 2026 matters to many people, we wanted any statement about it to be honest about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We rebuilt 164 municipality-elections from the raw IEC result files. Registered voters and spoilt ballots repeat on every party row, so we count them once per voting district. We use only the PR ballot, which every voter receives, so party support is comparable across elections. Older municipalities map onto today's 33 through an explicit crosswalk. Census indicators provide context; the exact upstream tables for our census file are not recorded in the repository, and we flag that openly.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The work runs as six notebooks in order, each writing the files the next one reads. The important engineering choice is that shared logic lives in one Python package, so the notebooks and the dashboard call the same code. One command rebuilds everything from the raw files in about a minute, runs nineteen validation checks and twenty-three tests, and writes every headline number to a single file so the slides, dashboard and documentation cannot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Before analysing anything we checked our numbers against an independent source: the IEC's own turnout reports, which we did not use to build the data. Registered voters match exactly in all 33 municipalities in 2016 and 2021, and turnout agrees to about a third of a point. The small differences are definitional: the IEC also counts special votes and the larger of ward or PR ballots. Earlier province totals also reconcile exactly once excluded units are accounted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Turnout held between 56 and 58 percent for four elections. Then in 2021 it fell in every single municipality, by between four and eighteen points; the provincial mean dropped from 56 to 48 percent. When every municipality moves together, the cause is something province-wide or national, not local. The 2021 election took place during the pandemic. This observation shapes everything that follows: to understand differences between municipalities, we compare them within the same 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These five maps share one colour scale. Two things stand out: the whole province gets lighter in 2021, and the pattern of which municipalities are high or low hardly changes. Kouga and the western municipalities stay above the provincial level; King Sabata Dalindyebo and the eastern municipalities stay below. We built the map ourselves by dissolving official 2011 boundaries with the same crosswalk as the data, so the map and the numbers always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The ANC remains dominant, though its share has fallen since 2006. The EFF entered in 2016 and the ATM in 2021. The average municipal ballot went from about three parties to about ten, but the effective number of parties, which weights parties by their votes, rose only from 1.6 to 2.0. We compute it from every party before grouping small ones. Most contests are not close; Nelson Mandela Bay, decided by less than half a point, is the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This slide shows why the analysis must separate two questions. Coloured lines are individual elections: within each one, municipalities with more effective parties or more matric holders had higher turnout. The dashed line pools all three elections and slopes the other way, because 2021 combined lower turnout with more parties everywhere. The pooled view is a fair description of change over time, but the wrong tool for explaining why municipalities differ. Our prototype had mixed these up; we now answer each question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Within each election, the pattern is consistent. Municipalities with a higher median age, better piped water and formal housing, and more matric holders had higher turnout; those with more children under fifteen and wider victory margins had lower turnout. Election year alone explains about half of all variation; these municipal characteristics take that to about 63 percent. But age structure, services and education move together geographically, so with 33 municipalities we cannot say which one matters. These are associations between places, not causes, and they say nothing about how individuals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Here is the key insight for prediction. We split each municipality's turnout into the provincial level plus its position relative to that level. The scatter shows 2016 position against 2021 position: it lies close to the diagonal, a correlation of 0.77, even though the whole province fell eight points in between. Since 2011, where a municipality sits relative to the province has been very stable. Before 2011 it was much noisier.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To test honestly, we pretend to stand before each election. For the 2011 fold we train on 2006; for 2016 we train on 2006 and 2011. We choose the method with the lowest average error on those two validation folds. Only then do we look at 2021, once, and report whatever it gives. Then we refit the chosen method on all data through 2021 for the scenarios. Our earlier prototype picked models by their 2021 scores, which flatters the result; we fixed that, and accepted the less flattering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We report two numbers for 2021, separately. The absolute turnout error was 8.2 points: every method, simple or machine learning, predicted turnout about eight points too high, because nothing in municipal history could foresee the province-wide fall. The relative-pattern error, which measures how well we captured differences between municipalities, was 2.08 points with a correlation of 0.77. Simple persistence won on validation and also on the locked test, beating ridge regression, random forests and the provincial-average baseline. Adding Census 2011 did not help. So: the provincial level was hard to anticipate, the municipal pattern was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For party support we model each party's swing. Validation chose 'no change' for the ANC, DA and UDM; the EFF and ATM did not exist in a validation fold, so they default to 'no change'; a random forest won for the OTHER category. On the locked 2021 test, the composite's error was 2.69 points against 2.93 for pure 'no change'. 'Last swing' would have helped the ANC but hurt the DA badly. All approaches identify the largest party in nearly every municipality, which tells us that leadership is easy to predict; the informative output is how close each contest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For 2026 we combine what the data validated with what it cannot tell us. The municipal pattern is modelled: each municipality keeps its 2021 position relative to the province, with a band of about 3.8 points from historical errors. The provincial level is an assumption, so we show three: a repeat of 2021 at 48 percent, partial recovery at 52, and a return to 2016 at 56. The maps differ only in overall shade. We do not claim any one of these is the forecast. Expected votes use 2021 registration until the 2026 IEC snapshot is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Under the validated status-quo scenario the ANC has the largest share in 31 municipalities and the DA in 2. But the more useful question is how close each contest is. Nelson Mandela Bay's lead is under half a point, far inside our typical error of 2.7 points, so we call it too close to call. Dr Beyers Naude would change hands with a uniform swing of about 3.6 points; most other municipalities would need ten points or more. We do not model new parties, coalitions or the 2024 national election, which is why the dashboard lets users explore swings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The dashboard follows the story of this talk: participation, competition, socioeconomic context, historical validation, 2026 scenarios and limitations, plus a profile for each municipality and CSV downloads. One design rule runs throughout: teal panels show validated evidence, orange panels mark assumptions. The scenario explorer calls exactly the same code as our final notebook, so the dashboard cannot drift from the analysis. [Optional: switch to a live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We want to be clear about what this work cannot do. Five elections and 33 municipalities is a small sample. Our findings describe municipalities, not individual voters, and they are associations, not causes. The 2021 shock could not be anticipated, which is why the provincial level is an assumption. Merged municipalities are comparable but not identical over time. We could not verify the upstream tables of our census file, and there is no province-wide gender data; the 2026 registration snapshot is not yet extracted, but the pipeline is ready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then all] To close: we built a validated twenty-year municipal panel; we found that the provincial turnout level moves with events while each municipality's relative position is stable; we tested our models honestly with 2021 locked away; and we built a dashboard that separates evidence from assumption. Next we would add the 2026 registration data, try training only on the stable post-2011 period, and update everything after the November results. Thank you;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aloud. All web sources should be checked and access dates added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B2F"/>
        </a:solidFill>
      </p:bgPr>
    </p:bg>
    <p:spTree>
      <p:nvGrpSpPr>
        <p:cNvPr id="1" name=""/>
        <p:cNvGrpSpPr/>
        <p:nvPr/>
      </p:nvGrpSpPr>
      <p:grpSpPr>
        <a:xfrm>
          <a:off x="0" y="0"/>
          <a:ext cx="0" cy="0"/>
          <a:chOff x="0" y="0"/>
          <a:chExt cx="0" cy="0"/>
        </a:xfrm>
      </p:grpSpPr>
      <p:pic>
        <p:nvPicPr>
          <p:cNvPr id="2" name="Image 0" descr="/home/claude/repo/presentation/build/title_map.png">    </p:cNvPr>
          <p:cNvPicPr>
            <a:picLocks noChangeAspect="1"/>
          </p:cNvPicPr>
          <p:nvPr/>
        </p:nvPicPr>
        <p:blipFill>
          <a:blip r:embed="rId1"/>
          <a:stretch>
            <a:fillRect/>
          </a:stretch>
        </p:blipFill>
        <p:spPr>
          <a:xfrm>
            <a:off x="6035040" y="1371600"/>
            <a:ext cx="5669280" cy="3200400"/>
          </a:xfrm>
          <a:prstGeom prst="rect">
            <a:avLst/>
          </a:prstGeom>
        </p:spPr>
      </p:pic>
      <p:sp>
        <p:nvSpPr>
          <p:cNvPr id="3" name="Text 0"/>
          <p:cNvSpPr txBox="1"/>
          <p:nvPr/>
        </p:nvSpPr>
        <p:spPr>
          <a:xfrm>
            <a:off x="548640" y="1188720"/>
            <a:ext cx="5669280" cy="237744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Who turns out in the Eastern Cape, and what could 2026 look like?</a:t>
            </a:r>
            <a:endParaRPr lang="en-US" sz="3800" dirty="0"/>
          </a:p>
        </p:txBody>
      </p:sp>
      <p:sp>
        <p:nvSpPr>
          <p:cNvPr id="4" name="Text 1"/>
          <p:cNvSpPr txBox="1"/>
          <p:nvPr/>
        </p:nvSpPr>
        <p:spPr>
          <a:xfrm>
            <a:off x="548640" y="3749040"/>
            <a:ext cx="5303520" cy="822960"/>
          </a:xfrm>
          <a:prstGeom prst="rect">
            <a:avLst/>
          </a:prstGeom>
          <a:noFill/>
          <a:ln/>
        </p:spPr>
        <p:txBody>
          <a:bodyPr wrap="square" lIns="0" tIns="0" rIns="0" bIns="0" rtlCol="0" anchor="ctr"/>
          <a:lstStyle/>
          <a:p>
            <a:pPr indent="0" marL="0">
              <a:buNone/>
            </a:pPr>
            <a:r>
              <a:rPr lang="en-US" sz="1700" dirty="0">
                <a:solidFill>
                  <a:srgbClr val="7FB5AE"/>
                </a:solidFill>
                <a:latin typeface="Calibri" pitchFamily="34" charset="0"/>
                <a:ea typeface="Calibri" pitchFamily="34" charset="-122"/>
                <a:cs typeface="Calibri" pitchFamily="34" charset="-120"/>
              </a:rPr>
              <a:t>Municipal electoral dynamics, Local Government Elections 2000 to 2021, with 2026 scenarios</a:t>
            </a:r>
            <a:endParaRPr lang="en-US" sz="1700" dirty="0"/>
          </a:p>
        </p:txBody>
      </p:sp>
      <p:sp>
        <p:nvSpPr>
          <p:cNvPr id="5" name="Text 2"/>
          <p:cNvSpPr txBox="1"/>
          <p:nvPr/>
        </p:nvSpPr>
        <p:spPr>
          <a:xfrm>
            <a:off x="548640" y="5943600"/>
            <a:ext cx="8229600" cy="365760"/>
          </a:xfrm>
          <a:prstGeom prst="rect">
            <a:avLst/>
          </a:prstGeom>
          <a:noFill/>
          <a:ln/>
        </p:spPr>
        <p:txBody>
          <a:bodyPr wrap="square" lIns="0" tIns="0" rIns="0" bIns="0" rtlCol="0" anchor="ctr"/>
          <a:lstStyle/>
          <a:p>
            <a:pPr indent="0" marL="0">
              <a:buNone/>
            </a:pPr>
            <a:r>
              <a:rPr lang="en-US" sz="1300" dirty="0">
                <a:solidFill>
                  <a:srgbClr val="B8C4C2"/>
                </a:solidFill>
                <a:latin typeface="Calibri" pitchFamily="34" charset="0"/>
                <a:ea typeface="Calibri" pitchFamily="34" charset="-122"/>
                <a:cs typeface="Calibri" pitchFamily="34" charset="-120"/>
              </a:rPr>
              <a:t>University of Fort Hare team  |  DIRISA Student Datathon Challenge 2026, Teams Qualification</a:t>
            </a:r>
            <a:endParaRPr lang="en-US" sz="1300" dirty="0"/>
          </a:p>
        </p:txBody>
      </p:sp>
      <p:sp>
        <p:nvSpPr>
          <p:cNvPr id="6" name="Text 3"/>
          <p:cNvSpPr txBox="1"/>
          <p:nvPr/>
        </p:nvSpPr>
        <p:spPr>
          <a:xfrm>
            <a:off x="6035040" y="4754880"/>
            <a:ext cx="5669280" cy="274320"/>
          </a:xfrm>
          <a:prstGeom prst="rect">
            <a:avLst/>
          </a:prstGeom>
          <a:noFill/>
          <a:ln/>
        </p:spPr>
        <p:txBody>
          <a:bodyPr wrap="square" lIns="0" tIns="0" rIns="0" bIns="0" rtlCol="0" anchor="ctr"/>
          <a:lstStyle/>
          <a:p>
            <a:pPr algn="r" indent="0" marL="0">
              <a:buNone/>
            </a:pPr>
            <a:r>
              <a:rPr lang="en-US" sz="1000" dirty="0">
                <a:solidFill>
                  <a:srgbClr val="8FA3A0"/>
                </a:solidFill>
                <a:latin typeface="Calibri" pitchFamily="34" charset="0"/>
                <a:ea typeface="Calibri" pitchFamily="34" charset="-122"/>
                <a:cs typeface="Calibri" pitchFamily="34" charset="-120"/>
              </a:rPr>
              <a:t>Map: 2021 turnout by municipality (lighter = higher)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The problem</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Rich public data, but no single validated picture of municipal participation</a:t>
            </a:r>
            <a:endParaRPr lang="en-US" sz="1500" dirty="0"/>
          </a:p>
        </p:txBody>
      </p:sp>
      <p:sp>
        <p:nvSpPr>
          <p:cNvPr id="4" name="Shape 2"/>
          <p:cNvSpPr/>
          <p:nvPr/>
        </p:nvSpPr>
        <p:spPr>
          <a:xfrm>
            <a:off x="548640" y="1783080"/>
            <a:ext cx="6309360" cy="2377440"/>
          </a:xfrm>
          <a:prstGeom prst="rect">
            <a:avLst/>
          </a:prstGeom>
          <a:solidFill>
            <a:srgbClr val="EEF3F1"/>
          </a:solidFill>
          <a:ln w="12700">
            <a:solidFill>
              <a:srgbClr val="EEF3F1"/>
            </a:solidFill>
            <a:prstDash val="solid"/>
          </a:ln>
        </p:spPr>
      </p:sp>
      <p:sp>
        <p:nvSpPr>
          <p:cNvPr id="5" name="Text 3"/>
          <p:cNvSpPr txBox="1"/>
          <p:nvPr/>
        </p:nvSpPr>
        <p:spPr>
          <a:xfrm>
            <a:off x="868680" y="1965960"/>
            <a:ext cx="5669280" cy="2011680"/>
          </a:xfrm>
          <a:prstGeom prst="rect">
            <a:avLst/>
          </a:prstGeom>
          <a:noFill/>
          <a:ln/>
        </p:spPr>
        <p:txBody>
          <a:bodyPr wrap="square" lIns="0" tIns="0" rIns="0" bIns="0" rtlCol="0" anchor="ctr"/>
          <a:lstStyle/>
          <a:p>
            <a:pPr indent="0" marL="0">
              <a:buNone/>
            </a:pPr>
            <a:r>
              <a:rPr lang="en-US" sz="2000" i="1" dirty="0">
                <a:solidFill>
                  <a:srgbClr val="0E5E5A"/>
                </a:solidFill>
                <a:latin typeface="Cambria" pitchFamily="34" charset="0"/>
                <a:ea typeface="Cambria" pitchFamily="34" charset="-122"/>
                <a:cs typeface="Cambria" pitchFamily="34" charset="-120"/>
              </a:rPr>
              <a:t>What explains differences in electoral participation across Eastern Cape municipalities, and what do historical patterns suggest about turnout and party support in the 2026 Local Government Elections?</a:t>
            </a:r>
            <a:endParaRPr lang="en-US" sz="2000" dirty="0"/>
          </a:p>
        </p:txBody>
      </p:sp>
      <p:sp>
        <p:nvSpPr>
          <p:cNvPr id="6" name="Text 4"/>
          <p:cNvSpPr txBox="1"/>
          <p:nvPr/>
        </p:nvSpPr>
        <p:spPr>
          <a:xfrm>
            <a:off x="548640" y="4480560"/>
            <a:ext cx="6309360" cy="1737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E2B2F"/>
                </a:solidFill>
                <a:latin typeface="Calibri" pitchFamily="34" charset="0"/>
                <a:ea typeface="Calibri" pitchFamily="34" charset="-122"/>
                <a:cs typeface="Calibri" pitchFamily="34" charset="-120"/>
              </a:rPr>
              <a:t>IEC data is spread across result downloads, turnout reports and dashboards</a:t>
            </a:r>
            <a:endParaRPr lang="en-US" sz="1500" dirty="0"/>
          </a:p>
          <a:p>
            <a:pPr marL="342900" indent="-342900">
              <a:spcAft>
                <a:spcPts val="800"/>
              </a:spcAft>
              <a:buSzPct val="100000"/>
              <a:buChar char="•"/>
            </a:pPr>
            <a:r>
              <a:rPr lang="en-US" sz="1500" dirty="0">
                <a:solidFill>
                  <a:srgbClr val="1E2B2F"/>
                </a:solidFill>
                <a:latin typeface="Calibri" pitchFamily="34" charset="0"/>
                <a:ea typeface="Calibri" pitchFamily="34" charset="-122"/>
                <a:cs typeface="Calibri" pitchFamily="34" charset="-120"/>
              </a:rPr>
              <a:t>Municipal boundaries changed in 2006 and 2016, so places must be harmonised before comparing</a:t>
            </a:r>
            <a:endParaRPr lang="en-US" sz="1500" dirty="0"/>
          </a:p>
          <a:p>
            <a:pPr marL="342900" indent="-342900">
              <a:spcAft>
                <a:spcPts val="800"/>
              </a:spcAft>
              <a:buSzPct val="100000"/>
              <a:buChar char="•"/>
            </a:pPr>
            <a:r>
              <a:rPr lang="en-US" sz="1500" dirty="0">
                <a:solidFill>
                  <a:srgbClr val="1E2B2F"/>
                </a:solidFill>
                <a:latin typeface="Calibri" pitchFamily="34" charset="0"/>
                <a:ea typeface="Calibri" pitchFamily="34" charset="-122"/>
                <a:cs typeface="Calibri" pitchFamily="34" charset="-120"/>
              </a:rPr>
              <a:t>Forecasts are only useful if their uncertainty is honest</a:t>
            </a:r>
            <a:endParaRPr lang="en-US" sz="1500" dirty="0"/>
          </a:p>
        </p:txBody>
      </p:sp>
      <p:sp>
        <p:nvSpPr>
          <p:cNvPr id="7" name="Text 5"/>
          <p:cNvSpPr txBox="1"/>
          <p:nvPr/>
        </p:nvSpPr>
        <p:spPr>
          <a:xfrm>
            <a:off x="7406640" y="1783080"/>
            <a:ext cx="4206240" cy="411480"/>
          </a:xfrm>
          <a:prstGeom prst="rect">
            <a:avLst/>
          </a:prstGeom>
          <a:noFill/>
          <a:ln/>
        </p:spPr>
        <p:txBody>
          <a:bodyPr wrap="square" lIns="0" tIns="0" rIns="0" bIns="0" rtlCol="0" anchor="ctr"/>
          <a:lstStyle/>
          <a:p>
            <a:pPr indent="0" marL="0">
              <a:buNone/>
            </a:pPr>
            <a:r>
              <a:rPr lang="en-US" sz="2000" b="1" dirty="0">
                <a:solidFill>
                  <a:srgbClr val="1E2B2F"/>
                </a:solidFill>
                <a:latin typeface="Cambria" pitchFamily="34" charset="0"/>
                <a:ea typeface="Cambria" pitchFamily="34" charset="-122"/>
                <a:cs typeface="Cambria" pitchFamily="34" charset="-120"/>
              </a:rPr>
              <a:t>Who benefits</a:t>
            </a:r>
            <a:endParaRPr lang="en-US" sz="2000" dirty="0"/>
          </a:p>
        </p:txBody>
      </p:sp>
      <p:sp>
        <p:nvSpPr>
          <p:cNvPr id="8" name="Shape 6"/>
          <p:cNvSpPr/>
          <p:nvPr/>
        </p:nvSpPr>
        <p:spPr>
          <a:xfrm>
            <a:off x="7406640" y="2450592"/>
            <a:ext cx="384048" cy="384048"/>
          </a:xfrm>
          <a:prstGeom prst="ellipse">
            <a:avLst/>
          </a:prstGeom>
          <a:solidFill>
            <a:srgbClr val="0E5E5A"/>
          </a:solidFill>
          <a:ln w="12700">
            <a:solidFill>
              <a:srgbClr val="0E5E5A"/>
            </a:solidFill>
            <a:prstDash val="solid"/>
          </a:ln>
        </p:spPr>
      </p:sp>
      <p:sp>
        <p:nvSpPr>
          <p:cNvPr id="9" name="Text 7"/>
          <p:cNvSpPr txBox="1"/>
          <p:nvPr/>
        </p:nvSpPr>
        <p:spPr>
          <a:xfrm>
            <a:off x="7406640" y="2450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955280" y="2377440"/>
            <a:ext cx="3657600" cy="777240"/>
          </a:xfrm>
          <a:prstGeom prst="rect">
            <a:avLst/>
          </a:prstGeom>
          <a:noFill/>
          <a:ln/>
        </p:spPr>
        <p:txBody>
          <a:bodyPr wrap="square" lIns="0" tIns="0" rIns="0" bIns="0" rtlCol="0" anchor="t"/>
          <a:lstStyle/>
          <a:p>
            <a:pPr indent="0" marL="0">
              <a:buNone/>
            </a:pPr>
            <a:r>
              <a:rPr lang="en-US" sz="1500" b="1" dirty="0">
                <a:solidFill>
                  <a:srgbClr val="1E2B2F"/>
                </a:solidFill>
                <a:latin typeface="Calibri" pitchFamily="34" charset="0"/>
                <a:ea typeface="Calibri" pitchFamily="34" charset="-122"/>
                <a:cs typeface="Calibri" pitchFamily="34" charset="-120"/>
              </a:rPr>
              <a:t>Voters and civil society</a:t>
            </a:r>
            <a:endParaRPr lang="en-US" sz="1500" dirty="0"/>
          </a:p>
          <a:p>
            <a:pPr indent="0" marL="0">
              <a:buNone/>
            </a:pPr>
            <a:r>
              <a:rPr lang="en-US" sz="1500" dirty="0">
                <a:solidFill>
                  <a:srgbClr val="5C6B6E"/>
                </a:solidFill>
                <a:latin typeface="Calibri" pitchFamily="34" charset="0"/>
                <a:ea typeface="Calibri" pitchFamily="34" charset="-122"/>
                <a:cs typeface="Calibri" pitchFamily="34" charset="-120"/>
              </a:rPr>
              <a:t>where participation is weakest</a:t>
            </a:r>
            <a:endParaRPr lang="en-US" sz="1500" dirty="0"/>
          </a:p>
        </p:txBody>
      </p:sp>
      <p:sp>
        <p:nvSpPr>
          <p:cNvPr id="11" name="Shape 9"/>
          <p:cNvSpPr/>
          <p:nvPr/>
        </p:nvSpPr>
        <p:spPr>
          <a:xfrm>
            <a:off x="7406640" y="3410712"/>
            <a:ext cx="384048" cy="384048"/>
          </a:xfrm>
          <a:prstGeom prst="ellipse">
            <a:avLst/>
          </a:prstGeom>
          <a:solidFill>
            <a:srgbClr val="0E5E5A"/>
          </a:solidFill>
          <a:ln w="12700">
            <a:solidFill>
              <a:srgbClr val="0E5E5A"/>
            </a:solidFill>
            <a:prstDash val="solid"/>
          </a:ln>
        </p:spPr>
      </p:sp>
      <p:sp>
        <p:nvSpPr>
          <p:cNvPr id="12" name="Text 10"/>
          <p:cNvSpPr txBox="1"/>
          <p:nvPr/>
        </p:nvSpPr>
        <p:spPr>
          <a:xfrm>
            <a:off x="7406640"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7955280" y="3337560"/>
            <a:ext cx="3657600" cy="777240"/>
          </a:xfrm>
          <a:prstGeom prst="rect">
            <a:avLst/>
          </a:prstGeom>
          <a:noFill/>
          <a:ln/>
        </p:spPr>
        <p:txBody>
          <a:bodyPr wrap="square" lIns="0" tIns="0" rIns="0" bIns="0" rtlCol="0" anchor="t"/>
          <a:lstStyle/>
          <a:p>
            <a:pPr indent="0" marL="0">
              <a:buNone/>
            </a:pPr>
            <a:r>
              <a:rPr lang="en-US" sz="1500" b="1" dirty="0">
                <a:solidFill>
                  <a:srgbClr val="1E2B2F"/>
                </a:solidFill>
                <a:latin typeface="Calibri" pitchFamily="34" charset="0"/>
                <a:ea typeface="Calibri" pitchFamily="34" charset="-122"/>
                <a:cs typeface="Calibri" pitchFamily="34" charset="-120"/>
              </a:rPr>
              <a:t>Journalists</a:t>
            </a:r>
            <a:endParaRPr lang="en-US" sz="1500" dirty="0"/>
          </a:p>
          <a:p>
            <a:pPr indent="0" marL="0">
              <a:buNone/>
            </a:pPr>
            <a:r>
              <a:rPr lang="en-US" sz="1500" dirty="0">
                <a:solidFill>
                  <a:srgbClr val="5C6B6E"/>
                </a:solidFill>
                <a:latin typeface="Calibri" pitchFamily="34" charset="0"/>
                <a:ea typeface="Calibri" pitchFamily="34" charset="-122"/>
                <a:cs typeface="Calibri" pitchFamily="34" charset="-120"/>
              </a:rPr>
              <a:t>which contests are genuinely close</a:t>
            </a:r>
            <a:endParaRPr lang="en-US" sz="1500" dirty="0"/>
          </a:p>
        </p:txBody>
      </p:sp>
      <p:sp>
        <p:nvSpPr>
          <p:cNvPr id="14" name="Shape 12"/>
          <p:cNvSpPr/>
          <p:nvPr/>
        </p:nvSpPr>
        <p:spPr>
          <a:xfrm>
            <a:off x="7406640" y="4370832"/>
            <a:ext cx="384048" cy="384048"/>
          </a:xfrm>
          <a:prstGeom prst="ellipse">
            <a:avLst/>
          </a:prstGeom>
          <a:solidFill>
            <a:srgbClr val="0E5E5A"/>
          </a:solidFill>
          <a:ln w="12700">
            <a:solidFill>
              <a:srgbClr val="0E5E5A"/>
            </a:solidFill>
            <a:prstDash val="solid"/>
          </a:ln>
        </p:spPr>
      </p:sp>
      <p:sp>
        <p:nvSpPr>
          <p:cNvPr id="15" name="Text 13"/>
          <p:cNvSpPr txBox="1"/>
          <p:nvPr/>
        </p:nvSpPr>
        <p:spPr>
          <a:xfrm>
            <a:off x="7406640" y="43708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7955280" y="4297680"/>
            <a:ext cx="3657600" cy="777240"/>
          </a:xfrm>
          <a:prstGeom prst="rect">
            <a:avLst/>
          </a:prstGeom>
          <a:noFill/>
          <a:ln/>
        </p:spPr>
        <p:txBody>
          <a:bodyPr wrap="square" lIns="0" tIns="0" rIns="0" bIns="0" rtlCol="0" anchor="t"/>
          <a:lstStyle/>
          <a:p>
            <a:pPr indent="0" marL="0">
              <a:buNone/>
            </a:pPr>
            <a:r>
              <a:rPr lang="en-US" sz="1500" b="1" dirty="0">
                <a:solidFill>
                  <a:srgbClr val="1E2B2F"/>
                </a:solidFill>
                <a:latin typeface="Calibri" pitchFamily="34" charset="0"/>
                <a:ea typeface="Calibri" pitchFamily="34" charset="-122"/>
                <a:cs typeface="Calibri" pitchFamily="34" charset="-120"/>
              </a:rPr>
              <a:t>The IEC and parties</a:t>
            </a:r>
            <a:endParaRPr lang="en-US" sz="1500" dirty="0"/>
          </a:p>
          <a:p>
            <a:pPr indent="0" marL="0">
              <a:buNone/>
            </a:pPr>
            <a:r>
              <a:rPr lang="en-US" sz="1500" dirty="0">
                <a:solidFill>
                  <a:srgbClr val="5C6B6E"/>
                </a:solidFill>
                <a:latin typeface="Calibri" pitchFamily="34" charset="0"/>
                <a:ea typeface="Calibri" pitchFamily="34" charset="-122"/>
                <a:cs typeface="Calibri" pitchFamily="34" charset="-120"/>
              </a:rPr>
              <a:t>where turnout outreach matters most</a:t>
            </a:r>
            <a:endParaRPr lang="en-US" sz="1500" dirty="0"/>
          </a:p>
        </p:txBody>
      </p:sp>
      <p:sp>
        <p:nvSpPr>
          <p:cNvPr id="17" name="Shape 15"/>
          <p:cNvSpPr/>
          <p:nvPr/>
        </p:nvSpPr>
        <p:spPr>
          <a:xfrm>
            <a:off x="7406640" y="5330952"/>
            <a:ext cx="384048" cy="384048"/>
          </a:xfrm>
          <a:prstGeom prst="ellipse">
            <a:avLst/>
          </a:prstGeom>
          <a:solidFill>
            <a:srgbClr val="0E5E5A"/>
          </a:solidFill>
          <a:ln w="12700">
            <a:solidFill>
              <a:srgbClr val="0E5E5A"/>
            </a:solidFill>
            <a:prstDash val="solid"/>
          </a:ln>
        </p:spPr>
      </p:sp>
      <p:sp>
        <p:nvSpPr>
          <p:cNvPr id="18" name="Text 16"/>
          <p:cNvSpPr txBox="1"/>
          <p:nvPr/>
        </p:nvSpPr>
        <p:spPr>
          <a:xfrm>
            <a:off x="7406640" y="5330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7955280" y="5257800"/>
            <a:ext cx="3657600" cy="777240"/>
          </a:xfrm>
          <a:prstGeom prst="rect">
            <a:avLst/>
          </a:prstGeom>
          <a:noFill/>
          <a:ln/>
        </p:spPr>
        <p:txBody>
          <a:bodyPr wrap="square" lIns="0" tIns="0" rIns="0" bIns="0" rtlCol="0" anchor="t"/>
          <a:lstStyle/>
          <a:p>
            <a:pPr indent="0" marL="0">
              <a:buNone/>
            </a:pPr>
            <a:r>
              <a:rPr lang="en-US" sz="1500" b="1" dirty="0">
                <a:solidFill>
                  <a:srgbClr val="1E2B2F"/>
                </a:solidFill>
                <a:latin typeface="Calibri" pitchFamily="34" charset="0"/>
                <a:ea typeface="Calibri" pitchFamily="34" charset="-122"/>
                <a:cs typeface="Calibri" pitchFamily="34" charset="-120"/>
              </a:rPr>
              <a:t>Researchers</a:t>
            </a:r>
            <a:endParaRPr lang="en-US" sz="1500" dirty="0"/>
          </a:p>
          <a:p>
            <a:pPr indent="0" marL="0">
              <a:buNone/>
            </a:pPr>
            <a:r>
              <a:rPr lang="en-US" sz="1500" dirty="0">
                <a:solidFill>
                  <a:srgbClr val="5C6B6E"/>
                </a:solidFill>
                <a:latin typeface="Calibri" pitchFamily="34" charset="0"/>
                <a:ea typeface="Calibri" pitchFamily="34" charset="-122"/>
                <a:cs typeface="Calibri" pitchFamily="34" charset="-120"/>
              </a:rPr>
              <a:t>a reproducible, validated municipal panel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The data</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Five elections rebuilt from raw IEC files onto one geography of 33 municipalities</a:t>
            </a:r>
            <a:endParaRPr lang="en-US" sz="1500" dirty="0"/>
          </a:p>
        </p:txBody>
      </p:sp>
      <p:sp>
        <p:nvSpPr>
          <p:cNvPr id="4" name="Shape 2"/>
          <p:cNvSpPr/>
          <p:nvPr/>
        </p:nvSpPr>
        <p:spPr>
          <a:xfrm>
            <a:off x="9631375" y="6382512"/>
            <a:ext cx="2011680" cy="310896"/>
          </a:xfrm>
          <a:prstGeom prst="roundRect">
            <a:avLst>
              <a:gd name="adj" fmla="val 50000"/>
            </a:avLst>
          </a:prstGeom>
          <a:solidFill>
            <a:srgbClr val="EEF3F1"/>
          </a:solidFill>
          <a:ln w="12700">
            <a:solidFill>
              <a:srgbClr val="0E5E5A"/>
            </a:solidFill>
            <a:prstDash val="solid"/>
          </a:ln>
        </p:spPr>
      </p:sp>
      <p:sp>
        <p:nvSpPr>
          <p:cNvPr id="5" name="Text 3"/>
          <p:cNvSpPr txBox="1"/>
          <p:nvPr/>
        </p:nvSpPr>
        <p:spPr>
          <a:xfrm>
            <a:off x="9631375" y="6382512"/>
            <a:ext cx="2011680" cy="310896"/>
          </a:xfrm>
          <a:prstGeom prst="rect">
            <a:avLst/>
          </a:prstGeom>
          <a:noFill/>
          <a:ln/>
        </p:spPr>
        <p:txBody>
          <a:bodyPr wrap="square" lIns="0" tIns="0" rIns="0" bIns="0" rtlCol="0" anchor="ctr"/>
          <a:lstStyle/>
          <a:p>
            <a:pPr algn="ctr" indent="0" marL="0">
              <a:buNone/>
            </a:pPr>
            <a:r>
              <a:rPr lang="en-US" sz="1100" b="1" dirty="0">
                <a:solidFill>
                  <a:srgbClr val="0E5E5A"/>
                </a:solidFill>
                <a:latin typeface="Calibri" pitchFamily="34" charset="0"/>
                <a:ea typeface="Calibri" pitchFamily="34" charset="-122"/>
                <a:cs typeface="Calibri" pitchFamily="34" charset="-120"/>
              </a:rPr>
              <a:t>Validated evidence</a:t>
            </a:r>
            <a:endParaRPr lang="en-US" sz="1100" dirty="0"/>
          </a:p>
        </p:txBody>
      </p:sp>
      <p:sp>
        <p:nvSpPr>
          <p:cNvPr id="6" name="Text 4"/>
          <p:cNvSpPr txBox="1"/>
          <p:nvPr/>
        </p:nvSpPr>
        <p:spPr>
          <a:xfrm>
            <a:off x="548640" y="1783080"/>
            <a:ext cx="2560320" cy="731520"/>
          </a:xfrm>
          <a:prstGeom prst="rect">
            <a:avLst/>
          </a:prstGeom>
          <a:noFill/>
          <a:ln/>
        </p:spPr>
        <p:txBody>
          <a:bodyPr wrap="square" lIns="0" tIns="0" rIns="0" bIns="0" rtlCol="0" anchor="ctr"/>
          <a:lstStyle/>
          <a:p>
            <a:pPr indent="0" marL="0">
              <a:buNone/>
            </a:pPr>
            <a:r>
              <a:rPr lang="en-US" sz="4000" b="1" dirty="0">
                <a:solidFill>
                  <a:srgbClr val="0E5E5A"/>
                </a:solidFill>
                <a:latin typeface="Cambria" pitchFamily="34" charset="0"/>
                <a:ea typeface="Cambria" pitchFamily="34" charset="-122"/>
                <a:cs typeface="Cambria" pitchFamily="34" charset="-120"/>
              </a:rPr>
              <a:t>164</a:t>
            </a:r>
            <a:endParaRPr lang="en-US" sz="4000" dirty="0"/>
          </a:p>
        </p:txBody>
      </p:sp>
      <p:sp>
        <p:nvSpPr>
          <p:cNvPr id="7" name="Text 5"/>
          <p:cNvSpPr txBox="1"/>
          <p:nvPr/>
        </p:nvSpPr>
        <p:spPr>
          <a:xfrm>
            <a:off x="548640" y="2532888"/>
            <a:ext cx="256032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municipality-elections (32 in 2000, 33 after)</a:t>
            </a:r>
            <a:endParaRPr lang="en-US" sz="1300" dirty="0"/>
          </a:p>
        </p:txBody>
      </p:sp>
      <p:sp>
        <p:nvSpPr>
          <p:cNvPr id="8" name="Text 6"/>
          <p:cNvSpPr txBox="1"/>
          <p:nvPr/>
        </p:nvSpPr>
        <p:spPr>
          <a:xfrm>
            <a:off x="3291840" y="1783080"/>
            <a:ext cx="2560320" cy="731520"/>
          </a:xfrm>
          <a:prstGeom prst="rect">
            <a:avLst/>
          </a:prstGeom>
          <a:noFill/>
          <a:ln/>
        </p:spPr>
        <p:txBody>
          <a:bodyPr wrap="square" lIns="0" tIns="0" rIns="0" bIns="0" rtlCol="0" anchor="ctr"/>
          <a:lstStyle/>
          <a:p>
            <a:pPr indent="0" marL="0">
              <a:buNone/>
            </a:pPr>
            <a:r>
              <a:rPr lang="en-US" sz="4000" b="1" dirty="0">
                <a:solidFill>
                  <a:srgbClr val="0E5E5A"/>
                </a:solidFill>
                <a:latin typeface="Cambria" pitchFamily="34" charset="0"/>
                <a:ea typeface="Cambria" pitchFamily="34" charset="-122"/>
                <a:cs typeface="Cambria" pitchFamily="34" charset="-120"/>
              </a:rPr>
              <a:t>4,809</a:t>
            </a:r>
            <a:endParaRPr lang="en-US" sz="4000" dirty="0"/>
          </a:p>
        </p:txBody>
      </p:sp>
      <p:sp>
        <p:nvSpPr>
          <p:cNvPr id="9" name="Text 7"/>
          <p:cNvSpPr txBox="1"/>
          <p:nvPr/>
        </p:nvSpPr>
        <p:spPr>
          <a:xfrm>
            <a:off x="3291840" y="2532888"/>
            <a:ext cx="256032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voting districts in 2021, deduplicated</a:t>
            </a:r>
            <a:endParaRPr lang="en-US" sz="1300" dirty="0"/>
          </a:p>
        </p:txBody>
      </p:sp>
      <p:sp>
        <p:nvSpPr>
          <p:cNvPr id="10" name="Text 8"/>
          <p:cNvSpPr txBox="1"/>
          <p:nvPr/>
        </p:nvSpPr>
        <p:spPr>
          <a:xfrm>
            <a:off x="6035040" y="1783080"/>
            <a:ext cx="2560320" cy="731520"/>
          </a:xfrm>
          <a:prstGeom prst="rect">
            <a:avLst/>
          </a:prstGeom>
          <a:noFill/>
          <a:ln/>
        </p:spPr>
        <p:txBody>
          <a:bodyPr wrap="square" lIns="0" tIns="0" rIns="0" bIns="0" rtlCol="0" anchor="ctr"/>
          <a:lstStyle/>
          <a:p>
            <a:pPr indent="0" marL="0">
              <a:buNone/>
            </a:pPr>
            <a:r>
              <a:rPr lang="en-US" sz="4000" b="1" dirty="0">
                <a:solidFill>
                  <a:srgbClr val="0E5E5A"/>
                </a:solidFill>
                <a:latin typeface="Cambria" pitchFamily="34" charset="0"/>
                <a:ea typeface="Cambria" pitchFamily="34" charset="-122"/>
                <a:cs typeface="Cambria" pitchFamily="34" charset="-120"/>
              </a:rPr>
              <a:t>5</a:t>
            </a:r>
            <a:endParaRPr lang="en-US" sz="4000" dirty="0"/>
          </a:p>
        </p:txBody>
      </p:sp>
      <p:sp>
        <p:nvSpPr>
          <p:cNvPr id="11" name="Text 9"/>
          <p:cNvSpPr txBox="1"/>
          <p:nvPr/>
        </p:nvSpPr>
        <p:spPr>
          <a:xfrm>
            <a:off x="6035040" y="2532888"/>
            <a:ext cx="256032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Local Government Elections, 2000 to 2021</a:t>
            </a:r>
            <a:endParaRPr lang="en-US" sz="1300" dirty="0"/>
          </a:p>
        </p:txBody>
      </p:sp>
      <p:sp>
        <p:nvSpPr>
          <p:cNvPr id="12" name="Text 10"/>
          <p:cNvSpPr txBox="1"/>
          <p:nvPr/>
        </p:nvSpPr>
        <p:spPr>
          <a:xfrm>
            <a:off x="8778240" y="1783080"/>
            <a:ext cx="2560320" cy="731520"/>
          </a:xfrm>
          <a:prstGeom prst="rect">
            <a:avLst/>
          </a:prstGeom>
          <a:noFill/>
          <a:ln/>
        </p:spPr>
        <p:txBody>
          <a:bodyPr wrap="square" lIns="0" tIns="0" rIns="0" bIns="0" rtlCol="0" anchor="ctr"/>
          <a:lstStyle/>
          <a:p>
            <a:pPr indent="0" marL="0">
              <a:buNone/>
            </a:pPr>
            <a:r>
              <a:rPr lang="en-US" sz="4000" b="1" dirty="0">
                <a:solidFill>
                  <a:srgbClr val="0E5E5A"/>
                </a:solidFill>
                <a:latin typeface="Cambria" pitchFamily="34" charset="0"/>
                <a:ea typeface="Cambria" pitchFamily="34" charset="-122"/>
                <a:cs typeface="Cambria" pitchFamily="34" charset="-120"/>
              </a:rPr>
              <a:t>33</a:t>
            </a:r>
            <a:endParaRPr lang="en-US" sz="4000" dirty="0"/>
          </a:p>
        </p:txBody>
      </p:sp>
      <p:sp>
        <p:nvSpPr>
          <p:cNvPr id="13" name="Text 11"/>
          <p:cNvSpPr txBox="1"/>
          <p:nvPr/>
        </p:nvSpPr>
        <p:spPr>
          <a:xfrm>
            <a:off x="8778240" y="2532888"/>
            <a:ext cx="256032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present-day municipalities via explicit crosswalk</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11094415" cy="914400"/>
        </p:xfrm>
        <a:graphic>
          <a:graphicData uri="http://schemas.openxmlformats.org/drawingml/2006/table">
            <a:tbl>
              <a:tblPr/>
              <a:tblGrid>
                <a:gridCol w="5852160"/>
                <a:gridCol w="5239512"/>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45720" marB="45720">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E5E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91440" marR="91440" marT="45720" marB="45720">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E5E5A"/>
                    </a:solidFill>
                  </a:tcPr>
                </a:tc>
              </a:tr>
              <a:tr h="384048">
                <a:tc>
                  <a:txBody>
                    <a:bodyPr/>
                    <a:lstStyle/>
                    <a:p>
                      <a:pPr indent="0" marL="0">
                        <a:buNone/>
                      </a:pPr>
                      <a:r>
                        <a:rPr lang="en-US" sz="1300" dirty="0">
                          <a:solidFill>
                            <a:srgbClr val="1E2B2F"/>
                          </a:solidFill>
                          <a:latin typeface="Calibri" pitchFamily="34" charset="0"/>
                          <a:ea typeface="Calibri" pitchFamily="34" charset="-122"/>
                          <a:cs typeface="Calibri" pitchFamily="34" charset="-120"/>
                        </a:rPr>
                        <a:t>IEC detailed LGE results 2000-2021 (PR ballot)</a:t>
                      </a:r>
                      <a:endParaRPr lang="en-US" sz="1300" dirty="0">
                        <a:latin typeface="Calibri" charset="0"/>
                        <a:ea typeface="Calibri" charset="0"/>
                        <a:cs typeface="Calibri" charset="0"/>
                      </a:endParaRPr>
                    </a:p>
                  </a:txBody>
                  <a:tcPr marL="91440" marR="91440" marT="45720" marB="45720">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E2B2F"/>
                          </a:solidFill>
                          <a:latin typeface="Calibri" pitchFamily="34" charset="0"/>
                          <a:ea typeface="Calibri" pitchFamily="34" charset="-122"/>
                          <a:cs typeface="Calibri" pitchFamily="34" charset="-120"/>
                        </a:rPr>
                        <a:t>Turnout, party shares, competition</a:t>
                      </a:r>
                      <a:endParaRPr lang="en-US" sz="1300" dirty="0">
                        <a:latin typeface="Calibri" charset="0"/>
                        <a:ea typeface="Calibri" charset="0"/>
                        <a:cs typeface="Calibri" charset="0"/>
                      </a:endParaRPr>
                    </a:p>
                  </a:txBody>
                  <a:tcPr marL="91440" marR="91440" marT="45720" marB="45720">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E2B2F"/>
                          </a:solidFill>
                          <a:latin typeface="Calibri" pitchFamily="34" charset="0"/>
                          <a:ea typeface="Calibri" pitchFamily="34" charset="-122"/>
                          <a:cs typeface="Calibri" pitchFamily="34" charset="-120"/>
                        </a:rPr>
                        <a:t>IEC Voter Turnout Reports 2000-2021</a:t>
                      </a:r>
                      <a:endParaRPr lang="en-US" sz="1300" dirty="0">
                        <a:latin typeface="Calibri" charset="0"/>
                        <a:ea typeface="Calibri" charset="0"/>
                        <a:cs typeface="Calibri" charset="0"/>
                      </a:endParaRPr>
                    </a:p>
                  </a:txBody>
                  <a:tcPr marL="91440" marR="91440" marT="45720" marB="45720">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E2B2F"/>
                          </a:solidFill>
                          <a:latin typeface="Calibri" pitchFamily="34" charset="0"/>
                          <a:ea typeface="Calibri" pitchFamily="34" charset="-122"/>
                          <a:cs typeface="Calibri" pitchFamily="34" charset="-120"/>
                        </a:rPr>
                        <a:t>Independent validation only</a:t>
                      </a:r>
                      <a:endParaRPr lang="en-US" sz="1300" dirty="0">
                        <a:latin typeface="Calibri" charset="0"/>
                        <a:ea typeface="Calibri" charset="0"/>
                        <a:cs typeface="Calibri" charset="0"/>
                      </a:endParaRPr>
                    </a:p>
                  </a:txBody>
                  <a:tcPr marL="91440" marR="91440" marT="45720" marB="45720">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E2B2F"/>
                          </a:solidFill>
                          <a:latin typeface="Calibri" pitchFamily="34" charset="0"/>
                          <a:ea typeface="Calibri" pitchFamily="34" charset="-122"/>
                          <a:cs typeface="Calibri" pitchFamily="34" charset="-120"/>
                        </a:rPr>
                        <a:t>Census 2011 and 2022 municipal indicators</a:t>
                      </a:r>
                      <a:endParaRPr lang="en-US" sz="1300" dirty="0">
                        <a:latin typeface="Calibri" charset="0"/>
                        <a:ea typeface="Calibri" charset="0"/>
                        <a:cs typeface="Calibri" charset="0"/>
                      </a:endParaRPr>
                    </a:p>
                  </a:txBody>
                  <a:tcPr marL="91440" marR="91440" marT="45720" marB="45720">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E2B2F"/>
                          </a:solidFill>
                          <a:latin typeface="Calibri" pitchFamily="34" charset="0"/>
                          <a:ea typeface="Calibri" pitchFamily="34" charset="-122"/>
                          <a:cs typeface="Calibri" pitchFamily="34" charset="-120"/>
                        </a:rPr>
                        <a:t>Demographic context (provenance flagged)</a:t>
                      </a:r>
                      <a:endParaRPr lang="en-US" sz="1300" dirty="0">
                        <a:latin typeface="Calibri" charset="0"/>
                        <a:ea typeface="Calibri" charset="0"/>
                        <a:cs typeface="Calibri" charset="0"/>
                      </a:endParaRPr>
                    </a:p>
                  </a:txBody>
                  <a:tcPr marL="91440" marR="91440" marT="45720" marB="45720">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E2B2F"/>
                          </a:solidFill>
                          <a:latin typeface="Calibri" pitchFamily="34" charset="0"/>
                          <a:ea typeface="Calibri" pitchFamily="34" charset="-122"/>
                          <a:cs typeface="Calibri" pitchFamily="34" charset="-120"/>
                        </a:rPr>
                        <a:t>MDB 2011 boundaries, dissolved with our crosswalk</a:t>
                      </a:r>
                      <a:endParaRPr lang="en-US" sz="1300" dirty="0">
                        <a:latin typeface="Calibri" charset="0"/>
                        <a:ea typeface="Calibri" charset="0"/>
                        <a:cs typeface="Calibri" charset="0"/>
                      </a:endParaRPr>
                    </a:p>
                  </a:txBody>
                  <a:tcPr marL="91440" marR="91440" marT="45720" marB="45720">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E2B2F"/>
                          </a:solidFill>
                          <a:latin typeface="Calibri" pitchFamily="34" charset="0"/>
                          <a:ea typeface="Calibri" pitchFamily="34" charset="-122"/>
                          <a:cs typeface="Calibri" pitchFamily="34" charset="-120"/>
                        </a:rPr>
                        <a:t>Maps on exactly the same 33 units</a:t>
                      </a:r>
                      <a:endParaRPr lang="en-US" sz="1300" dirty="0">
                        <a:latin typeface="Calibri" charset="0"/>
                        <a:ea typeface="Calibri" charset="0"/>
                        <a:cs typeface="Calibri" charset="0"/>
                      </a:endParaRPr>
                    </a:p>
                  </a:txBody>
                  <a:tcPr marL="91440" marR="91440" marT="45720" marB="45720">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E2B2F"/>
                          </a:solidFill>
                          <a:latin typeface="Calibri" pitchFamily="34" charset="0"/>
                          <a:ea typeface="Calibri" pitchFamily="34" charset="-122"/>
                          <a:cs typeface="Calibri" pitchFamily="34" charset="-120"/>
                        </a:rPr>
                        <a:t>IEC 2026 registration snapshot</a:t>
                      </a:r>
                      <a:endParaRPr lang="en-US" sz="1300" dirty="0">
                        <a:latin typeface="Calibri" charset="0"/>
                        <a:ea typeface="Calibri" charset="0"/>
                        <a:cs typeface="Calibri" charset="0"/>
                      </a:endParaRPr>
                    </a:p>
                  </a:txBody>
                  <a:tcPr marL="91440" marR="91440" marT="45720" marB="45720">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E2B2F"/>
                          </a:solidFill>
                          <a:latin typeface="Calibri" pitchFamily="34" charset="0"/>
                          <a:ea typeface="Calibri" pitchFamily="34" charset="-122"/>
                          <a:cs typeface="Calibri" pitchFamily="34" charset="-120"/>
                        </a:rPr>
                        <a:t>Optional: pipeline ready, not yet collected</a:t>
                      </a:r>
                      <a:endParaRPr lang="en-US" sz="1300" dirty="0">
                        <a:latin typeface="Calibri" charset="0"/>
                        <a:ea typeface="Calibri" charset="0"/>
                        <a:cs typeface="Calibri" charset="0"/>
                      </a:endParaRPr>
                    </a:p>
                  </a:txBody>
                  <a:tcPr marL="91440" marR="91440" marT="45720" marB="45720">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From raw files to dashboard: one reproducible pipeline</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python run_pipeline.py rebuilds every number, then validates and tests</a:t>
            </a:r>
            <a:endParaRPr lang="en-US" sz="1500" dirty="0"/>
          </a:p>
        </p:txBody>
      </p:sp>
      <p:sp>
        <p:nvSpPr>
          <p:cNvPr id="4" name="Shape 2"/>
          <p:cNvSpPr/>
          <p:nvPr/>
        </p:nvSpPr>
        <p:spPr>
          <a:xfrm>
            <a:off x="548640" y="1828800"/>
            <a:ext cx="1700784" cy="2331720"/>
          </a:xfrm>
          <a:prstGeom prst="rect">
            <a:avLst/>
          </a:prstGeom>
          <a:solidFill>
            <a:srgbClr val="EEF3F1"/>
          </a:solidFill>
          <a:ln w="12700">
            <a:solidFill>
              <a:srgbClr val="EEF3F1"/>
            </a:solidFill>
            <a:prstDash val="solid"/>
          </a:ln>
        </p:spPr>
      </p:sp>
      <p:sp>
        <p:nvSpPr>
          <p:cNvPr id="5" name="Text 3"/>
          <p:cNvSpPr txBox="1"/>
          <p:nvPr/>
        </p:nvSpPr>
        <p:spPr>
          <a:xfrm>
            <a:off x="685800" y="1938528"/>
            <a:ext cx="1463040" cy="502920"/>
          </a:xfrm>
          <a:prstGeom prst="rect">
            <a:avLst/>
          </a:prstGeom>
          <a:noFill/>
          <a:ln/>
        </p:spPr>
        <p:txBody>
          <a:bodyPr wrap="square" lIns="0" tIns="0" rIns="0" bIns="0" rtlCol="0" anchor="ctr"/>
          <a:lstStyle/>
          <a:p>
            <a:pPr indent="0" marL="0">
              <a:buNone/>
            </a:pPr>
            <a:r>
              <a:rPr lang="en-US" sz="2400" b="1" dirty="0">
                <a:solidFill>
                  <a:srgbClr val="0E5E5A"/>
                </a:solidFill>
                <a:latin typeface="Cambria" pitchFamily="34" charset="0"/>
                <a:ea typeface="Cambria" pitchFamily="34" charset="-122"/>
                <a:cs typeface="Cambria" pitchFamily="34" charset="-120"/>
              </a:rPr>
              <a:t>01</a:t>
            </a:r>
            <a:endParaRPr lang="en-US" sz="2400" dirty="0"/>
          </a:p>
        </p:txBody>
      </p:sp>
      <p:sp>
        <p:nvSpPr>
          <p:cNvPr id="6" name="Text 4"/>
          <p:cNvSpPr txBox="1"/>
          <p:nvPr/>
        </p:nvSpPr>
        <p:spPr>
          <a:xfrm>
            <a:off x="685800" y="2468880"/>
            <a:ext cx="1463040" cy="548640"/>
          </a:xfrm>
          <a:prstGeom prst="rect">
            <a:avLst/>
          </a:prstGeom>
          <a:noFill/>
          <a:ln/>
        </p:spPr>
        <p:txBody>
          <a:bodyPr wrap="square" lIns="0" tIns="0" rIns="0" bIns="0" rtlCol="0" anchor="t"/>
          <a:lstStyle/>
          <a:p>
            <a:pPr indent="0" marL="0">
              <a:buNone/>
            </a:pPr>
            <a:r>
              <a:rPr lang="en-US" sz="1400" b="1" dirty="0">
                <a:solidFill>
                  <a:srgbClr val="1E2B2F"/>
                </a:solidFill>
                <a:latin typeface="Calibri" pitchFamily="34" charset="0"/>
                <a:ea typeface="Calibri" pitchFamily="34" charset="-122"/>
                <a:cs typeface="Calibri" pitchFamily="34" charset="-120"/>
              </a:rPr>
              <a:t>Historical elections</a:t>
            </a:r>
            <a:endParaRPr lang="en-US" sz="1400" dirty="0"/>
          </a:p>
        </p:txBody>
      </p:sp>
      <p:sp>
        <p:nvSpPr>
          <p:cNvPr id="7" name="Text 5"/>
          <p:cNvSpPr txBox="1"/>
          <p:nvPr/>
        </p:nvSpPr>
        <p:spPr>
          <a:xfrm>
            <a:off x="685800" y="3063240"/>
            <a:ext cx="1463040" cy="1005840"/>
          </a:xfrm>
          <a:prstGeom prst="rect">
            <a:avLst/>
          </a:prstGeom>
          <a:noFill/>
          <a:ln/>
        </p:spPr>
        <p:txBody>
          <a:bodyPr wrap="square" lIns="0" tIns="0" rIns="0" bIns="0" rtlCol="0" anchor="t"/>
          <a:lstStyle/>
          <a:p>
            <a:pPr indent="0" marL="0">
              <a:buNone/>
            </a:pPr>
            <a:r>
              <a:rPr lang="en-US" sz="1200" dirty="0">
                <a:solidFill>
                  <a:srgbClr val="5C6B6E"/>
                </a:solidFill>
                <a:latin typeface="Calibri" pitchFamily="34" charset="0"/>
                <a:ea typeface="Calibri" pitchFamily="34" charset="-122"/>
                <a:cs typeface="Calibri" pitchFamily="34" charset="-120"/>
              </a:rPr>
              <a:t>harmonise, deduplicate, IEC check, map</a:t>
            </a:r>
            <a:endParaRPr lang="en-US" sz="1200" dirty="0"/>
          </a:p>
        </p:txBody>
      </p:sp>
      <p:sp>
        <p:nvSpPr>
          <p:cNvPr id="8" name="Shape 6"/>
          <p:cNvSpPr/>
          <p:nvPr/>
        </p:nvSpPr>
        <p:spPr>
          <a:xfrm>
            <a:off x="2414016" y="1828800"/>
            <a:ext cx="1700784" cy="2331720"/>
          </a:xfrm>
          <a:prstGeom prst="rect">
            <a:avLst/>
          </a:prstGeom>
          <a:solidFill>
            <a:srgbClr val="EEF3F1"/>
          </a:solidFill>
          <a:ln w="12700">
            <a:solidFill>
              <a:srgbClr val="EEF3F1"/>
            </a:solidFill>
            <a:prstDash val="solid"/>
          </a:ln>
        </p:spPr>
      </p:sp>
      <p:sp>
        <p:nvSpPr>
          <p:cNvPr id="9" name="Text 7"/>
          <p:cNvSpPr txBox="1"/>
          <p:nvPr/>
        </p:nvSpPr>
        <p:spPr>
          <a:xfrm>
            <a:off x="2551176" y="1938528"/>
            <a:ext cx="1463040" cy="502920"/>
          </a:xfrm>
          <a:prstGeom prst="rect">
            <a:avLst/>
          </a:prstGeom>
          <a:noFill/>
          <a:ln/>
        </p:spPr>
        <p:txBody>
          <a:bodyPr wrap="square" lIns="0" tIns="0" rIns="0" bIns="0" rtlCol="0" anchor="ctr"/>
          <a:lstStyle/>
          <a:p>
            <a:pPr indent="0" marL="0">
              <a:buNone/>
            </a:pPr>
            <a:r>
              <a:rPr lang="en-US" sz="2400" b="1" dirty="0">
                <a:solidFill>
                  <a:srgbClr val="0E5E5A"/>
                </a:solidFill>
                <a:latin typeface="Cambria" pitchFamily="34" charset="0"/>
                <a:ea typeface="Cambria" pitchFamily="34" charset="-122"/>
                <a:cs typeface="Cambria" pitchFamily="34" charset="-120"/>
              </a:rPr>
              <a:t>02</a:t>
            </a:r>
            <a:endParaRPr lang="en-US" sz="2400" dirty="0"/>
          </a:p>
        </p:txBody>
      </p:sp>
      <p:sp>
        <p:nvSpPr>
          <p:cNvPr id="10" name="Text 8"/>
          <p:cNvSpPr txBox="1"/>
          <p:nvPr/>
        </p:nvSpPr>
        <p:spPr>
          <a:xfrm>
            <a:off x="2551176" y="2468880"/>
            <a:ext cx="1463040" cy="548640"/>
          </a:xfrm>
          <a:prstGeom prst="rect">
            <a:avLst/>
          </a:prstGeom>
          <a:noFill/>
          <a:ln/>
        </p:spPr>
        <p:txBody>
          <a:bodyPr wrap="square" lIns="0" tIns="0" rIns="0" bIns="0" rtlCol="0" anchor="t"/>
          <a:lstStyle/>
          <a:p>
            <a:pPr indent="0" marL="0">
              <a:buNone/>
            </a:pPr>
            <a:r>
              <a:rPr lang="en-US" sz="1400" b="1" dirty="0">
                <a:solidFill>
                  <a:srgbClr val="1E2B2F"/>
                </a:solidFill>
                <a:latin typeface="Calibri" pitchFamily="34" charset="0"/>
                <a:ea typeface="Calibri" pitchFamily="34" charset="-122"/>
                <a:cs typeface="Calibri" pitchFamily="34" charset="-120"/>
              </a:rPr>
              <a:t>Demographics</a:t>
            </a:r>
            <a:endParaRPr lang="en-US" sz="1400" dirty="0"/>
          </a:p>
        </p:txBody>
      </p:sp>
      <p:sp>
        <p:nvSpPr>
          <p:cNvPr id="11" name="Text 9"/>
          <p:cNvSpPr txBox="1"/>
          <p:nvPr/>
        </p:nvSpPr>
        <p:spPr>
          <a:xfrm>
            <a:off x="2551176" y="3063240"/>
            <a:ext cx="1463040" cy="1005840"/>
          </a:xfrm>
          <a:prstGeom prst="rect">
            <a:avLst/>
          </a:prstGeom>
          <a:noFill/>
          <a:ln/>
        </p:spPr>
        <p:txBody>
          <a:bodyPr wrap="square" lIns="0" tIns="0" rIns="0" bIns="0" rtlCol="0" anchor="t"/>
          <a:lstStyle/>
          <a:p>
            <a:pPr indent="0" marL="0">
              <a:buNone/>
            </a:pPr>
            <a:r>
              <a:rPr lang="en-US" sz="1200" dirty="0">
                <a:solidFill>
                  <a:srgbClr val="5C6B6E"/>
                </a:solidFill>
                <a:latin typeface="Calibri" pitchFamily="34" charset="0"/>
                <a:ea typeface="Calibri" pitchFamily="34" charset="-122"/>
                <a:cs typeface="Calibri" pitchFamily="34" charset="-120"/>
              </a:rPr>
              <a:t>descriptive vs as-known census</a:t>
            </a:r>
            <a:endParaRPr lang="en-US" sz="1200" dirty="0"/>
          </a:p>
        </p:txBody>
      </p:sp>
      <p:sp>
        <p:nvSpPr>
          <p:cNvPr id="12" name="Shape 10"/>
          <p:cNvSpPr/>
          <p:nvPr/>
        </p:nvSpPr>
        <p:spPr>
          <a:xfrm>
            <a:off x="4279392" y="1828800"/>
            <a:ext cx="1700784" cy="2331720"/>
          </a:xfrm>
          <a:prstGeom prst="rect">
            <a:avLst/>
          </a:prstGeom>
          <a:solidFill>
            <a:srgbClr val="EEF3F1"/>
          </a:solidFill>
          <a:ln w="12700">
            <a:solidFill>
              <a:srgbClr val="EEF3F1"/>
            </a:solidFill>
            <a:prstDash val="solid"/>
          </a:ln>
        </p:spPr>
      </p:sp>
      <p:sp>
        <p:nvSpPr>
          <p:cNvPr id="13" name="Text 11"/>
          <p:cNvSpPr txBox="1"/>
          <p:nvPr/>
        </p:nvSpPr>
        <p:spPr>
          <a:xfrm>
            <a:off x="4416552" y="1938528"/>
            <a:ext cx="1463040" cy="502920"/>
          </a:xfrm>
          <a:prstGeom prst="rect">
            <a:avLst/>
          </a:prstGeom>
          <a:noFill/>
          <a:ln/>
        </p:spPr>
        <p:txBody>
          <a:bodyPr wrap="square" lIns="0" tIns="0" rIns="0" bIns="0" rtlCol="0" anchor="ctr"/>
          <a:lstStyle/>
          <a:p>
            <a:pPr indent="0" marL="0">
              <a:buNone/>
            </a:pPr>
            <a:r>
              <a:rPr lang="en-US" sz="2400" b="1" dirty="0">
                <a:solidFill>
                  <a:srgbClr val="0E5E5A"/>
                </a:solidFill>
                <a:latin typeface="Cambria" pitchFamily="34" charset="0"/>
                <a:ea typeface="Cambria" pitchFamily="34" charset="-122"/>
                <a:cs typeface="Cambria" pitchFamily="34" charset="-120"/>
              </a:rPr>
              <a:t>03</a:t>
            </a:r>
            <a:endParaRPr lang="en-US" sz="2400" dirty="0"/>
          </a:p>
        </p:txBody>
      </p:sp>
      <p:sp>
        <p:nvSpPr>
          <p:cNvPr id="14" name="Text 12"/>
          <p:cNvSpPr txBox="1"/>
          <p:nvPr/>
        </p:nvSpPr>
        <p:spPr>
          <a:xfrm>
            <a:off x="4416552" y="2468880"/>
            <a:ext cx="1463040" cy="548640"/>
          </a:xfrm>
          <a:prstGeom prst="rect">
            <a:avLst/>
          </a:prstGeom>
          <a:noFill/>
          <a:ln/>
        </p:spPr>
        <p:txBody>
          <a:bodyPr wrap="square" lIns="0" tIns="0" rIns="0" bIns="0" rtlCol="0" anchor="t"/>
          <a:lstStyle/>
          <a:p>
            <a:pPr indent="0" marL="0">
              <a:buNone/>
            </a:pPr>
            <a:r>
              <a:rPr lang="en-US" sz="1400" b="1" dirty="0">
                <a:solidFill>
                  <a:srgbClr val="1E2B2F"/>
                </a:solidFill>
                <a:latin typeface="Calibri" pitchFamily="34" charset="0"/>
                <a:ea typeface="Calibri" pitchFamily="34" charset="-122"/>
                <a:cs typeface="Calibri" pitchFamily="34" charset="-120"/>
              </a:rPr>
              <a:t>Analysis</a:t>
            </a:r>
            <a:endParaRPr lang="en-US" sz="1400" dirty="0"/>
          </a:p>
        </p:txBody>
      </p:sp>
      <p:sp>
        <p:nvSpPr>
          <p:cNvPr id="15" name="Text 13"/>
          <p:cNvSpPr txBox="1"/>
          <p:nvPr/>
        </p:nvSpPr>
        <p:spPr>
          <a:xfrm>
            <a:off x="4416552" y="3063240"/>
            <a:ext cx="1463040" cy="1005840"/>
          </a:xfrm>
          <a:prstGeom prst="rect">
            <a:avLst/>
          </a:prstGeom>
          <a:noFill/>
          <a:ln/>
        </p:spPr>
        <p:txBody>
          <a:bodyPr wrap="square" lIns="0" tIns="0" rIns="0" bIns="0" rtlCol="0" anchor="t"/>
          <a:lstStyle/>
          <a:p>
            <a:pPr indent="0" marL="0">
              <a:buNone/>
            </a:pPr>
            <a:r>
              <a:rPr lang="en-US" sz="1200" dirty="0">
                <a:solidFill>
                  <a:srgbClr val="5C6B6E"/>
                </a:solidFill>
                <a:latin typeface="Calibri" pitchFamily="34" charset="0"/>
                <a:ea typeface="Calibri" pitchFamily="34" charset="-122"/>
                <a:cs typeface="Calibri" pitchFamily="34" charset="-120"/>
              </a:rPr>
              <a:t>within-election associations, persistence</a:t>
            </a:r>
            <a:endParaRPr lang="en-US" sz="1200" dirty="0"/>
          </a:p>
        </p:txBody>
      </p:sp>
      <p:sp>
        <p:nvSpPr>
          <p:cNvPr id="16" name="Shape 14"/>
          <p:cNvSpPr/>
          <p:nvPr/>
        </p:nvSpPr>
        <p:spPr>
          <a:xfrm>
            <a:off x="6144768" y="1828800"/>
            <a:ext cx="1700784" cy="2331720"/>
          </a:xfrm>
          <a:prstGeom prst="rect">
            <a:avLst/>
          </a:prstGeom>
          <a:solidFill>
            <a:srgbClr val="E1ECEA"/>
          </a:solidFill>
          <a:ln w="12700">
            <a:solidFill>
              <a:srgbClr val="E1ECEA"/>
            </a:solidFill>
            <a:prstDash val="solid"/>
          </a:ln>
        </p:spPr>
      </p:sp>
      <p:sp>
        <p:nvSpPr>
          <p:cNvPr id="17" name="Text 15"/>
          <p:cNvSpPr txBox="1"/>
          <p:nvPr/>
        </p:nvSpPr>
        <p:spPr>
          <a:xfrm>
            <a:off x="6281928" y="1938528"/>
            <a:ext cx="1463040" cy="502920"/>
          </a:xfrm>
          <a:prstGeom prst="rect">
            <a:avLst/>
          </a:prstGeom>
          <a:noFill/>
          <a:ln/>
        </p:spPr>
        <p:txBody>
          <a:bodyPr wrap="square" lIns="0" tIns="0" rIns="0" bIns="0" rtlCol="0" anchor="ctr"/>
          <a:lstStyle/>
          <a:p>
            <a:pPr indent="0" marL="0">
              <a:buNone/>
            </a:pPr>
            <a:r>
              <a:rPr lang="en-US" sz="2400" b="1" dirty="0">
                <a:solidFill>
                  <a:srgbClr val="0E5E5A"/>
                </a:solidFill>
                <a:latin typeface="Cambria" pitchFamily="34" charset="0"/>
                <a:ea typeface="Cambria" pitchFamily="34" charset="-122"/>
                <a:cs typeface="Cambria" pitchFamily="34" charset="-120"/>
              </a:rPr>
              <a:t>04</a:t>
            </a:r>
            <a:endParaRPr lang="en-US" sz="2400" dirty="0"/>
          </a:p>
        </p:txBody>
      </p:sp>
      <p:sp>
        <p:nvSpPr>
          <p:cNvPr id="18" name="Text 16"/>
          <p:cNvSpPr txBox="1"/>
          <p:nvPr/>
        </p:nvSpPr>
        <p:spPr>
          <a:xfrm>
            <a:off x="6281928" y="2468880"/>
            <a:ext cx="1463040" cy="548640"/>
          </a:xfrm>
          <a:prstGeom prst="rect">
            <a:avLst/>
          </a:prstGeom>
          <a:noFill/>
          <a:ln/>
        </p:spPr>
        <p:txBody>
          <a:bodyPr wrap="square" lIns="0" tIns="0" rIns="0" bIns="0" rtlCol="0" anchor="t"/>
          <a:lstStyle/>
          <a:p>
            <a:pPr indent="0" marL="0">
              <a:buNone/>
            </a:pPr>
            <a:r>
              <a:rPr lang="en-US" sz="1400" b="1" dirty="0">
                <a:solidFill>
                  <a:srgbClr val="1E2B2F"/>
                </a:solidFill>
                <a:latin typeface="Calibri" pitchFamily="34" charset="0"/>
                <a:ea typeface="Calibri" pitchFamily="34" charset="-122"/>
                <a:cs typeface="Calibri" pitchFamily="34" charset="-120"/>
              </a:rPr>
              <a:t>Turnout model</a:t>
            </a:r>
            <a:endParaRPr lang="en-US" sz="1400" dirty="0"/>
          </a:p>
        </p:txBody>
      </p:sp>
      <p:sp>
        <p:nvSpPr>
          <p:cNvPr id="19" name="Text 17"/>
          <p:cNvSpPr txBox="1"/>
          <p:nvPr/>
        </p:nvSpPr>
        <p:spPr>
          <a:xfrm>
            <a:off x="6281928" y="3063240"/>
            <a:ext cx="1463040" cy="1005840"/>
          </a:xfrm>
          <a:prstGeom prst="rect">
            <a:avLst/>
          </a:prstGeom>
          <a:noFill/>
          <a:ln/>
        </p:spPr>
        <p:txBody>
          <a:bodyPr wrap="square" lIns="0" tIns="0" rIns="0" bIns="0" rtlCol="0" anchor="t"/>
          <a:lstStyle/>
          <a:p>
            <a:pPr indent="0" marL="0">
              <a:buNone/>
            </a:pPr>
            <a:r>
              <a:rPr lang="en-US" sz="1200" dirty="0">
                <a:solidFill>
                  <a:srgbClr val="5C6B6E"/>
                </a:solidFill>
                <a:latin typeface="Calibri" pitchFamily="34" charset="0"/>
                <a:ea typeface="Calibri" pitchFamily="34" charset="-122"/>
                <a:cs typeface="Calibri" pitchFamily="34" charset="-120"/>
              </a:rPr>
              <a:t>rolling-origin validation, 2021 locked</a:t>
            </a:r>
            <a:endParaRPr lang="en-US" sz="1200" dirty="0"/>
          </a:p>
        </p:txBody>
      </p:sp>
      <p:sp>
        <p:nvSpPr>
          <p:cNvPr id="20" name="Shape 18"/>
          <p:cNvSpPr/>
          <p:nvPr/>
        </p:nvSpPr>
        <p:spPr>
          <a:xfrm>
            <a:off x="8010144" y="1828800"/>
            <a:ext cx="1700784" cy="2331720"/>
          </a:xfrm>
          <a:prstGeom prst="rect">
            <a:avLst/>
          </a:prstGeom>
          <a:solidFill>
            <a:srgbClr val="E1ECEA"/>
          </a:solidFill>
          <a:ln w="12700">
            <a:solidFill>
              <a:srgbClr val="E1ECEA"/>
            </a:solidFill>
            <a:prstDash val="solid"/>
          </a:ln>
        </p:spPr>
      </p:sp>
      <p:sp>
        <p:nvSpPr>
          <p:cNvPr id="21" name="Text 19"/>
          <p:cNvSpPr txBox="1"/>
          <p:nvPr/>
        </p:nvSpPr>
        <p:spPr>
          <a:xfrm>
            <a:off x="8147304" y="1938528"/>
            <a:ext cx="1463040" cy="502920"/>
          </a:xfrm>
          <a:prstGeom prst="rect">
            <a:avLst/>
          </a:prstGeom>
          <a:noFill/>
          <a:ln/>
        </p:spPr>
        <p:txBody>
          <a:bodyPr wrap="square" lIns="0" tIns="0" rIns="0" bIns="0" rtlCol="0" anchor="ctr"/>
          <a:lstStyle/>
          <a:p>
            <a:pPr indent="0" marL="0">
              <a:buNone/>
            </a:pPr>
            <a:r>
              <a:rPr lang="en-US" sz="2400" b="1" dirty="0">
                <a:solidFill>
                  <a:srgbClr val="0E5E5A"/>
                </a:solidFill>
                <a:latin typeface="Cambria" pitchFamily="34" charset="0"/>
                <a:ea typeface="Cambria" pitchFamily="34" charset="-122"/>
                <a:cs typeface="Cambria" pitchFamily="34" charset="-120"/>
              </a:rPr>
              <a:t>05</a:t>
            </a:r>
            <a:endParaRPr lang="en-US" sz="2400" dirty="0"/>
          </a:p>
        </p:txBody>
      </p:sp>
      <p:sp>
        <p:nvSpPr>
          <p:cNvPr id="22" name="Text 20"/>
          <p:cNvSpPr txBox="1"/>
          <p:nvPr/>
        </p:nvSpPr>
        <p:spPr>
          <a:xfrm>
            <a:off x="8147304" y="2468880"/>
            <a:ext cx="1463040" cy="548640"/>
          </a:xfrm>
          <a:prstGeom prst="rect">
            <a:avLst/>
          </a:prstGeom>
          <a:noFill/>
          <a:ln/>
        </p:spPr>
        <p:txBody>
          <a:bodyPr wrap="square" lIns="0" tIns="0" rIns="0" bIns="0" rtlCol="0" anchor="t"/>
          <a:lstStyle/>
          <a:p>
            <a:pPr indent="0" marL="0">
              <a:buNone/>
            </a:pPr>
            <a:r>
              <a:rPr lang="en-US" sz="1400" b="1" dirty="0">
                <a:solidFill>
                  <a:srgbClr val="1E2B2F"/>
                </a:solidFill>
                <a:latin typeface="Calibri" pitchFamily="34" charset="0"/>
                <a:ea typeface="Calibri" pitchFamily="34" charset="-122"/>
                <a:cs typeface="Calibri" pitchFamily="34" charset="-120"/>
              </a:rPr>
              <a:t>Party model</a:t>
            </a:r>
            <a:endParaRPr lang="en-US" sz="1400" dirty="0"/>
          </a:p>
        </p:txBody>
      </p:sp>
      <p:sp>
        <p:nvSpPr>
          <p:cNvPr id="23" name="Text 21"/>
          <p:cNvSpPr txBox="1"/>
          <p:nvPr/>
        </p:nvSpPr>
        <p:spPr>
          <a:xfrm>
            <a:off x="8147304" y="3063240"/>
            <a:ext cx="1463040" cy="1005840"/>
          </a:xfrm>
          <a:prstGeom prst="rect">
            <a:avLst/>
          </a:prstGeom>
          <a:noFill/>
          <a:ln/>
        </p:spPr>
        <p:txBody>
          <a:bodyPr wrap="square" lIns="0" tIns="0" rIns="0" bIns="0" rtlCol="0" anchor="t"/>
          <a:lstStyle/>
          <a:p>
            <a:pPr indent="0" marL="0">
              <a:buNone/>
            </a:pPr>
            <a:r>
              <a:rPr lang="en-US" sz="1200" dirty="0">
                <a:solidFill>
                  <a:srgbClr val="5C6B6E"/>
                </a:solidFill>
                <a:latin typeface="Calibri" pitchFamily="34" charset="0"/>
                <a:ea typeface="Calibri" pitchFamily="34" charset="-122"/>
                <a:cs typeface="Calibri" pitchFamily="34" charset="-120"/>
              </a:rPr>
              <a:t>same design per party</a:t>
            </a:r>
            <a:endParaRPr lang="en-US" sz="1200" dirty="0"/>
          </a:p>
        </p:txBody>
      </p:sp>
      <p:sp>
        <p:nvSpPr>
          <p:cNvPr id="24" name="Shape 22"/>
          <p:cNvSpPr/>
          <p:nvPr/>
        </p:nvSpPr>
        <p:spPr>
          <a:xfrm>
            <a:off x="9875520" y="1828800"/>
            <a:ext cx="1700784" cy="2331720"/>
          </a:xfrm>
          <a:prstGeom prst="rect">
            <a:avLst/>
          </a:prstGeom>
          <a:solidFill>
            <a:srgbClr val="FBEDE7"/>
          </a:solidFill>
          <a:ln w="12700">
            <a:solidFill>
              <a:srgbClr val="FBEDE7"/>
            </a:solidFill>
            <a:prstDash val="solid"/>
          </a:ln>
        </p:spPr>
      </p:sp>
      <p:sp>
        <p:nvSpPr>
          <p:cNvPr id="25" name="Text 23"/>
          <p:cNvSpPr txBox="1"/>
          <p:nvPr/>
        </p:nvSpPr>
        <p:spPr>
          <a:xfrm>
            <a:off x="10012680" y="1938528"/>
            <a:ext cx="1463040" cy="502920"/>
          </a:xfrm>
          <a:prstGeom prst="rect">
            <a:avLst/>
          </a:prstGeom>
          <a:noFill/>
          <a:ln/>
        </p:spPr>
        <p:txBody>
          <a:bodyPr wrap="square" lIns="0" tIns="0" rIns="0" bIns="0" rtlCol="0" anchor="ctr"/>
          <a:lstStyle/>
          <a:p>
            <a:pPr indent="0" marL="0">
              <a:buNone/>
            </a:pPr>
            <a:r>
              <a:rPr lang="en-US" sz="2400" b="1" dirty="0">
                <a:solidFill>
                  <a:srgbClr val="D2542B"/>
                </a:solidFill>
                <a:latin typeface="Cambria" pitchFamily="34" charset="0"/>
                <a:ea typeface="Cambria" pitchFamily="34" charset="-122"/>
                <a:cs typeface="Cambria" pitchFamily="34" charset="-120"/>
              </a:rPr>
              <a:t>06</a:t>
            </a:r>
            <a:endParaRPr lang="en-US" sz="2400" dirty="0"/>
          </a:p>
        </p:txBody>
      </p:sp>
      <p:sp>
        <p:nvSpPr>
          <p:cNvPr id="26" name="Text 24"/>
          <p:cNvSpPr txBox="1"/>
          <p:nvPr/>
        </p:nvSpPr>
        <p:spPr>
          <a:xfrm>
            <a:off x="10012680" y="2468880"/>
            <a:ext cx="1463040" cy="548640"/>
          </a:xfrm>
          <a:prstGeom prst="rect">
            <a:avLst/>
          </a:prstGeom>
          <a:noFill/>
          <a:ln/>
        </p:spPr>
        <p:txBody>
          <a:bodyPr wrap="square" lIns="0" tIns="0" rIns="0" bIns="0" rtlCol="0" anchor="t"/>
          <a:lstStyle/>
          <a:p>
            <a:pPr indent="0" marL="0">
              <a:buNone/>
            </a:pPr>
            <a:r>
              <a:rPr lang="en-US" sz="1400" b="1" dirty="0">
                <a:solidFill>
                  <a:srgbClr val="1E2B2F"/>
                </a:solidFill>
                <a:latin typeface="Calibri" pitchFamily="34" charset="0"/>
                <a:ea typeface="Calibri" pitchFamily="34" charset="-122"/>
                <a:cs typeface="Calibri" pitchFamily="34" charset="-120"/>
              </a:rPr>
              <a:t>2026 scenarios</a:t>
            </a:r>
            <a:endParaRPr lang="en-US" sz="1400" dirty="0"/>
          </a:p>
        </p:txBody>
      </p:sp>
      <p:sp>
        <p:nvSpPr>
          <p:cNvPr id="27" name="Text 25"/>
          <p:cNvSpPr txBox="1"/>
          <p:nvPr/>
        </p:nvSpPr>
        <p:spPr>
          <a:xfrm>
            <a:off x="10012680" y="3063240"/>
            <a:ext cx="1463040" cy="1005840"/>
          </a:xfrm>
          <a:prstGeom prst="rect">
            <a:avLst/>
          </a:prstGeom>
          <a:noFill/>
          <a:ln/>
        </p:spPr>
        <p:txBody>
          <a:bodyPr wrap="square" lIns="0" tIns="0" rIns="0" bIns="0" rtlCol="0" anchor="t"/>
          <a:lstStyle/>
          <a:p>
            <a:pPr indent="0" marL="0">
              <a:buNone/>
            </a:pPr>
            <a:r>
              <a:rPr lang="en-US" sz="1200" dirty="0">
                <a:solidFill>
                  <a:srgbClr val="5C6B6E"/>
                </a:solidFill>
                <a:latin typeface="Calibri" pitchFamily="34" charset="0"/>
                <a:ea typeface="Calibri" pitchFamily="34" charset="-122"/>
                <a:cs typeface="Calibri" pitchFamily="34" charset="-120"/>
              </a:rPr>
              <a:t>validated pattern + stated assumption</a:t>
            </a:r>
            <a:endParaRPr lang="en-US" sz="1200" dirty="0"/>
          </a:p>
        </p:txBody>
      </p:sp>
      <p:sp>
        <p:nvSpPr>
          <p:cNvPr id="28" name="Text 26"/>
          <p:cNvSpPr txBox="1"/>
          <p:nvPr/>
        </p:nvSpPr>
        <p:spPr>
          <a:xfrm>
            <a:off x="548640" y="4526280"/>
            <a:ext cx="6400800" cy="365760"/>
          </a:xfrm>
          <a:prstGeom prst="rect">
            <a:avLst/>
          </a:prstGeom>
          <a:noFill/>
          <a:ln/>
        </p:spPr>
        <p:txBody>
          <a:bodyPr wrap="square" lIns="0" tIns="0" rIns="0" bIns="0" rtlCol="0" anchor="ctr"/>
          <a:lstStyle/>
          <a:p>
            <a:pPr indent="0" marL="0">
              <a:buNone/>
            </a:pPr>
            <a:r>
              <a:rPr lang="en-US" sz="1800" b="1" dirty="0">
                <a:solidFill>
                  <a:srgbClr val="1E2B2F"/>
                </a:solidFill>
                <a:latin typeface="Cambria" pitchFamily="34" charset="0"/>
                <a:ea typeface="Cambria" pitchFamily="34" charset="-122"/>
                <a:cs typeface="Cambria" pitchFamily="34" charset="-120"/>
              </a:rPr>
              <a:t>Safeguards kept from the prototype and strengthened</a:t>
            </a:r>
            <a:endParaRPr lang="en-US" sz="1800" dirty="0"/>
          </a:p>
        </p:txBody>
      </p:sp>
      <p:sp>
        <p:nvSpPr>
          <p:cNvPr id="29" name="Text 27"/>
          <p:cNvSpPr txBox="1"/>
          <p:nvPr/>
        </p:nvSpPr>
        <p:spPr>
          <a:xfrm>
            <a:off x="548640" y="4983480"/>
            <a:ext cx="548640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B2F"/>
                </a:solidFill>
                <a:latin typeface="Calibri" pitchFamily="34" charset="0"/>
                <a:ea typeface="Calibri" pitchFamily="34" charset="-122"/>
                <a:cs typeface="Calibri" pitchFamily="34" charset="-120"/>
              </a:rPr>
              <a:t>Voting-district deduplication; PR-ballot consistency</a:t>
            </a:r>
            <a:endParaRPr lang="en-US" sz="1400" dirty="0"/>
          </a:p>
          <a:p>
            <a:pPr marL="342900" indent="-342900">
              <a:spcAft>
                <a:spcPts val="800"/>
              </a:spcAft>
              <a:buSzPct val="100000"/>
              <a:buChar char="•"/>
            </a:pPr>
            <a:r>
              <a:rPr lang="en-US" sz="1400" dirty="0">
                <a:solidFill>
                  <a:srgbClr val="1E2B2F"/>
                </a:solidFill>
                <a:latin typeface="Calibri" pitchFamily="34" charset="0"/>
                <a:ea typeface="Calibri" pitchFamily="34" charset="-122"/>
                <a:cs typeface="Calibri" pitchFamily="34" charset="-120"/>
              </a:rPr>
              <a:t>Effective number of parties before grouping small parties</a:t>
            </a:r>
            <a:endParaRPr lang="en-US" sz="1400" dirty="0"/>
          </a:p>
          <a:p>
            <a:pPr marL="342900" indent="-342900">
              <a:spcAft>
                <a:spcPts val="800"/>
              </a:spcAft>
              <a:buSzPct val="100000"/>
              <a:buChar char="•"/>
            </a:pPr>
            <a:r>
              <a:rPr lang="en-US" sz="1400" dirty="0">
                <a:solidFill>
                  <a:srgbClr val="1E2B2F"/>
                </a:solidFill>
                <a:latin typeface="Calibri" pitchFamily="34" charset="0"/>
                <a:ea typeface="Calibri" pitchFamily="34" charset="-122"/>
                <a:cs typeface="Calibri" pitchFamily="34" charset="-120"/>
              </a:rPr>
              <a:t>Quality-control gates stop any notebook that fails</a:t>
            </a:r>
            <a:endParaRPr lang="en-US" sz="1400" dirty="0"/>
          </a:p>
        </p:txBody>
      </p:sp>
      <p:sp>
        <p:nvSpPr>
          <p:cNvPr id="30" name="Text 28"/>
          <p:cNvSpPr txBox="1"/>
          <p:nvPr/>
        </p:nvSpPr>
        <p:spPr>
          <a:xfrm>
            <a:off x="6309360" y="4983480"/>
            <a:ext cx="530352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B2F"/>
                </a:solidFill>
                <a:latin typeface="Calibri" pitchFamily="34" charset="0"/>
                <a:ea typeface="Calibri" pitchFamily="34" charset="-122"/>
                <a:cs typeface="Calibri" pitchFamily="34" charset="-120"/>
              </a:rPr>
              <a:t>Time-ordered validation, never random splits</a:t>
            </a:r>
            <a:endParaRPr lang="en-US" sz="1400" dirty="0"/>
          </a:p>
          <a:p>
            <a:pPr marL="342900" indent="-342900">
              <a:spcAft>
                <a:spcPts val="800"/>
              </a:spcAft>
              <a:buSzPct val="100000"/>
              <a:buChar char="•"/>
            </a:pPr>
            <a:r>
              <a:rPr lang="en-US" sz="1400" dirty="0">
                <a:solidFill>
                  <a:srgbClr val="1E2B2F"/>
                </a:solidFill>
                <a:latin typeface="Calibri" pitchFamily="34" charset="0"/>
                <a:ea typeface="Calibri" pitchFamily="34" charset="-122"/>
                <a:cs typeface="Calibri" pitchFamily="34" charset="-120"/>
              </a:rPr>
              <a:t>Shared code in src/ used by notebooks and dashboard</a:t>
            </a:r>
            <a:endParaRPr lang="en-US" sz="1400" dirty="0"/>
          </a:p>
          <a:p>
            <a:pPr marL="342900" indent="-342900">
              <a:spcAft>
                <a:spcPts val="800"/>
              </a:spcAft>
              <a:buSzPct val="100000"/>
              <a:buChar char="•"/>
            </a:pPr>
            <a:r>
              <a:rPr lang="en-US" sz="1400" dirty="0">
                <a:solidFill>
                  <a:srgbClr val="1E2B2F"/>
                </a:solidFill>
                <a:latin typeface="Calibri" pitchFamily="34" charset="0"/>
                <a:ea typeface="Calibri" pitchFamily="34" charset="-122"/>
                <a:cs typeface="Calibri" pitchFamily="34" charset="-120"/>
              </a:rPr>
              <a:t>23 automated tests; every headline number generated to one file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Is the data right? Checked against the IEC's own figures</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Our reconstruction vs the IEC's official 2016 and 2021 turnout reports</a:t>
            </a:r>
            <a:endParaRPr lang="en-US" sz="1500" dirty="0"/>
          </a:p>
        </p:txBody>
      </p:sp>
      <p:sp>
        <p:nvSpPr>
          <p:cNvPr id="4" name="Shape 2"/>
          <p:cNvSpPr/>
          <p:nvPr/>
        </p:nvSpPr>
        <p:spPr>
          <a:xfrm>
            <a:off x="9631375" y="6382512"/>
            <a:ext cx="2011680" cy="310896"/>
          </a:xfrm>
          <a:prstGeom prst="roundRect">
            <a:avLst>
              <a:gd name="adj" fmla="val 50000"/>
            </a:avLst>
          </a:prstGeom>
          <a:solidFill>
            <a:srgbClr val="EEF3F1"/>
          </a:solidFill>
          <a:ln w="12700">
            <a:solidFill>
              <a:srgbClr val="0E5E5A"/>
            </a:solidFill>
            <a:prstDash val="solid"/>
          </a:ln>
        </p:spPr>
      </p:sp>
      <p:sp>
        <p:nvSpPr>
          <p:cNvPr id="5" name="Text 3"/>
          <p:cNvSpPr txBox="1"/>
          <p:nvPr/>
        </p:nvSpPr>
        <p:spPr>
          <a:xfrm>
            <a:off x="9631375" y="6382512"/>
            <a:ext cx="2011680" cy="310896"/>
          </a:xfrm>
          <a:prstGeom prst="rect">
            <a:avLst/>
          </a:prstGeom>
          <a:noFill/>
          <a:ln/>
        </p:spPr>
        <p:txBody>
          <a:bodyPr wrap="square" lIns="0" tIns="0" rIns="0" bIns="0" rtlCol="0" anchor="ctr"/>
          <a:lstStyle/>
          <a:p>
            <a:pPr algn="ctr" indent="0" marL="0">
              <a:buNone/>
            </a:pPr>
            <a:r>
              <a:rPr lang="en-US" sz="1100" b="1" dirty="0">
                <a:solidFill>
                  <a:srgbClr val="0E5E5A"/>
                </a:solidFill>
                <a:latin typeface="Calibri" pitchFamily="34" charset="0"/>
                <a:ea typeface="Calibri" pitchFamily="34" charset="-122"/>
                <a:cs typeface="Calibri" pitchFamily="34" charset="-120"/>
              </a:rPr>
              <a:t>Validated evidence</a:t>
            </a:r>
            <a:endParaRPr lang="en-US" sz="1100" dirty="0"/>
          </a:p>
        </p:txBody>
      </p:sp>
      <p:graphicFrame>
        <p:nvGraphicFramePr>
          <p:cNvPr id="6" name="Chart 0" descr=""/>
          <p:cNvGraphicFramePr/>
          <p:nvPr/>
        </p:nvGraphicFramePr>
        <p:xfrm>
          <a:off x="548640" y="1691640"/>
          <a:ext cx="6035040" cy="43891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040880" y="1828800"/>
            <a:ext cx="4572000" cy="731520"/>
          </a:xfrm>
          <a:prstGeom prst="rect">
            <a:avLst/>
          </a:prstGeom>
          <a:noFill/>
          <a:ln/>
        </p:spPr>
        <p:txBody>
          <a:bodyPr wrap="square" lIns="0" tIns="0" rIns="0" bIns="0" rtlCol="0" anchor="ctr"/>
          <a:lstStyle/>
          <a:p>
            <a:pPr indent="0" marL="0">
              <a:buNone/>
            </a:pPr>
            <a:r>
              <a:rPr lang="en-US" sz="4000" b="1" dirty="0">
                <a:solidFill>
                  <a:srgbClr val="0E5E5A"/>
                </a:solidFill>
                <a:latin typeface="Cambria" pitchFamily="34" charset="0"/>
                <a:ea typeface="Cambria" pitchFamily="34" charset="-122"/>
                <a:cs typeface="Cambria" pitchFamily="34" charset="-120"/>
              </a:rPr>
              <a:t>33 of 33</a:t>
            </a:r>
            <a:endParaRPr lang="en-US" sz="4000" dirty="0"/>
          </a:p>
        </p:txBody>
      </p:sp>
      <p:sp>
        <p:nvSpPr>
          <p:cNvPr id="8" name="Text 5"/>
          <p:cNvSpPr txBox="1"/>
          <p:nvPr/>
        </p:nvSpPr>
        <p:spPr>
          <a:xfrm>
            <a:off x="7040880" y="2578608"/>
            <a:ext cx="457200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municipalities with registered voters exactly equal to the IEC, in both 2016 and 2021</a:t>
            </a:r>
            <a:endParaRPr lang="en-US" sz="1300" dirty="0"/>
          </a:p>
        </p:txBody>
      </p:sp>
      <p:sp>
        <p:nvSpPr>
          <p:cNvPr id="9" name="Text 6"/>
          <p:cNvSpPr txBox="1"/>
          <p:nvPr/>
        </p:nvSpPr>
        <p:spPr>
          <a:xfrm>
            <a:off x="7040880" y="3383280"/>
            <a:ext cx="4572000" cy="731520"/>
          </a:xfrm>
          <a:prstGeom prst="rect">
            <a:avLst/>
          </a:prstGeom>
          <a:noFill/>
          <a:ln/>
        </p:spPr>
        <p:txBody>
          <a:bodyPr wrap="square" lIns="0" tIns="0" rIns="0" bIns="0" rtlCol="0" anchor="ctr"/>
          <a:lstStyle/>
          <a:p>
            <a:pPr indent="0" marL="0">
              <a:buNone/>
            </a:pPr>
            <a:r>
              <a:rPr lang="en-US" sz="4000" b="1" dirty="0">
                <a:solidFill>
                  <a:srgbClr val="0E5E5A"/>
                </a:solidFill>
                <a:latin typeface="Cambria" pitchFamily="34" charset="0"/>
                <a:ea typeface="Cambria" pitchFamily="34" charset="-122"/>
                <a:cs typeface="Cambria" pitchFamily="34" charset="-120"/>
              </a:rPr>
              <a:t>0.32 / 0.31 pts</a:t>
            </a:r>
            <a:endParaRPr lang="en-US" sz="4000" dirty="0"/>
          </a:p>
        </p:txBody>
      </p:sp>
      <p:sp>
        <p:nvSpPr>
          <p:cNvPr id="10" name="Text 7"/>
          <p:cNvSpPr txBox="1"/>
          <p:nvPr/>
        </p:nvSpPr>
        <p:spPr>
          <a:xfrm>
            <a:off x="7040880" y="4133088"/>
            <a:ext cx="457200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mean turnout gap (2016 / 2021): the IEC also counts special votes and ward ballots</a:t>
            </a:r>
            <a:endParaRPr lang="en-US" sz="1300" dirty="0"/>
          </a:p>
        </p:txBody>
      </p:sp>
      <p:sp>
        <p:nvSpPr>
          <p:cNvPr id="11" name="Text 8"/>
          <p:cNvSpPr txBox="1"/>
          <p:nvPr/>
        </p:nvSpPr>
        <p:spPr>
          <a:xfrm>
            <a:off x="7040880" y="4937760"/>
            <a:ext cx="4572000" cy="1280160"/>
          </a:xfrm>
          <a:prstGeom prst="rect">
            <a:avLst/>
          </a:prstGeom>
          <a:noFill/>
          <a:ln/>
        </p:spPr>
        <p:txBody>
          <a:bodyPr wrap="square" lIns="0" tIns="0" rIns="0" bIns="0" rtlCol="0" anchor="t"/>
          <a:lstStyle/>
          <a:p>
            <a:pPr indent="0" marL="0">
              <a:spcAft>
                <a:spcPts val="800"/>
              </a:spcAft>
              <a:buNone/>
            </a:pPr>
            <a:r>
              <a:rPr lang="en-US" sz="1400" b="1" dirty="0">
                <a:solidFill>
                  <a:srgbClr val="1E2B2F"/>
                </a:solidFill>
                <a:latin typeface="Calibri" pitchFamily="34" charset="0"/>
                <a:ea typeface="Calibri" pitchFamily="34" charset="-122"/>
                <a:cs typeface="Calibri" pitchFamily="34" charset="-120"/>
              </a:rPr>
              <a:t>Province totals 2000 to 2011 reconcile too: </a:t>
            </a:r>
            <a:pPr indent="0" marL="0">
              <a:spcAft>
                <a:spcPts val="800"/>
              </a:spcAft>
              <a:buNone/>
            </a:pPr>
            <a:r>
              <a:rPr lang="en-US" sz="1400" dirty="0">
                <a:solidFill>
                  <a:srgbClr val="1E2B2F"/>
                </a:solidFill>
                <a:latin typeface="Calibri" pitchFamily="34" charset="0"/>
                <a:ea typeface="Calibri" pitchFamily="34" charset="-122"/>
                <a:cs typeface="Calibri" pitchFamily="34" charset="-120"/>
              </a:rPr>
              <a:t>the 2000 gap is exactly Umzimkulu's 55,674 voters (moved to KwaZulu-Natal) and 2006's 2,470 are District Management Area voters.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Participation: a stable plateau, then a province-wide fall</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Provincial turnout, Local Government Elections 2000 to 2021</a:t>
            </a:r>
            <a:endParaRPr lang="en-US" sz="1500" dirty="0"/>
          </a:p>
        </p:txBody>
      </p:sp>
      <p:sp>
        <p:nvSpPr>
          <p:cNvPr id="4" name="Shape 2"/>
          <p:cNvSpPr/>
          <p:nvPr/>
        </p:nvSpPr>
        <p:spPr>
          <a:xfrm>
            <a:off x="9631375" y="6382512"/>
            <a:ext cx="2011680" cy="310896"/>
          </a:xfrm>
          <a:prstGeom prst="roundRect">
            <a:avLst>
              <a:gd name="adj" fmla="val 50000"/>
            </a:avLst>
          </a:prstGeom>
          <a:solidFill>
            <a:srgbClr val="EEF3F1"/>
          </a:solidFill>
          <a:ln w="12700">
            <a:solidFill>
              <a:srgbClr val="0E5E5A"/>
            </a:solidFill>
            <a:prstDash val="solid"/>
          </a:ln>
        </p:spPr>
      </p:sp>
      <p:sp>
        <p:nvSpPr>
          <p:cNvPr id="5" name="Text 3"/>
          <p:cNvSpPr txBox="1"/>
          <p:nvPr/>
        </p:nvSpPr>
        <p:spPr>
          <a:xfrm>
            <a:off x="9631375" y="6382512"/>
            <a:ext cx="2011680" cy="310896"/>
          </a:xfrm>
          <a:prstGeom prst="rect">
            <a:avLst/>
          </a:prstGeom>
          <a:noFill/>
          <a:ln/>
        </p:spPr>
        <p:txBody>
          <a:bodyPr wrap="square" lIns="0" tIns="0" rIns="0" bIns="0" rtlCol="0" anchor="ctr"/>
          <a:lstStyle/>
          <a:p>
            <a:pPr algn="ctr" indent="0" marL="0">
              <a:buNone/>
            </a:pPr>
            <a:r>
              <a:rPr lang="en-US" sz="1100" b="1" dirty="0">
                <a:solidFill>
                  <a:srgbClr val="0E5E5A"/>
                </a:solidFill>
                <a:latin typeface="Calibri" pitchFamily="34" charset="0"/>
                <a:ea typeface="Calibri" pitchFamily="34" charset="-122"/>
                <a:cs typeface="Calibri" pitchFamily="34" charset="-120"/>
              </a:rPr>
              <a:t>Validated evidence</a:t>
            </a:r>
            <a:endParaRPr lang="en-US" sz="1100" dirty="0"/>
          </a:p>
        </p:txBody>
      </p:sp>
      <p:graphicFrame>
        <p:nvGraphicFramePr>
          <p:cNvPr id="6" name="Chart 0" descr=""/>
          <p:cNvGraphicFramePr/>
          <p:nvPr/>
        </p:nvGraphicFramePr>
        <p:xfrm>
          <a:off x="548640" y="1691640"/>
          <a:ext cx="6949440" cy="43891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955280" y="1828800"/>
            <a:ext cx="3657600" cy="731520"/>
          </a:xfrm>
          <a:prstGeom prst="rect">
            <a:avLst/>
          </a:prstGeom>
          <a:noFill/>
          <a:ln/>
        </p:spPr>
        <p:txBody>
          <a:bodyPr wrap="square" lIns="0" tIns="0" rIns="0" bIns="0" rtlCol="0" anchor="ctr"/>
          <a:lstStyle/>
          <a:p>
            <a:pPr indent="0" marL="0">
              <a:buNone/>
            </a:pPr>
            <a:r>
              <a:rPr lang="en-US" sz="4000" b="1" dirty="0">
                <a:solidFill>
                  <a:srgbClr val="0E5E5A"/>
                </a:solidFill>
                <a:latin typeface="Cambria" pitchFamily="34" charset="0"/>
                <a:ea typeface="Cambria" pitchFamily="34" charset="-122"/>
                <a:cs typeface="Cambria" pitchFamily="34" charset="-120"/>
              </a:rPr>
              <a:t>33 of 33</a:t>
            </a:r>
            <a:endParaRPr lang="en-US" sz="4000" dirty="0"/>
          </a:p>
        </p:txBody>
      </p:sp>
      <p:sp>
        <p:nvSpPr>
          <p:cNvPr id="8" name="Text 5"/>
          <p:cNvSpPr txBox="1"/>
          <p:nvPr/>
        </p:nvSpPr>
        <p:spPr>
          <a:xfrm>
            <a:off x="7955280" y="2578608"/>
            <a:ext cx="365760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municipalities had lower turnout in 2021 than in 2016</a:t>
            </a:r>
            <a:endParaRPr lang="en-US" sz="1300" dirty="0"/>
          </a:p>
        </p:txBody>
      </p:sp>
      <p:sp>
        <p:nvSpPr>
          <p:cNvPr id="9" name="Text 6"/>
          <p:cNvSpPr txBox="1"/>
          <p:nvPr/>
        </p:nvSpPr>
        <p:spPr>
          <a:xfrm>
            <a:off x="7955280" y="3337560"/>
            <a:ext cx="3657600" cy="731520"/>
          </a:xfrm>
          <a:prstGeom prst="rect">
            <a:avLst/>
          </a:prstGeom>
          <a:noFill/>
          <a:ln/>
        </p:spPr>
        <p:txBody>
          <a:bodyPr wrap="square" lIns="0" tIns="0" rIns="0" bIns="0" rtlCol="0" anchor="ctr"/>
          <a:lstStyle/>
          <a:p>
            <a:pPr indent="0" marL="0">
              <a:buNone/>
            </a:pPr>
            <a:r>
              <a:rPr lang="en-US" sz="4000" b="1" dirty="0">
                <a:solidFill>
                  <a:srgbClr val="0E5E5A"/>
                </a:solidFill>
                <a:latin typeface="Cambria" pitchFamily="34" charset="0"/>
                <a:ea typeface="Cambria" pitchFamily="34" charset="-122"/>
                <a:cs typeface="Cambria" pitchFamily="34" charset="-120"/>
              </a:rPr>
              <a:t>-4.3 to -17.7</a:t>
            </a:r>
            <a:endParaRPr lang="en-US" sz="4000" dirty="0"/>
          </a:p>
        </p:txBody>
      </p:sp>
      <p:sp>
        <p:nvSpPr>
          <p:cNvPr id="10" name="Text 7"/>
          <p:cNvSpPr txBox="1"/>
          <p:nvPr/>
        </p:nvSpPr>
        <p:spPr>
          <a:xfrm>
            <a:off x="7955280" y="4087368"/>
            <a:ext cx="365760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points: the range of falls (mean -8.2)</a:t>
            </a:r>
            <a:endParaRPr lang="en-US" sz="1300" dirty="0"/>
          </a:p>
        </p:txBody>
      </p:sp>
      <p:sp>
        <p:nvSpPr>
          <p:cNvPr id="11" name="Text 8"/>
          <p:cNvSpPr txBox="1"/>
          <p:nvPr/>
        </p:nvSpPr>
        <p:spPr>
          <a:xfrm>
            <a:off x="7955280" y="4846320"/>
            <a:ext cx="3657600" cy="1371600"/>
          </a:xfrm>
          <a:prstGeom prst="rect">
            <a:avLst/>
          </a:prstGeom>
          <a:noFill/>
          <a:ln/>
        </p:spPr>
        <p:txBody>
          <a:bodyPr wrap="square" lIns="0" tIns="0" rIns="0" bIns="0" rtlCol="0" anchor="t"/>
          <a:lstStyle/>
          <a:p>
            <a:pPr indent="0" marL="0">
              <a:spcAft>
                <a:spcPts val="800"/>
              </a:spcAft>
              <a:buNone/>
            </a:pPr>
            <a:r>
              <a:rPr lang="en-US" sz="1400" b="1" dirty="0">
                <a:solidFill>
                  <a:srgbClr val="1E2B2F"/>
                </a:solidFill>
                <a:latin typeface="Calibri" pitchFamily="34" charset="0"/>
                <a:ea typeface="Calibri" pitchFamily="34" charset="-122"/>
                <a:cs typeface="Calibri" pitchFamily="34" charset="-120"/>
              </a:rPr>
              <a:t>A fall that hits every municipality is a province-wide shock. </a:t>
            </a:r>
            <a:pPr indent="0" marL="0">
              <a:spcAft>
                <a:spcPts val="800"/>
              </a:spcAft>
              <a:buNone/>
            </a:pPr>
            <a:r>
              <a:rPr lang="en-US" sz="1400" dirty="0">
                <a:solidFill>
                  <a:srgbClr val="1E2B2F"/>
                </a:solidFill>
                <a:latin typeface="Calibri" pitchFamily="34" charset="0"/>
                <a:ea typeface="Calibri" pitchFamily="34" charset="-122"/>
                <a:cs typeface="Calibri" pitchFamily="34" charset="-120"/>
              </a:rPr>
              <a:t>The 2021 election was held during COVID-19. Differences between municipalities must be studied within each election.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Where turnout is high and low has been remarkably consistent</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Turnout by municipality, same colour scale for all five elections</a:t>
            </a:r>
            <a:endParaRPr lang="en-US" sz="1500" dirty="0"/>
          </a:p>
        </p:txBody>
      </p:sp>
      <p:sp>
        <p:nvSpPr>
          <p:cNvPr id="4" name="Shape 2"/>
          <p:cNvSpPr/>
          <p:nvPr/>
        </p:nvSpPr>
        <p:spPr>
          <a:xfrm>
            <a:off x="9631375" y="6382512"/>
            <a:ext cx="2011680" cy="310896"/>
          </a:xfrm>
          <a:prstGeom prst="roundRect">
            <a:avLst>
              <a:gd name="adj" fmla="val 50000"/>
            </a:avLst>
          </a:prstGeom>
          <a:solidFill>
            <a:srgbClr val="EEF3F1"/>
          </a:solidFill>
          <a:ln w="12700">
            <a:solidFill>
              <a:srgbClr val="0E5E5A"/>
            </a:solidFill>
            <a:prstDash val="solid"/>
          </a:ln>
        </p:spPr>
      </p:sp>
      <p:sp>
        <p:nvSpPr>
          <p:cNvPr id="5" name="Text 3"/>
          <p:cNvSpPr txBox="1"/>
          <p:nvPr/>
        </p:nvSpPr>
        <p:spPr>
          <a:xfrm>
            <a:off x="9631375" y="6382512"/>
            <a:ext cx="2011680" cy="310896"/>
          </a:xfrm>
          <a:prstGeom prst="rect">
            <a:avLst/>
          </a:prstGeom>
          <a:noFill/>
          <a:ln/>
        </p:spPr>
        <p:txBody>
          <a:bodyPr wrap="square" lIns="0" tIns="0" rIns="0" bIns="0" rtlCol="0" anchor="ctr"/>
          <a:lstStyle/>
          <a:p>
            <a:pPr algn="ctr" indent="0" marL="0">
              <a:buNone/>
            </a:pPr>
            <a:r>
              <a:rPr lang="en-US" sz="1100" b="1" dirty="0">
                <a:solidFill>
                  <a:srgbClr val="0E5E5A"/>
                </a:solidFill>
                <a:latin typeface="Calibri" pitchFamily="34" charset="0"/>
                <a:ea typeface="Calibri" pitchFamily="34" charset="-122"/>
                <a:cs typeface="Calibri" pitchFamily="34" charset="-120"/>
              </a:rPr>
              <a:t>Validated evidence</a:t>
            </a:r>
            <a:endParaRPr lang="en-US" sz="1100" dirty="0"/>
          </a:p>
        </p:txBody>
      </p:sp>
      <p:pic>
        <p:nvPicPr>
          <p:cNvPr id="6" name="Image 0" descr="/home/claude/repo/presentation/build/maps5.png">    </p:cNvPr>
          <p:cNvPicPr>
            <a:picLocks noChangeAspect="1"/>
          </p:cNvPicPr>
          <p:nvPr/>
        </p:nvPicPr>
        <p:blipFill>
          <a:blip r:embed="rId1"/>
          <a:stretch>
            <a:fillRect/>
          </a:stretch>
        </p:blipFill>
        <p:spPr>
          <a:xfrm>
            <a:off x="548640" y="1828800"/>
            <a:ext cx="11094415" cy="1917115"/>
          </a:xfrm>
          <a:prstGeom prst="rect">
            <a:avLst/>
          </a:prstGeom>
        </p:spPr>
      </p:pic>
      <p:sp>
        <p:nvSpPr>
          <p:cNvPr id="7" name="Text 4"/>
          <p:cNvSpPr txBox="1"/>
          <p:nvPr/>
        </p:nvSpPr>
        <p:spPr>
          <a:xfrm>
            <a:off x="548640" y="4343400"/>
            <a:ext cx="539496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B2F"/>
                </a:solidFill>
                <a:latin typeface="Calibri" pitchFamily="34" charset="0"/>
                <a:ea typeface="Calibri" pitchFamily="34" charset="-122"/>
                <a:cs typeface="Calibri" pitchFamily="34" charset="-120"/>
              </a:rPr>
              <a:t>Western Karoo, coastal and metro municipalities sit above the provincial level</a:t>
            </a:r>
            <a:endParaRPr lang="en-US" sz="1400" dirty="0"/>
          </a:p>
          <a:p>
            <a:pPr marL="342900" indent="-342900">
              <a:spcAft>
                <a:spcPts val="800"/>
              </a:spcAft>
              <a:buSzPct val="100000"/>
              <a:buChar char="•"/>
            </a:pPr>
            <a:r>
              <a:rPr lang="en-US" sz="1400" dirty="0">
                <a:solidFill>
                  <a:srgbClr val="1E2B2F"/>
                </a:solidFill>
                <a:latin typeface="Calibri" pitchFamily="34" charset="0"/>
                <a:ea typeface="Calibri" pitchFamily="34" charset="-122"/>
                <a:cs typeface="Calibri" pitchFamily="34" charset="-120"/>
              </a:rPr>
              <a:t>The east (O.R. Tambo, Alfred Nzo) sits below, and lowest in 2021 is King Sabata Dalindyebo (39.4%)</a:t>
            </a:r>
            <a:endParaRPr lang="en-US" sz="1400" dirty="0"/>
          </a:p>
        </p:txBody>
      </p:sp>
      <p:sp>
        <p:nvSpPr>
          <p:cNvPr id="8" name="Text 5"/>
          <p:cNvSpPr txBox="1"/>
          <p:nvPr/>
        </p:nvSpPr>
        <p:spPr>
          <a:xfrm>
            <a:off x="6309360" y="4343400"/>
            <a:ext cx="530352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B2F"/>
                </a:solidFill>
                <a:latin typeface="Calibri" pitchFamily="34" charset="0"/>
                <a:ea typeface="Calibri" pitchFamily="34" charset="-122"/>
                <a:cs typeface="Calibri" pitchFamily="34" charset="-120"/>
              </a:rPr>
              <a:t>Map built by dissolving MDB 2011 boundaries with the same crosswalk as the data</a:t>
            </a:r>
            <a:endParaRPr lang="en-US" sz="1400" dirty="0"/>
          </a:p>
          <a:p>
            <a:pPr marL="342900" indent="-342900">
              <a:spcAft>
                <a:spcPts val="800"/>
              </a:spcAft>
              <a:buSzPct val="100000"/>
              <a:buChar char="•"/>
            </a:pPr>
            <a:r>
              <a:rPr lang="en-US" sz="1400" dirty="0">
                <a:solidFill>
                  <a:srgbClr val="1E2B2F"/>
                </a:solidFill>
                <a:latin typeface="Calibri" pitchFamily="34" charset="0"/>
                <a:ea typeface="Calibri" pitchFamily="34" charset="-122"/>
                <a:cs typeface="Calibri" pitchFamily="34" charset="-120"/>
              </a:rPr>
              <a:t>All 33 map units validated against the analytical codes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Competition: many more parties, a still-dominant ANC</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Provincial PR vote share, and parties per municipality</a:t>
            </a:r>
            <a:endParaRPr lang="en-US" sz="1500" dirty="0"/>
          </a:p>
        </p:txBody>
      </p:sp>
      <p:sp>
        <p:nvSpPr>
          <p:cNvPr id="4" name="Shape 2"/>
          <p:cNvSpPr/>
          <p:nvPr/>
        </p:nvSpPr>
        <p:spPr>
          <a:xfrm>
            <a:off x="9631375" y="6382512"/>
            <a:ext cx="2011680" cy="310896"/>
          </a:xfrm>
          <a:prstGeom prst="roundRect">
            <a:avLst>
              <a:gd name="adj" fmla="val 50000"/>
            </a:avLst>
          </a:prstGeom>
          <a:solidFill>
            <a:srgbClr val="EEF3F1"/>
          </a:solidFill>
          <a:ln w="12700">
            <a:solidFill>
              <a:srgbClr val="0E5E5A"/>
            </a:solidFill>
            <a:prstDash val="solid"/>
          </a:ln>
        </p:spPr>
      </p:sp>
      <p:sp>
        <p:nvSpPr>
          <p:cNvPr id="5" name="Text 3"/>
          <p:cNvSpPr txBox="1"/>
          <p:nvPr/>
        </p:nvSpPr>
        <p:spPr>
          <a:xfrm>
            <a:off x="9631375" y="6382512"/>
            <a:ext cx="2011680" cy="310896"/>
          </a:xfrm>
          <a:prstGeom prst="rect">
            <a:avLst/>
          </a:prstGeom>
          <a:noFill/>
          <a:ln/>
        </p:spPr>
        <p:txBody>
          <a:bodyPr wrap="square" lIns="0" tIns="0" rIns="0" bIns="0" rtlCol="0" anchor="ctr"/>
          <a:lstStyle/>
          <a:p>
            <a:pPr algn="ctr" indent="0" marL="0">
              <a:buNone/>
            </a:pPr>
            <a:r>
              <a:rPr lang="en-US" sz="1100" b="1" dirty="0">
                <a:solidFill>
                  <a:srgbClr val="0E5E5A"/>
                </a:solidFill>
                <a:latin typeface="Calibri" pitchFamily="34" charset="0"/>
                <a:ea typeface="Calibri" pitchFamily="34" charset="-122"/>
                <a:cs typeface="Calibri" pitchFamily="34" charset="-120"/>
              </a:rPr>
              <a:t>Validated evidence</a:t>
            </a:r>
            <a:endParaRPr lang="en-US" sz="1100" dirty="0"/>
          </a:p>
        </p:txBody>
      </p:sp>
      <p:graphicFrame>
        <p:nvGraphicFramePr>
          <p:cNvPr id="6" name="Chart 0" descr=""/>
          <p:cNvGraphicFramePr/>
          <p:nvPr/>
        </p:nvGraphicFramePr>
        <p:xfrm>
          <a:off x="548640" y="1691640"/>
          <a:ext cx="6035040" cy="438912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858000" y="1691640"/>
          <a:ext cx="4754880" cy="301752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6858000" y="4892040"/>
            <a:ext cx="4754880" cy="1371600"/>
          </a:xfrm>
          <a:prstGeom prst="rect">
            <a:avLst/>
          </a:prstGeom>
          <a:noFill/>
          <a:ln/>
        </p:spPr>
        <p:txBody>
          <a:bodyPr wrap="square" lIns="0" tIns="0" rIns="0" bIns="0" rtlCol="0" anchor="t"/>
          <a:lstStyle/>
          <a:p>
            <a:pPr indent="0" marL="0">
              <a:spcAft>
                <a:spcPts val="800"/>
              </a:spcAft>
              <a:buNone/>
            </a:pPr>
            <a:r>
              <a:rPr lang="en-US" sz="1400" b="1" dirty="0">
                <a:solidFill>
                  <a:srgbClr val="1E2B2F"/>
                </a:solidFill>
                <a:latin typeface="Calibri" pitchFamily="34" charset="0"/>
                <a:ea typeface="Calibri" pitchFamily="34" charset="-122"/>
                <a:cs typeface="Calibri" pitchFamily="34" charset="-120"/>
              </a:rPr>
              <a:t>Parties on the ballot tripled, but the effective number rose only from 1.6 to 2.0: </a:t>
            </a:r>
            <a:pPr indent="0" marL="0">
              <a:spcAft>
                <a:spcPts val="800"/>
              </a:spcAft>
              <a:buNone/>
            </a:pPr>
            <a:r>
              <a:rPr lang="en-US" sz="1400" dirty="0">
                <a:solidFill>
                  <a:srgbClr val="1E2B2F"/>
                </a:solidFill>
                <a:latin typeface="Calibri" pitchFamily="34" charset="0"/>
                <a:ea typeface="Calibri" pitchFamily="34" charset="-122"/>
                <a:cs typeface="Calibri" pitchFamily="34" charset="-120"/>
              </a:rPr>
              <a:t>most new parties win small shares. Nelson Mandela Bay was decided by 0.44 points in 2021.</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Two questions: change over time vs differences between places</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Turnout against effective number of parties and matric attainment, 2011 to 2021</a:t>
            </a:r>
            <a:endParaRPr lang="en-US" sz="1500" dirty="0"/>
          </a:p>
        </p:txBody>
      </p:sp>
      <p:sp>
        <p:nvSpPr>
          <p:cNvPr id="4" name="Shape 2"/>
          <p:cNvSpPr/>
          <p:nvPr/>
        </p:nvSpPr>
        <p:spPr>
          <a:xfrm>
            <a:off x="9631375" y="6382512"/>
            <a:ext cx="2011680" cy="310896"/>
          </a:xfrm>
          <a:prstGeom prst="roundRect">
            <a:avLst>
              <a:gd name="adj" fmla="val 50000"/>
            </a:avLst>
          </a:prstGeom>
          <a:solidFill>
            <a:srgbClr val="EEF3F1"/>
          </a:solidFill>
          <a:ln w="12700">
            <a:solidFill>
              <a:srgbClr val="0E5E5A"/>
            </a:solidFill>
            <a:prstDash val="solid"/>
          </a:ln>
        </p:spPr>
      </p:sp>
      <p:sp>
        <p:nvSpPr>
          <p:cNvPr id="5" name="Text 3"/>
          <p:cNvSpPr txBox="1"/>
          <p:nvPr/>
        </p:nvSpPr>
        <p:spPr>
          <a:xfrm>
            <a:off x="9631375" y="6382512"/>
            <a:ext cx="2011680" cy="310896"/>
          </a:xfrm>
          <a:prstGeom prst="rect">
            <a:avLst/>
          </a:prstGeom>
          <a:noFill/>
          <a:ln/>
        </p:spPr>
        <p:txBody>
          <a:bodyPr wrap="square" lIns="0" tIns="0" rIns="0" bIns="0" rtlCol="0" anchor="ctr"/>
          <a:lstStyle/>
          <a:p>
            <a:pPr algn="ctr" indent="0" marL="0">
              <a:buNone/>
            </a:pPr>
            <a:r>
              <a:rPr lang="en-US" sz="1100" b="1" dirty="0">
                <a:solidFill>
                  <a:srgbClr val="0E5E5A"/>
                </a:solidFill>
                <a:latin typeface="Calibri" pitchFamily="34" charset="0"/>
                <a:ea typeface="Calibri" pitchFamily="34" charset="-122"/>
                <a:cs typeface="Calibri" pitchFamily="34" charset="-120"/>
              </a:rPr>
              <a:t>Validated evidence</a:t>
            </a:r>
            <a:endParaRPr lang="en-US" sz="1100" dirty="0"/>
          </a:p>
        </p:txBody>
      </p:sp>
      <p:pic>
        <p:nvPicPr>
          <p:cNvPr id="6" name="Image 0" descr="/home/claude/repo/reports/figures/phase3/simpsons_paradox.png">    </p:cNvPr>
          <p:cNvPicPr>
            <a:picLocks noChangeAspect="1"/>
          </p:cNvPicPr>
          <p:nvPr/>
        </p:nvPicPr>
        <p:blipFill>
          <a:blip r:embed="rId1"/>
          <a:stretch>
            <a:fillRect/>
          </a:stretch>
        </p:blipFill>
        <p:spPr>
          <a:xfrm>
            <a:off x="548640" y="1691640"/>
            <a:ext cx="7589520" cy="2910797"/>
          </a:xfrm>
          <a:prstGeom prst="rect">
            <a:avLst/>
          </a:prstGeom>
        </p:spPr>
      </p:pic>
      <p:sp>
        <p:nvSpPr>
          <p:cNvPr id="7" name="Shape 4"/>
          <p:cNvSpPr/>
          <p:nvPr/>
        </p:nvSpPr>
        <p:spPr>
          <a:xfrm>
            <a:off x="8412480" y="1691640"/>
            <a:ext cx="3227832" cy="4480560"/>
          </a:xfrm>
          <a:prstGeom prst="rect">
            <a:avLst/>
          </a:prstGeom>
          <a:solidFill>
            <a:srgbClr val="EEF3F1"/>
          </a:solidFill>
          <a:ln w="12700">
            <a:solidFill>
              <a:srgbClr val="EEF3F1"/>
            </a:solidFill>
            <a:prstDash val="solid"/>
          </a:ln>
        </p:spPr>
      </p:sp>
      <p:sp>
        <p:nvSpPr>
          <p:cNvPr id="8" name="Text 5"/>
          <p:cNvSpPr txBox="1"/>
          <p:nvPr/>
        </p:nvSpPr>
        <p:spPr>
          <a:xfrm>
            <a:off x="8641080" y="1874520"/>
            <a:ext cx="2834640" cy="4206240"/>
          </a:xfrm>
          <a:prstGeom prst="rect">
            <a:avLst/>
          </a:prstGeom>
          <a:noFill/>
          <a:ln/>
        </p:spPr>
        <p:txBody>
          <a:bodyPr wrap="square" lIns="0" tIns="0" rIns="0" bIns="0" rtlCol="0" anchor="t"/>
          <a:lstStyle/>
          <a:p>
            <a:pPr indent="0" marL="0">
              <a:spcAft>
                <a:spcPts val="800"/>
              </a:spcAft>
              <a:buNone/>
            </a:pPr>
            <a:r>
              <a:rPr lang="en-US" sz="1400" b="1" dirty="0">
                <a:solidFill>
                  <a:srgbClr val="0E5E5A"/>
                </a:solidFill>
                <a:latin typeface="Calibri" pitchFamily="34" charset="0"/>
                <a:ea typeface="Calibri" pitchFamily="34" charset="-122"/>
                <a:cs typeface="Calibri" pitchFamily="34" charset="-120"/>
              </a:rPr>
              <a:t>Across elections</a:t>
            </a:r>
            <a:endParaRPr lang="en-US" sz="1400" dirty="0"/>
          </a:p>
          <a:p>
            <a:pPr indent="0" marL="0">
              <a:spcAft>
                <a:spcPts val="800"/>
              </a:spcAft>
              <a:buNone/>
            </a:pPr>
            <a:r>
              <a:rPr lang="en-US" sz="1400" dirty="0">
                <a:solidFill>
                  <a:srgbClr val="1E2B2F"/>
                </a:solidFill>
                <a:latin typeface="Calibri" pitchFamily="34" charset="0"/>
                <a:ea typeface="Calibri" pitchFamily="34" charset="-122"/>
                <a:cs typeface="Calibri" pitchFamily="34" charset="-120"/>
              </a:rPr>
              <a:t>Turnout fell while parties and service levels rose. The pooled dashed line describes that co-movement.</a:t>
            </a:r>
            <a:endParaRPr lang="en-US" sz="1400" dirty="0"/>
          </a:p>
          <a:p>
            <a:pPr indent="0" marL="0">
              <a:spcAft>
                <a:spcPts val="800"/>
              </a:spcAft>
              <a:buNone/>
            </a:pPr>
            <a:r>
              <a:rPr lang="en-US" sz="1400" dirty="0">
                <a:solidFill>
                  <a:srgbClr val="1E2B2F"/>
                </a:solidFill>
                <a:latin typeface="Calibri" pitchFamily="34" charset="0"/>
                <a:ea typeface="Calibri" pitchFamily="34" charset="-122"/>
                <a:cs typeface="Calibri" pitchFamily="34" charset="-120"/>
              </a:rPr>
              <a:t> </a:t>
            </a:r>
            <a:endParaRPr lang="en-US" sz="1400" dirty="0"/>
          </a:p>
          <a:p>
            <a:pPr indent="0" marL="0">
              <a:spcAft>
                <a:spcPts val="800"/>
              </a:spcAft>
              <a:buNone/>
            </a:pPr>
            <a:r>
              <a:rPr lang="en-US" sz="1400" b="1" dirty="0">
                <a:solidFill>
                  <a:srgbClr val="0E5E5A"/>
                </a:solidFill>
                <a:latin typeface="Calibri" pitchFamily="34" charset="0"/>
                <a:ea typeface="Calibri" pitchFamily="34" charset="-122"/>
                <a:cs typeface="Calibri" pitchFamily="34" charset="-120"/>
              </a:rPr>
              <a:t>Within an election</a:t>
            </a:r>
            <a:endParaRPr lang="en-US" sz="1400" dirty="0"/>
          </a:p>
          <a:p>
            <a:pPr indent="0" marL="0">
              <a:spcAft>
                <a:spcPts val="800"/>
              </a:spcAft>
              <a:buNone/>
            </a:pPr>
            <a:r>
              <a:rPr lang="en-US" sz="1400" dirty="0">
                <a:solidFill>
                  <a:srgbClr val="1E2B2F"/>
                </a:solidFill>
                <a:latin typeface="Calibri" pitchFamily="34" charset="0"/>
                <a:ea typeface="Calibri" pitchFamily="34" charset="-122"/>
                <a:cs typeface="Calibri" pitchFamily="34" charset="-120"/>
              </a:rPr>
              <a:t>Municipalities with more parties or more matric holders had higher turnout. Pooling reverses the sign for six variables (Simpson's paradox).</a:t>
            </a:r>
            <a:endParaRPr lang="en-US" sz="1400" dirty="0"/>
          </a:p>
        </p:txBody>
      </p:sp>
      <p:sp>
        <p:nvSpPr>
          <p:cNvPr id="9" name="Text 6"/>
          <p:cNvSpPr txBox="1"/>
          <p:nvPr/>
        </p:nvSpPr>
        <p:spPr>
          <a:xfrm>
            <a:off x="548640" y="4800600"/>
            <a:ext cx="7589520" cy="1371600"/>
          </a:xfrm>
          <a:prstGeom prst="rect">
            <a:avLst/>
          </a:prstGeom>
          <a:noFill/>
          <a:ln/>
        </p:spPr>
        <p:txBody>
          <a:bodyPr wrap="square" lIns="0" tIns="0" rIns="0" bIns="0" rtlCol="0" anchor="t"/>
          <a:lstStyle/>
          <a:p>
            <a:pPr indent="0" marL="0">
              <a:spcAft>
                <a:spcPts val="800"/>
              </a:spcAft>
              <a:buNone/>
            </a:pPr>
            <a:r>
              <a:rPr lang="en-US" sz="1400" b="1" dirty="0">
                <a:solidFill>
                  <a:srgbClr val="1E2B2F"/>
                </a:solidFill>
                <a:latin typeface="Calibri" pitchFamily="34" charset="0"/>
                <a:ea typeface="Calibri" pitchFamily="34" charset="-122"/>
                <a:cs typeface="Calibri" pitchFamily="34" charset="-120"/>
              </a:rPr>
              <a:t>We keep both views but answer each question with the right one: </a:t>
            </a:r>
            <a:pPr indent="0" marL="0">
              <a:spcAft>
                <a:spcPts val="800"/>
              </a:spcAft>
              <a:buNone/>
            </a:pPr>
            <a:r>
              <a:rPr lang="en-US" sz="1400" dirty="0">
                <a:solidFill>
                  <a:srgbClr val="1E2B2F"/>
                </a:solidFill>
                <a:latin typeface="Calibri" pitchFamily="34" charset="0"/>
                <a:ea typeface="Calibri" pitchFamily="34" charset="-122"/>
                <a:cs typeface="Calibri" pitchFamily="34" charset="-120"/>
              </a:rPr>
              <a:t>provincial trends for change over time; year-specific and year-demeaned correlations for differences between municipalities.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Within an election, context matters, but jointly</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Correlation with turnout, 2011 to 2021, after removing election-year differences</a:t>
            </a:r>
            <a:endParaRPr lang="en-US" sz="1500" dirty="0"/>
          </a:p>
        </p:txBody>
      </p:sp>
      <p:sp>
        <p:nvSpPr>
          <p:cNvPr id="4" name="Shape 2"/>
          <p:cNvSpPr/>
          <p:nvPr/>
        </p:nvSpPr>
        <p:spPr>
          <a:xfrm>
            <a:off x="9631375" y="6382512"/>
            <a:ext cx="2011680" cy="310896"/>
          </a:xfrm>
          <a:prstGeom prst="roundRect">
            <a:avLst>
              <a:gd name="adj" fmla="val 50000"/>
            </a:avLst>
          </a:prstGeom>
          <a:solidFill>
            <a:srgbClr val="EEF3F1"/>
          </a:solidFill>
          <a:ln w="12700">
            <a:solidFill>
              <a:srgbClr val="0E5E5A"/>
            </a:solidFill>
            <a:prstDash val="solid"/>
          </a:ln>
        </p:spPr>
      </p:sp>
      <p:sp>
        <p:nvSpPr>
          <p:cNvPr id="5" name="Text 3"/>
          <p:cNvSpPr txBox="1"/>
          <p:nvPr/>
        </p:nvSpPr>
        <p:spPr>
          <a:xfrm>
            <a:off x="9631375" y="6382512"/>
            <a:ext cx="2011680" cy="310896"/>
          </a:xfrm>
          <a:prstGeom prst="rect">
            <a:avLst/>
          </a:prstGeom>
          <a:noFill/>
          <a:ln/>
        </p:spPr>
        <p:txBody>
          <a:bodyPr wrap="square" lIns="0" tIns="0" rIns="0" bIns="0" rtlCol="0" anchor="ctr"/>
          <a:lstStyle/>
          <a:p>
            <a:pPr algn="ctr" indent="0" marL="0">
              <a:buNone/>
            </a:pPr>
            <a:r>
              <a:rPr lang="en-US" sz="1100" b="1" dirty="0">
                <a:solidFill>
                  <a:srgbClr val="0E5E5A"/>
                </a:solidFill>
                <a:latin typeface="Calibri" pitchFamily="34" charset="0"/>
                <a:ea typeface="Calibri" pitchFamily="34" charset="-122"/>
                <a:cs typeface="Calibri" pitchFamily="34" charset="-120"/>
              </a:rPr>
              <a:t>Validated evidence</a:t>
            </a:r>
            <a:endParaRPr lang="en-US" sz="1100" dirty="0"/>
          </a:p>
        </p:txBody>
      </p:sp>
      <p:graphicFrame>
        <p:nvGraphicFramePr>
          <p:cNvPr id="6" name="Chart 0" descr=""/>
          <p:cNvGraphicFramePr/>
          <p:nvPr/>
        </p:nvGraphicFramePr>
        <p:xfrm>
          <a:off x="548640" y="1691640"/>
          <a:ext cx="6675120" cy="43891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680960" y="1828800"/>
            <a:ext cx="3931920" cy="731520"/>
          </a:xfrm>
          <a:prstGeom prst="rect">
            <a:avLst/>
          </a:prstGeom>
          <a:noFill/>
          <a:ln/>
        </p:spPr>
        <p:txBody>
          <a:bodyPr wrap="square" lIns="0" tIns="0" rIns="0" bIns="0" rtlCol="0" anchor="ctr"/>
          <a:lstStyle/>
          <a:p>
            <a:pPr indent="0" marL="0">
              <a:buNone/>
            </a:pPr>
            <a:r>
              <a:rPr lang="en-US" sz="4000" b="1" dirty="0">
                <a:solidFill>
                  <a:srgbClr val="0E5E5A"/>
                </a:solidFill>
                <a:latin typeface="Cambria" pitchFamily="34" charset="0"/>
                <a:ea typeface="Cambria" pitchFamily="34" charset="-122"/>
                <a:cs typeface="Cambria" pitchFamily="34" charset="-120"/>
              </a:rPr>
              <a:t>51%</a:t>
            </a:r>
            <a:endParaRPr lang="en-US" sz="4000" dirty="0"/>
          </a:p>
        </p:txBody>
      </p:sp>
      <p:sp>
        <p:nvSpPr>
          <p:cNvPr id="8" name="Text 5"/>
          <p:cNvSpPr txBox="1"/>
          <p:nvPr/>
        </p:nvSpPr>
        <p:spPr>
          <a:xfrm>
            <a:off x="7680960" y="2578608"/>
            <a:ext cx="393192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of turnout variation explained by election year alone (2011 to 2021)</a:t>
            </a:r>
            <a:endParaRPr lang="en-US" sz="1300" dirty="0"/>
          </a:p>
        </p:txBody>
      </p:sp>
      <p:sp>
        <p:nvSpPr>
          <p:cNvPr id="9" name="Text 6"/>
          <p:cNvSpPr txBox="1"/>
          <p:nvPr/>
        </p:nvSpPr>
        <p:spPr>
          <a:xfrm>
            <a:off x="7680960" y="3337560"/>
            <a:ext cx="3931920" cy="731520"/>
          </a:xfrm>
          <a:prstGeom prst="rect">
            <a:avLst/>
          </a:prstGeom>
          <a:noFill/>
          <a:ln/>
        </p:spPr>
        <p:txBody>
          <a:bodyPr wrap="square" lIns="0" tIns="0" rIns="0" bIns="0" rtlCol="0" anchor="ctr"/>
          <a:lstStyle/>
          <a:p>
            <a:pPr indent="0" marL="0">
              <a:buNone/>
            </a:pPr>
            <a:r>
              <a:rPr lang="en-US" sz="4000" b="1" dirty="0">
                <a:solidFill>
                  <a:srgbClr val="0E5E5A"/>
                </a:solidFill>
                <a:latin typeface="Cambria" pitchFamily="34" charset="0"/>
                <a:ea typeface="Cambria" pitchFamily="34" charset="-122"/>
                <a:cs typeface="Cambria" pitchFamily="34" charset="-120"/>
              </a:rPr>
              <a:t>63%</a:t>
            </a:r>
            <a:endParaRPr lang="en-US" sz="4000" dirty="0"/>
          </a:p>
        </p:txBody>
      </p:sp>
      <p:sp>
        <p:nvSpPr>
          <p:cNvPr id="10" name="Text 7"/>
          <p:cNvSpPr txBox="1"/>
          <p:nvPr/>
        </p:nvSpPr>
        <p:spPr>
          <a:xfrm>
            <a:off x="7680960" y="4087368"/>
            <a:ext cx="393192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with age structure, piped water and victory margin added (election fixed effects)</a:t>
            </a:r>
            <a:endParaRPr lang="en-US" sz="1300" dirty="0"/>
          </a:p>
        </p:txBody>
      </p:sp>
      <p:sp>
        <p:nvSpPr>
          <p:cNvPr id="11" name="Text 8"/>
          <p:cNvSpPr txBox="1"/>
          <p:nvPr/>
        </p:nvSpPr>
        <p:spPr>
          <a:xfrm>
            <a:off x="7680960" y="4846320"/>
            <a:ext cx="3931920" cy="1371600"/>
          </a:xfrm>
          <a:prstGeom prst="rect">
            <a:avLst/>
          </a:prstGeom>
          <a:noFill/>
          <a:ln/>
        </p:spPr>
        <p:txBody>
          <a:bodyPr wrap="square" lIns="0" tIns="0" rIns="0" bIns="0" rtlCol="0" anchor="t"/>
          <a:lstStyle/>
          <a:p>
            <a:pPr indent="0" marL="0">
              <a:spcAft>
                <a:spcPts val="800"/>
              </a:spcAft>
              <a:buNone/>
            </a:pPr>
            <a:r>
              <a:rPr lang="en-US" sz="1300" b="1" dirty="0">
                <a:solidFill>
                  <a:srgbClr val="1E2B2F"/>
                </a:solidFill>
                <a:latin typeface="Calibri" pitchFamily="34" charset="0"/>
                <a:ea typeface="Calibri" pitchFamily="34" charset="-122"/>
                <a:cs typeface="Calibri" pitchFamily="34" charset="-120"/>
              </a:rPr>
              <a:t>Older, better-serviced municipalities and closer contests go with higher turnout. </a:t>
            </a:r>
            <a:pPr indent="0" marL="0">
              <a:spcAft>
                <a:spcPts val="800"/>
              </a:spcAft>
              <a:buNone/>
            </a:pPr>
            <a:r>
              <a:rPr lang="en-US" sz="1300" dirty="0">
                <a:solidFill>
                  <a:srgbClr val="1E2B2F"/>
                </a:solidFill>
                <a:latin typeface="Calibri" pitchFamily="34" charset="0"/>
                <a:ea typeface="Calibri" pitchFamily="34" charset="-122"/>
                <a:cs typeface="Calibri" pitchFamily="34" charset="-120"/>
              </a:rPr>
              <a:t>These overlap too much to separate with 33 municipalities. Associations only, not causes.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The bridge to prediction: relative position persists</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Points above or below the provincial level, 2016 against 2021</a:t>
            </a:r>
            <a:endParaRPr lang="en-US" sz="1500" dirty="0"/>
          </a:p>
        </p:txBody>
      </p:sp>
      <p:sp>
        <p:nvSpPr>
          <p:cNvPr id="4" name="Shape 2"/>
          <p:cNvSpPr/>
          <p:nvPr/>
        </p:nvSpPr>
        <p:spPr>
          <a:xfrm>
            <a:off x="9631375" y="6382512"/>
            <a:ext cx="2011680" cy="310896"/>
          </a:xfrm>
          <a:prstGeom prst="roundRect">
            <a:avLst>
              <a:gd name="adj" fmla="val 50000"/>
            </a:avLst>
          </a:prstGeom>
          <a:solidFill>
            <a:srgbClr val="EEF3F1"/>
          </a:solidFill>
          <a:ln w="12700">
            <a:solidFill>
              <a:srgbClr val="0E5E5A"/>
            </a:solidFill>
            <a:prstDash val="solid"/>
          </a:ln>
        </p:spPr>
      </p:sp>
      <p:sp>
        <p:nvSpPr>
          <p:cNvPr id="5" name="Text 3"/>
          <p:cNvSpPr txBox="1"/>
          <p:nvPr/>
        </p:nvSpPr>
        <p:spPr>
          <a:xfrm>
            <a:off x="9631375" y="6382512"/>
            <a:ext cx="2011680" cy="310896"/>
          </a:xfrm>
          <a:prstGeom prst="rect">
            <a:avLst/>
          </a:prstGeom>
          <a:noFill/>
          <a:ln/>
        </p:spPr>
        <p:txBody>
          <a:bodyPr wrap="square" lIns="0" tIns="0" rIns="0" bIns="0" rtlCol="0" anchor="ctr"/>
          <a:lstStyle/>
          <a:p>
            <a:pPr algn="ctr" indent="0" marL="0">
              <a:buNone/>
            </a:pPr>
            <a:r>
              <a:rPr lang="en-US" sz="1100" b="1" dirty="0">
                <a:solidFill>
                  <a:srgbClr val="0E5E5A"/>
                </a:solidFill>
                <a:latin typeface="Calibri" pitchFamily="34" charset="0"/>
                <a:ea typeface="Calibri" pitchFamily="34" charset="-122"/>
                <a:cs typeface="Calibri" pitchFamily="34" charset="-120"/>
              </a:rPr>
              <a:t>Validated evidence</a:t>
            </a:r>
            <a:endParaRPr lang="en-US" sz="1100" dirty="0"/>
          </a:p>
        </p:txBody>
      </p:sp>
      <p:graphicFrame>
        <p:nvGraphicFramePr>
          <p:cNvPr id="6" name="Chart 0" descr=""/>
          <p:cNvGraphicFramePr/>
          <p:nvPr/>
        </p:nvGraphicFramePr>
        <p:xfrm>
          <a:off x="548640" y="1691640"/>
          <a:ext cx="5486400" cy="438912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400800" y="1691640"/>
          <a:ext cx="5212080" cy="29260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6400800" y="4846320"/>
            <a:ext cx="5212080" cy="1371600"/>
          </a:xfrm>
          <a:prstGeom prst="rect">
            <a:avLst/>
          </a:prstGeom>
          <a:noFill/>
          <a:ln/>
        </p:spPr>
        <p:txBody>
          <a:bodyPr wrap="square" lIns="0" tIns="0" rIns="0" bIns="0" rtlCol="0" anchor="t"/>
          <a:lstStyle/>
          <a:p>
            <a:pPr indent="0" marL="0">
              <a:spcAft>
                <a:spcPts val="800"/>
              </a:spcAft>
              <a:buNone/>
            </a:pPr>
            <a:r>
              <a:rPr lang="en-US" sz="1400" b="1" dirty="0">
                <a:solidFill>
                  <a:srgbClr val="1E2B2F"/>
                </a:solidFill>
                <a:latin typeface="Calibri" pitchFamily="34" charset="0"/>
                <a:ea typeface="Calibri" pitchFamily="34" charset="-122"/>
                <a:cs typeface="Calibri" pitchFamily="34" charset="-120"/>
              </a:rPr>
              <a:t>Turnout = provincial level + relative position. </a:t>
            </a:r>
            <a:pPr indent="0" marL="0">
              <a:spcAft>
                <a:spcPts val="800"/>
              </a:spcAft>
              <a:buNone/>
            </a:pPr>
            <a:r>
              <a:rPr lang="en-US" sz="1400" dirty="0">
                <a:solidFill>
                  <a:srgbClr val="1E2B2F"/>
                </a:solidFill>
                <a:latin typeface="Calibri" pitchFamily="34" charset="0"/>
                <a:ea typeface="Calibri" pitchFamily="34" charset="-122"/>
                <a:cs typeface="Calibri" pitchFamily="34" charset="-120"/>
              </a:rPr>
              <a:t>Since 2011 the relative position carries over strongly (r = 0.83, then 0.77) even as the level fell 8 points.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How we tested: 2021 locked away until the very end</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Rolling-origin validation; method chosen before 2021 is examined; no random splits</a:t>
            </a:r>
            <a:endParaRPr lang="en-US" sz="1500" dirty="0"/>
          </a:p>
        </p:txBody>
      </p:sp>
      <p:sp>
        <p:nvSpPr>
          <p:cNvPr id="4" name="Shape 2"/>
          <p:cNvSpPr/>
          <p:nvPr/>
        </p:nvSpPr>
        <p:spPr>
          <a:xfrm>
            <a:off x="9631375" y="6382512"/>
            <a:ext cx="2011680" cy="310896"/>
          </a:xfrm>
          <a:prstGeom prst="roundRect">
            <a:avLst>
              <a:gd name="adj" fmla="val 50000"/>
            </a:avLst>
          </a:prstGeom>
          <a:solidFill>
            <a:srgbClr val="EEF3F1"/>
          </a:solidFill>
          <a:ln w="12700">
            <a:solidFill>
              <a:srgbClr val="0E5E5A"/>
            </a:solidFill>
            <a:prstDash val="solid"/>
          </a:ln>
        </p:spPr>
      </p:sp>
      <p:sp>
        <p:nvSpPr>
          <p:cNvPr id="5" name="Text 3"/>
          <p:cNvSpPr txBox="1"/>
          <p:nvPr/>
        </p:nvSpPr>
        <p:spPr>
          <a:xfrm>
            <a:off x="9631375" y="6382512"/>
            <a:ext cx="2011680" cy="310896"/>
          </a:xfrm>
          <a:prstGeom prst="rect">
            <a:avLst/>
          </a:prstGeom>
          <a:noFill/>
          <a:ln/>
        </p:spPr>
        <p:txBody>
          <a:bodyPr wrap="square" lIns="0" tIns="0" rIns="0" bIns="0" rtlCol="0" anchor="ctr"/>
          <a:lstStyle/>
          <a:p>
            <a:pPr algn="ctr" indent="0" marL="0">
              <a:buNone/>
            </a:pPr>
            <a:r>
              <a:rPr lang="en-US" sz="1100" b="1" dirty="0">
                <a:solidFill>
                  <a:srgbClr val="0E5E5A"/>
                </a:solidFill>
                <a:latin typeface="Calibri" pitchFamily="34" charset="0"/>
                <a:ea typeface="Calibri" pitchFamily="34" charset="-122"/>
                <a:cs typeface="Calibri" pitchFamily="34" charset="-120"/>
              </a:rPr>
              <a:t>Validated evidence</a:t>
            </a:r>
            <a:endParaRPr lang="en-US" sz="1100" dirty="0"/>
          </a:p>
        </p:txBody>
      </p:sp>
      <p:sp>
        <p:nvSpPr>
          <p:cNvPr id="6" name="Text 4"/>
          <p:cNvSpPr txBox="1"/>
          <p:nvPr/>
        </p:nvSpPr>
        <p:spPr>
          <a:xfrm>
            <a:off x="2468880" y="1783080"/>
            <a:ext cx="1463040" cy="320040"/>
          </a:xfrm>
          <a:prstGeom prst="rect">
            <a:avLst/>
          </a:prstGeom>
          <a:noFill/>
          <a:ln/>
        </p:spPr>
        <p:txBody>
          <a:bodyPr wrap="square" lIns="0" tIns="0" rIns="0" bIns="0" rtlCol="0" anchor="ctr"/>
          <a:lstStyle/>
          <a:p>
            <a:pPr algn="ctr" indent="0" marL="0">
              <a:buNone/>
            </a:pPr>
            <a:r>
              <a:rPr lang="en-US" sz="1300" b="1" dirty="0">
                <a:solidFill>
                  <a:srgbClr val="5C6B6E"/>
                </a:solidFill>
                <a:latin typeface="Calibri" pitchFamily="34" charset="0"/>
                <a:ea typeface="Calibri" pitchFamily="34" charset="-122"/>
                <a:cs typeface="Calibri" pitchFamily="34" charset="-120"/>
              </a:rPr>
              <a:t>2006</a:t>
            </a:r>
            <a:endParaRPr lang="en-US" sz="1300" dirty="0"/>
          </a:p>
        </p:txBody>
      </p:sp>
      <p:sp>
        <p:nvSpPr>
          <p:cNvPr id="7" name="Text 5"/>
          <p:cNvSpPr txBox="1"/>
          <p:nvPr/>
        </p:nvSpPr>
        <p:spPr>
          <a:xfrm>
            <a:off x="4069080" y="1783080"/>
            <a:ext cx="1463040" cy="320040"/>
          </a:xfrm>
          <a:prstGeom prst="rect">
            <a:avLst/>
          </a:prstGeom>
          <a:noFill/>
          <a:ln/>
        </p:spPr>
        <p:txBody>
          <a:bodyPr wrap="square" lIns="0" tIns="0" rIns="0" bIns="0" rtlCol="0" anchor="ctr"/>
          <a:lstStyle/>
          <a:p>
            <a:pPr algn="ctr" indent="0" marL="0">
              <a:buNone/>
            </a:pPr>
            <a:r>
              <a:rPr lang="en-US" sz="1300" b="1" dirty="0">
                <a:solidFill>
                  <a:srgbClr val="5C6B6E"/>
                </a:solidFill>
                <a:latin typeface="Calibri" pitchFamily="34" charset="0"/>
                <a:ea typeface="Calibri" pitchFamily="34" charset="-122"/>
                <a:cs typeface="Calibri" pitchFamily="34" charset="-120"/>
              </a:rPr>
              <a:t>2011</a:t>
            </a:r>
            <a:endParaRPr lang="en-US" sz="1300" dirty="0"/>
          </a:p>
        </p:txBody>
      </p:sp>
      <p:sp>
        <p:nvSpPr>
          <p:cNvPr id="8" name="Text 6"/>
          <p:cNvSpPr txBox="1"/>
          <p:nvPr/>
        </p:nvSpPr>
        <p:spPr>
          <a:xfrm>
            <a:off x="5669280" y="1783080"/>
            <a:ext cx="1463040" cy="320040"/>
          </a:xfrm>
          <a:prstGeom prst="rect">
            <a:avLst/>
          </a:prstGeom>
          <a:noFill/>
          <a:ln/>
        </p:spPr>
        <p:txBody>
          <a:bodyPr wrap="square" lIns="0" tIns="0" rIns="0" bIns="0" rtlCol="0" anchor="ctr"/>
          <a:lstStyle/>
          <a:p>
            <a:pPr algn="ctr" indent="0" marL="0">
              <a:buNone/>
            </a:pPr>
            <a:r>
              <a:rPr lang="en-US" sz="1300" b="1" dirty="0">
                <a:solidFill>
                  <a:srgbClr val="5C6B6E"/>
                </a:solidFill>
                <a:latin typeface="Calibri" pitchFamily="34" charset="0"/>
                <a:ea typeface="Calibri" pitchFamily="34" charset="-122"/>
                <a:cs typeface="Calibri" pitchFamily="34" charset="-120"/>
              </a:rPr>
              <a:t>2016</a:t>
            </a:r>
            <a:endParaRPr lang="en-US" sz="1300" dirty="0"/>
          </a:p>
        </p:txBody>
      </p:sp>
      <p:sp>
        <p:nvSpPr>
          <p:cNvPr id="9" name="Text 7"/>
          <p:cNvSpPr txBox="1"/>
          <p:nvPr/>
        </p:nvSpPr>
        <p:spPr>
          <a:xfrm>
            <a:off x="7269480" y="1783080"/>
            <a:ext cx="1463040" cy="320040"/>
          </a:xfrm>
          <a:prstGeom prst="rect">
            <a:avLst/>
          </a:prstGeom>
          <a:noFill/>
          <a:ln/>
        </p:spPr>
        <p:txBody>
          <a:bodyPr wrap="square" lIns="0" tIns="0" rIns="0" bIns="0" rtlCol="0" anchor="ctr"/>
          <a:lstStyle/>
          <a:p>
            <a:pPr algn="ctr" indent="0" marL="0">
              <a:buNone/>
            </a:pPr>
            <a:r>
              <a:rPr lang="en-US" sz="1300" b="1" dirty="0">
                <a:solidFill>
                  <a:srgbClr val="5C6B6E"/>
                </a:solidFill>
                <a:latin typeface="Calibri" pitchFamily="34" charset="0"/>
                <a:ea typeface="Calibri" pitchFamily="34" charset="-122"/>
                <a:cs typeface="Calibri" pitchFamily="34" charset="-120"/>
              </a:rPr>
              <a:t>2021</a:t>
            </a:r>
            <a:endParaRPr lang="en-US" sz="1300" dirty="0"/>
          </a:p>
        </p:txBody>
      </p:sp>
      <p:sp>
        <p:nvSpPr>
          <p:cNvPr id="10" name="Text 8"/>
          <p:cNvSpPr txBox="1"/>
          <p:nvPr/>
        </p:nvSpPr>
        <p:spPr>
          <a:xfrm>
            <a:off x="548640" y="2194560"/>
            <a:ext cx="1737360" cy="548640"/>
          </a:xfrm>
          <a:prstGeom prst="rect">
            <a:avLst/>
          </a:prstGeom>
          <a:noFill/>
          <a:ln/>
        </p:spPr>
        <p:txBody>
          <a:bodyPr wrap="square" lIns="0" tIns="0" rIns="0" bIns="0" rtlCol="0" anchor="ctr"/>
          <a:lstStyle/>
          <a:p>
            <a:pPr indent="0" marL="0">
              <a:buNone/>
            </a:pPr>
            <a:r>
              <a:rPr lang="en-US" sz="1400" b="1" dirty="0">
                <a:solidFill>
                  <a:srgbClr val="1E2B2F"/>
                </a:solidFill>
                <a:latin typeface="Calibri" pitchFamily="34" charset="0"/>
                <a:ea typeface="Calibri" pitchFamily="34" charset="-122"/>
                <a:cs typeface="Calibri" pitchFamily="34" charset="-120"/>
              </a:rPr>
              <a:t>Fold 2011</a:t>
            </a:r>
            <a:endParaRPr lang="en-US" sz="1400" dirty="0"/>
          </a:p>
        </p:txBody>
      </p:sp>
      <p:sp>
        <p:nvSpPr>
          <p:cNvPr id="11" name="Shape 9"/>
          <p:cNvSpPr/>
          <p:nvPr/>
        </p:nvSpPr>
        <p:spPr>
          <a:xfrm>
            <a:off x="2468880" y="2194560"/>
            <a:ext cx="1463040" cy="548640"/>
          </a:xfrm>
          <a:prstGeom prst="rect">
            <a:avLst/>
          </a:prstGeom>
          <a:solidFill>
            <a:srgbClr val="7FB5AE"/>
          </a:solidFill>
          <a:ln w="12700">
            <a:solidFill>
              <a:srgbClr val="FFFFFF"/>
            </a:solidFill>
            <a:prstDash val="solid"/>
          </a:ln>
        </p:spPr>
      </p:sp>
      <p:sp>
        <p:nvSpPr>
          <p:cNvPr id="12" name="Text 10"/>
          <p:cNvSpPr txBox="1"/>
          <p:nvPr/>
        </p:nvSpPr>
        <p:spPr>
          <a:xfrm>
            <a:off x="2468880" y="2194560"/>
            <a:ext cx="1463040" cy="548640"/>
          </a:xfrm>
          <a:prstGeom prst="rect">
            <a:avLst/>
          </a:prstGeom>
          <a:noFill/>
          <a:ln/>
        </p:spPr>
        <p:txBody>
          <a:bodyPr wrap="square" lIns="0" tIns="0" rIns="0" bIns="0" rtlCol="0" anchor="ctr"/>
          <a:lstStyle/>
          <a:p>
            <a:pPr algn="ctr" indent="0" marL="0">
              <a:buNone/>
            </a:pPr>
            <a:r>
              <a:rPr lang="en-US" sz="1300" b="1" dirty="0">
                <a:solidFill>
                  <a:srgbClr val="1E2B2F"/>
                </a:solidFill>
                <a:latin typeface="Calibri" pitchFamily="34" charset="0"/>
                <a:ea typeface="Calibri" pitchFamily="34" charset="-122"/>
                <a:cs typeface="Calibri" pitchFamily="34" charset="-120"/>
              </a:rPr>
              <a:t>train</a:t>
            </a:r>
            <a:endParaRPr lang="en-US" sz="1300" dirty="0"/>
          </a:p>
        </p:txBody>
      </p:sp>
      <p:sp>
        <p:nvSpPr>
          <p:cNvPr id="13" name="Shape 11"/>
          <p:cNvSpPr/>
          <p:nvPr/>
        </p:nvSpPr>
        <p:spPr>
          <a:xfrm>
            <a:off x="4069080" y="2194560"/>
            <a:ext cx="1463040" cy="548640"/>
          </a:xfrm>
          <a:prstGeom prst="rect">
            <a:avLst/>
          </a:prstGeom>
          <a:solidFill>
            <a:srgbClr val="0E5E5A"/>
          </a:solidFill>
          <a:ln w="12700">
            <a:solidFill>
              <a:srgbClr val="FFFFFF"/>
            </a:solidFill>
            <a:prstDash val="solid"/>
          </a:ln>
        </p:spPr>
      </p:sp>
      <p:sp>
        <p:nvSpPr>
          <p:cNvPr id="14" name="Text 12"/>
          <p:cNvSpPr txBox="1"/>
          <p:nvPr/>
        </p:nvSpPr>
        <p:spPr>
          <a:xfrm>
            <a:off x="4069080" y="2194560"/>
            <a:ext cx="14630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validate</a:t>
            </a:r>
            <a:endParaRPr lang="en-US" sz="1300" dirty="0"/>
          </a:p>
        </p:txBody>
      </p:sp>
      <p:sp>
        <p:nvSpPr>
          <p:cNvPr id="15" name="Shape 13"/>
          <p:cNvSpPr/>
          <p:nvPr/>
        </p:nvSpPr>
        <p:spPr>
          <a:xfrm>
            <a:off x="5669280" y="2194560"/>
            <a:ext cx="1463040" cy="548640"/>
          </a:xfrm>
          <a:prstGeom prst="rect">
            <a:avLst/>
          </a:prstGeom>
          <a:solidFill>
            <a:srgbClr val="F2F5F4"/>
          </a:solidFill>
          <a:ln w="12700">
            <a:solidFill>
              <a:srgbClr val="FFFFFF"/>
            </a:solidFill>
            <a:prstDash val="solid"/>
          </a:ln>
        </p:spPr>
      </p:sp>
      <p:sp>
        <p:nvSpPr>
          <p:cNvPr id="16" name="Shape 14"/>
          <p:cNvSpPr/>
          <p:nvPr/>
        </p:nvSpPr>
        <p:spPr>
          <a:xfrm>
            <a:off x="7269480" y="2194560"/>
            <a:ext cx="1463040" cy="548640"/>
          </a:xfrm>
          <a:prstGeom prst="rect">
            <a:avLst/>
          </a:prstGeom>
          <a:solidFill>
            <a:srgbClr val="F2F5F4"/>
          </a:solidFill>
          <a:ln w="12700">
            <a:solidFill>
              <a:srgbClr val="FFFFFF"/>
            </a:solidFill>
            <a:prstDash val="solid"/>
          </a:ln>
        </p:spPr>
      </p:sp>
      <p:sp>
        <p:nvSpPr>
          <p:cNvPr id="17" name="Text 15"/>
          <p:cNvSpPr txBox="1"/>
          <p:nvPr/>
        </p:nvSpPr>
        <p:spPr>
          <a:xfrm>
            <a:off x="548640" y="2880360"/>
            <a:ext cx="1737360" cy="548640"/>
          </a:xfrm>
          <a:prstGeom prst="rect">
            <a:avLst/>
          </a:prstGeom>
          <a:noFill/>
          <a:ln/>
        </p:spPr>
        <p:txBody>
          <a:bodyPr wrap="square" lIns="0" tIns="0" rIns="0" bIns="0" rtlCol="0" anchor="ctr"/>
          <a:lstStyle/>
          <a:p>
            <a:pPr indent="0" marL="0">
              <a:buNone/>
            </a:pPr>
            <a:r>
              <a:rPr lang="en-US" sz="1400" b="1" dirty="0">
                <a:solidFill>
                  <a:srgbClr val="1E2B2F"/>
                </a:solidFill>
                <a:latin typeface="Calibri" pitchFamily="34" charset="0"/>
                <a:ea typeface="Calibri" pitchFamily="34" charset="-122"/>
                <a:cs typeface="Calibri" pitchFamily="34" charset="-120"/>
              </a:rPr>
              <a:t>Fold 2016</a:t>
            </a:r>
            <a:endParaRPr lang="en-US" sz="1400" dirty="0"/>
          </a:p>
        </p:txBody>
      </p:sp>
      <p:sp>
        <p:nvSpPr>
          <p:cNvPr id="18" name="Shape 16"/>
          <p:cNvSpPr/>
          <p:nvPr/>
        </p:nvSpPr>
        <p:spPr>
          <a:xfrm>
            <a:off x="2468880" y="2880360"/>
            <a:ext cx="1463040" cy="548640"/>
          </a:xfrm>
          <a:prstGeom prst="rect">
            <a:avLst/>
          </a:prstGeom>
          <a:solidFill>
            <a:srgbClr val="7FB5AE"/>
          </a:solidFill>
          <a:ln w="12700">
            <a:solidFill>
              <a:srgbClr val="FFFFFF"/>
            </a:solidFill>
            <a:prstDash val="solid"/>
          </a:ln>
        </p:spPr>
      </p:sp>
      <p:sp>
        <p:nvSpPr>
          <p:cNvPr id="19" name="Text 17"/>
          <p:cNvSpPr txBox="1"/>
          <p:nvPr/>
        </p:nvSpPr>
        <p:spPr>
          <a:xfrm>
            <a:off x="2468880" y="2880360"/>
            <a:ext cx="1463040" cy="548640"/>
          </a:xfrm>
          <a:prstGeom prst="rect">
            <a:avLst/>
          </a:prstGeom>
          <a:noFill/>
          <a:ln/>
        </p:spPr>
        <p:txBody>
          <a:bodyPr wrap="square" lIns="0" tIns="0" rIns="0" bIns="0" rtlCol="0" anchor="ctr"/>
          <a:lstStyle/>
          <a:p>
            <a:pPr algn="ctr" indent="0" marL="0">
              <a:buNone/>
            </a:pPr>
            <a:r>
              <a:rPr lang="en-US" sz="1300" b="1" dirty="0">
                <a:solidFill>
                  <a:srgbClr val="1E2B2F"/>
                </a:solidFill>
                <a:latin typeface="Calibri" pitchFamily="34" charset="0"/>
                <a:ea typeface="Calibri" pitchFamily="34" charset="-122"/>
                <a:cs typeface="Calibri" pitchFamily="34" charset="-120"/>
              </a:rPr>
              <a:t>train</a:t>
            </a:r>
            <a:endParaRPr lang="en-US" sz="1300" dirty="0"/>
          </a:p>
        </p:txBody>
      </p:sp>
      <p:sp>
        <p:nvSpPr>
          <p:cNvPr id="20" name="Shape 18"/>
          <p:cNvSpPr/>
          <p:nvPr/>
        </p:nvSpPr>
        <p:spPr>
          <a:xfrm>
            <a:off x="4069080" y="2880360"/>
            <a:ext cx="1463040" cy="548640"/>
          </a:xfrm>
          <a:prstGeom prst="rect">
            <a:avLst/>
          </a:prstGeom>
          <a:solidFill>
            <a:srgbClr val="7FB5AE"/>
          </a:solidFill>
          <a:ln w="12700">
            <a:solidFill>
              <a:srgbClr val="FFFFFF"/>
            </a:solidFill>
            <a:prstDash val="solid"/>
          </a:ln>
        </p:spPr>
      </p:sp>
      <p:sp>
        <p:nvSpPr>
          <p:cNvPr id="21" name="Text 19"/>
          <p:cNvSpPr txBox="1"/>
          <p:nvPr/>
        </p:nvSpPr>
        <p:spPr>
          <a:xfrm>
            <a:off x="4069080" y="2880360"/>
            <a:ext cx="1463040" cy="548640"/>
          </a:xfrm>
          <a:prstGeom prst="rect">
            <a:avLst/>
          </a:prstGeom>
          <a:noFill/>
          <a:ln/>
        </p:spPr>
        <p:txBody>
          <a:bodyPr wrap="square" lIns="0" tIns="0" rIns="0" bIns="0" rtlCol="0" anchor="ctr"/>
          <a:lstStyle/>
          <a:p>
            <a:pPr algn="ctr" indent="0" marL="0">
              <a:buNone/>
            </a:pPr>
            <a:r>
              <a:rPr lang="en-US" sz="1300" b="1" dirty="0">
                <a:solidFill>
                  <a:srgbClr val="1E2B2F"/>
                </a:solidFill>
                <a:latin typeface="Calibri" pitchFamily="34" charset="0"/>
                <a:ea typeface="Calibri" pitchFamily="34" charset="-122"/>
                <a:cs typeface="Calibri" pitchFamily="34" charset="-120"/>
              </a:rPr>
              <a:t>train</a:t>
            </a:r>
            <a:endParaRPr lang="en-US" sz="1300" dirty="0"/>
          </a:p>
        </p:txBody>
      </p:sp>
      <p:sp>
        <p:nvSpPr>
          <p:cNvPr id="22" name="Shape 20"/>
          <p:cNvSpPr/>
          <p:nvPr/>
        </p:nvSpPr>
        <p:spPr>
          <a:xfrm>
            <a:off x="5669280" y="2880360"/>
            <a:ext cx="1463040" cy="548640"/>
          </a:xfrm>
          <a:prstGeom prst="rect">
            <a:avLst/>
          </a:prstGeom>
          <a:solidFill>
            <a:srgbClr val="0E5E5A"/>
          </a:solidFill>
          <a:ln w="12700">
            <a:solidFill>
              <a:srgbClr val="FFFFFF"/>
            </a:solidFill>
            <a:prstDash val="solid"/>
          </a:ln>
        </p:spPr>
      </p:sp>
      <p:sp>
        <p:nvSpPr>
          <p:cNvPr id="23" name="Text 21"/>
          <p:cNvSpPr txBox="1"/>
          <p:nvPr/>
        </p:nvSpPr>
        <p:spPr>
          <a:xfrm>
            <a:off x="5669280" y="2880360"/>
            <a:ext cx="14630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validate</a:t>
            </a:r>
            <a:endParaRPr lang="en-US" sz="1300" dirty="0"/>
          </a:p>
        </p:txBody>
      </p:sp>
      <p:sp>
        <p:nvSpPr>
          <p:cNvPr id="24" name="Shape 22"/>
          <p:cNvSpPr/>
          <p:nvPr/>
        </p:nvSpPr>
        <p:spPr>
          <a:xfrm>
            <a:off x="7269480" y="2880360"/>
            <a:ext cx="1463040" cy="548640"/>
          </a:xfrm>
          <a:prstGeom prst="rect">
            <a:avLst/>
          </a:prstGeom>
          <a:solidFill>
            <a:srgbClr val="F2F5F4"/>
          </a:solidFill>
          <a:ln w="12700">
            <a:solidFill>
              <a:srgbClr val="FFFFFF"/>
            </a:solidFill>
            <a:prstDash val="solid"/>
          </a:ln>
        </p:spPr>
      </p:sp>
      <p:sp>
        <p:nvSpPr>
          <p:cNvPr id="25" name="Text 23"/>
          <p:cNvSpPr txBox="1"/>
          <p:nvPr/>
        </p:nvSpPr>
        <p:spPr>
          <a:xfrm>
            <a:off x="548640" y="3566160"/>
            <a:ext cx="1737360" cy="548640"/>
          </a:xfrm>
          <a:prstGeom prst="rect">
            <a:avLst/>
          </a:prstGeom>
          <a:noFill/>
          <a:ln/>
        </p:spPr>
        <p:txBody>
          <a:bodyPr wrap="square" lIns="0" tIns="0" rIns="0" bIns="0" rtlCol="0" anchor="ctr"/>
          <a:lstStyle/>
          <a:p>
            <a:pPr indent="0" marL="0">
              <a:buNone/>
            </a:pPr>
            <a:r>
              <a:rPr lang="en-US" sz="1400" b="1" dirty="0">
                <a:solidFill>
                  <a:srgbClr val="1E2B2F"/>
                </a:solidFill>
                <a:latin typeface="Calibri" pitchFamily="34" charset="0"/>
                <a:ea typeface="Calibri" pitchFamily="34" charset="-122"/>
                <a:cs typeface="Calibri" pitchFamily="34" charset="-120"/>
              </a:rPr>
              <a:t>Fold 2021</a:t>
            </a:r>
            <a:endParaRPr lang="en-US" sz="1400" dirty="0"/>
          </a:p>
        </p:txBody>
      </p:sp>
      <p:sp>
        <p:nvSpPr>
          <p:cNvPr id="26" name="Shape 24"/>
          <p:cNvSpPr/>
          <p:nvPr/>
        </p:nvSpPr>
        <p:spPr>
          <a:xfrm>
            <a:off x="2468880" y="3566160"/>
            <a:ext cx="1463040" cy="548640"/>
          </a:xfrm>
          <a:prstGeom prst="rect">
            <a:avLst/>
          </a:prstGeom>
          <a:solidFill>
            <a:srgbClr val="7FB5AE"/>
          </a:solidFill>
          <a:ln w="12700">
            <a:solidFill>
              <a:srgbClr val="FFFFFF"/>
            </a:solidFill>
            <a:prstDash val="solid"/>
          </a:ln>
        </p:spPr>
      </p:sp>
      <p:sp>
        <p:nvSpPr>
          <p:cNvPr id="27" name="Text 25"/>
          <p:cNvSpPr txBox="1"/>
          <p:nvPr/>
        </p:nvSpPr>
        <p:spPr>
          <a:xfrm>
            <a:off x="2468880" y="3566160"/>
            <a:ext cx="1463040" cy="548640"/>
          </a:xfrm>
          <a:prstGeom prst="rect">
            <a:avLst/>
          </a:prstGeom>
          <a:noFill/>
          <a:ln/>
        </p:spPr>
        <p:txBody>
          <a:bodyPr wrap="square" lIns="0" tIns="0" rIns="0" bIns="0" rtlCol="0" anchor="ctr"/>
          <a:lstStyle/>
          <a:p>
            <a:pPr algn="ctr" indent="0" marL="0">
              <a:buNone/>
            </a:pPr>
            <a:r>
              <a:rPr lang="en-US" sz="1300" b="1" dirty="0">
                <a:solidFill>
                  <a:srgbClr val="1E2B2F"/>
                </a:solidFill>
                <a:latin typeface="Calibri" pitchFamily="34" charset="0"/>
                <a:ea typeface="Calibri" pitchFamily="34" charset="-122"/>
                <a:cs typeface="Calibri" pitchFamily="34" charset="-120"/>
              </a:rPr>
              <a:t>train</a:t>
            </a:r>
            <a:endParaRPr lang="en-US" sz="1300" dirty="0"/>
          </a:p>
        </p:txBody>
      </p:sp>
      <p:sp>
        <p:nvSpPr>
          <p:cNvPr id="28" name="Shape 26"/>
          <p:cNvSpPr/>
          <p:nvPr/>
        </p:nvSpPr>
        <p:spPr>
          <a:xfrm>
            <a:off x="4069080" y="3566160"/>
            <a:ext cx="1463040" cy="548640"/>
          </a:xfrm>
          <a:prstGeom prst="rect">
            <a:avLst/>
          </a:prstGeom>
          <a:solidFill>
            <a:srgbClr val="7FB5AE"/>
          </a:solidFill>
          <a:ln w="12700">
            <a:solidFill>
              <a:srgbClr val="FFFFFF"/>
            </a:solidFill>
            <a:prstDash val="solid"/>
          </a:ln>
        </p:spPr>
      </p:sp>
      <p:sp>
        <p:nvSpPr>
          <p:cNvPr id="29" name="Text 27"/>
          <p:cNvSpPr txBox="1"/>
          <p:nvPr/>
        </p:nvSpPr>
        <p:spPr>
          <a:xfrm>
            <a:off x="4069080" y="3566160"/>
            <a:ext cx="1463040" cy="548640"/>
          </a:xfrm>
          <a:prstGeom prst="rect">
            <a:avLst/>
          </a:prstGeom>
          <a:noFill/>
          <a:ln/>
        </p:spPr>
        <p:txBody>
          <a:bodyPr wrap="square" lIns="0" tIns="0" rIns="0" bIns="0" rtlCol="0" anchor="ctr"/>
          <a:lstStyle/>
          <a:p>
            <a:pPr algn="ctr" indent="0" marL="0">
              <a:buNone/>
            </a:pPr>
            <a:r>
              <a:rPr lang="en-US" sz="1300" b="1" dirty="0">
                <a:solidFill>
                  <a:srgbClr val="1E2B2F"/>
                </a:solidFill>
                <a:latin typeface="Calibri" pitchFamily="34" charset="0"/>
                <a:ea typeface="Calibri" pitchFamily="34" charset="-122"/>
                <a:cs typeface="Calibri" pitchFamily="34" charset="-120"/>
              </a:rPr>
              <a:t>train</a:t>
            </a:r>
            <a:endParaRPr lang="en-US" sz="1300" dirty="0"/>
          </a:p>
        </p:txBody>
      </p:sp>
      <p:sp>
        <p:nvSpPr>
          <p:cNvPr id="30" name="Shape 28"/>
          <p:cNvSpPr/>
          <p:nvPr/>
        </p:nvSpPr>
        <p:spPr>
          <a:xfrm>
            <a:off x="5669280" y="3566160"/>
            <a:ext cx="1463040" cy="548640"/>
          </a:xfrm>
          <a:prstGeom prst="rect">
            <a:avLst/>
          </a:prstGeom>
          <a:solidFill>
            <a:srgbClr val="7FB5AE"/>
          </a:solidFill>
          <a:ln w="12700">
            <a:solidFill>
              <a:srgbClr val="FFFFFF"/>
            </a:solidFill>
            <a:prstDash val="solid"/>
          </a:ln>
        </p:spPr>
      </p:sp>
      <p:sp>
        <p:nvSpPr>
          <p:cNvPr id="31" name="Text 29"/>
          <p:cNvSpPr txBox="1"/>
          <p:nvPr/>
        </p:nvSpPr>
        <p:spPr>
          <a:xfrm>
            <a:off x="5669280" y="3566160"/>
            <a:ext cx="1463040" cy="548640"/>
          </a:xfrm>
          <a:prstGeom prst="rect">
            <a:avLst/>
          </a:prstGeom>
          <a:noFill/>
          <a:ln/>
        </p:spPr>
        <p:txBody>
          <a:bodyPr wrap="square" lIns="0" tIns="0" rIns="0" bIns="0" rtlCol="0" anchor="ctr"/>
          <a:lstStyle/>
          <a:p>
            <a:pPr algn="ctr" indent="0" marL="0">
              <a:buNone/>
            </a:pPr>
            <a:r>
              <a:rPr lang="en-US" sz="1300" b="1" dirty="0">
                <a:solidFill>
                  <a:srgbClr val="1E2B2F"/>
                </a:solidFill>
                <a:latin typeface="Calibri" pitchFamily="34" charset="0"/>
                <a:ea typeface="Calibri" pitchFamily="34" charset="-122"/>
                <a:cs typeface="Calibri" pitchFamily="34" charset="-120"/>
              </a:rPr>
              <a:t>train</a:t>
            </a:r>
            <a:endParaRPr lang="en-US" sz="1300" dirty="0"/>
          </a:p>
        </p:txBody>
      </p:sp>
      <p:sp>
        <p:nvSpPr>
          <p:cNvPr id="32" name="Shape 30"/>
          <p:cNvSpPr/>
          <p:nvPr/>
        </p:nvSpPr>
        <p:spPr>
          <a:xfrm>
            <a:off x="7269480" y="3566160"/>
            <a:ext cx="1463040" cy="548640"/>
          </a:xfrm>
          <a:prstGeom prst="rect">
            <a:avLst/>
          </a:prstGeom>
          <a:solidFill>
            <a:srgbClr val="D2542B"/>
          </a:solidFill>
          <a:ln w="12700">
            <a:solidFill>
              <a:srgbClr val="FFFFFF"/>
            </a:solidFill>
            <a:prstDash val="solid"/>
          </a:ln>
        </p:spPr>
      </p:sp>
      <p:sp>
        <p:nvSpPr>
          <p:cNvPr id="33" name="Text 31"/>
          <p:cNvSpPr txBox="1"/>
          <p:nvPr/>
        </p:nvSpPr>
        <p:spPr>
          <a:xfrm>
            <a:off x="7269480" y="3566160"/>
            <a:ext cx="14630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p>
        </p:txBody>
      </p:sp>
      <p:sp>
        <p:nvSpPr>
          <p:cNvPr id="34" name="Shape 32"/>
          <p:cNvSpPr/>
          <p:nvPr/>
        </p:nvSpPr>
        <p:spPr>
          <a:xfrm>
            <a:off x="548640" y="4526280"/>
            <a:ext cx="2606040" cy="1645920"/>
          </a:xfrm>
          <a:prstGeom prst="rect">
            <a:avLst/>
          </a:prstGeom>
          <a:solidFill>
            <a:srgbClr val="EEF3F1"/>
          </a:solidFill>
          <a:ln w="12700">
            <a:solidFill>
              <a:srgbClr val="EEF3F1"/>
            </a:solidFill>
            <a:prstDash val="solid"/>
          </a:ln>
        </p:spPr>
      </p:sp>
      <p:sp>
        <p:nvSpPr>
          <p:cNvPr id="35" name="Text 33"/>
          <p:cNvSpPr txBox="1"/>
          <p:nvPr/>
        </p:nvSpPr>
        <p:spPr>
          <a:xfrm>
            <a:off x="731520" y="4617720"/>
            <a:ext cx="548640" cy="548640"/>
          </a:xfrm>
          <a:prstGeom prst="rect">
            <a:avLst/>
          </a:prstGeom>
          <a:noFill/>
          <a:ln/>
        </p:spPr>
        <p:txBody>
          <a:bodyPr wrap="square" lIns="0" tIns="0" rIns="0" bIns="0" rtlCol="0" anchor="ctr"/>
          <a:lstStyle/>
          <a:p>
            <a:pPr indent="0" marL="0">
              <a:buNone/>
            </a:pPr>
            <a:r>
              <a:rPr lang="en-US" sz="2600" b="1" dirty="0">
                <a:solidFill>
                  <a:srgbClr val="0E5E5A"/>
                </a:solidFill>
                <a:latin typeface="Cambria" pitchFamily="34" charset="0"/>
                <a:ea typeface="Cambria" pitchFamily="34" charset="-122"/>
                <a:cs typeface="Cambria" pitchFamily="34" charset="-120"/>
              </a:rPr>
              <a:t>1</a:t>
            </a:r>
            <a:endParaRPr lang="en-US" sz="2600" dirty="0"/>
          </a:p>
        </p:txBody>
      </p:sp>
      <p:sp>
        <p:nvSpPr>
          <p:cNvPr id="36" name="Text 34"/>
          <p:cNvSpPr txBox="1"/>
          <p:nvPr/>
        </p:nvSpPr>
        <p:spPr>
          <a:xfrm>
            <a:off x="1280160" y="4681728"/>
            <a:ext cx="1737360" cy="411480"/>
          </a:xfrm>
          <a:prstGeom prst="rect">
            <a:avLst/>
          </a:prstGeom>
          <a:noFill/>
          <a:ln/>
        </p:spPr>
        <p:txBody>
          <a:bodyPr wrap="square" lIns="0" tIns="0" rIns="0" bIns="0" rtlCol="0" anchor="ctr"/>
          <a:lstStyle/>
          <a:p>
            <a:pPr indent="0" marL="0">
              <a:buNone/>
            </a:pPr>
            <a:r>
              <a:rPr lang="en-US" sz="1600" b="1" dirty="0">
                <a:solidFill>
                  <a:srgbClr val="1E2B2F"/>
                </a:solidFill>
                <a:latin typeface="Calibri" pitchFamily="34" charset="0"/>
                <a:ea typeface="Calibri" pitchFamily="34" charset="-122"/>
                <a:cs typeface="Calibri" pitchFamily="34" charset="-120"/>
              </a:rPr>
              <a:t>Choose</a:t>
            </a:r>
            <a:endParaRPr lang="en-US" sz="1600" dirty="0"/>
          </a:p>
        </p:txBody>
      </p:sp>
      <p:sp>
        <p:nvSpPr>
          <p:cNvPr id="37" name="Text 35"/>
          <p:cNvSpPr txBox="1"/>
          <p:nvPr/>
        </p:nvSpPr>
        <p:spPr>
          <a:xfrm>
            <a:off x="731520" y="5212080"/>
            <a:ext cx="2286000" cy="868680"/>
          </a:xfrm>
          <a:prstGeom prst="rect">
            <a:avLst/>
          </a:prstGeom>
          <a:noFill/>
          <a:ln/>
        </p:spPr>
        <p:txBody>
          <a:bodyPr wrap="square" lIns="0" tIns="0" rIns="0" bIns="0" rtlCol="0" anchor="t"/>
          <a:lstStyle/>
          <a:p>
            <a:pPr indent="0" marL="0">
              <a:buNone/>
            </a:pPr>
            <a:r>
              <a:rPr lang="en-US" sz="1300" dirty="0">
                <a:solidFill>
                  <a:srgbClr val="5C6B6E"/>
                </a:solidFill>
                <a:latin typeface="Calibri" pitchFamily="34" charset="0"/>
                <a:ea typeface="Calibri" pitchFamily="34" charset="-122"/>
                <a:cs typeface="Calibri" pitchFamily="34" charset="-120"/>
              </a:rPr>
              <a:t>lowest mean error on folds 2011 and 2016 only</a:t>
            </a:r>
            <a:endParaRPr lang="en-US" sz="1300" dirty="0"/>
          </a:p>
        </p:txBody>
      </p:sp>
      <p:sp>
        <p:nvSpPr>
          <p:cNvPr id="38" name="Shape 36"/>
          <p:cNvSpPr/>
          <p:nvPr/>
        </p:nvSpPr>
        <p:spPr>
          <a:xfrm>
            <a:off x="3355848" y="4526280"/>
            <a:ext cx="2606040" cy="1645920"/>
          </a:xfrm>
          <a:prstGeom prst="rect">
            <a:avLst/>
          </a:prstGeom>
          <a:solidFill>
            <a:srgbClr val="EEF3F1"/>
          </a:solidFill>
          <a:ln w="12700">
            <a:solidFill>
              <a:srgbClr val="EEF3F1"/>
            </a:solidFill>
            <a:prstDash val="solid"/>
          </a:ln>
        </p:spPr>
      </p:sp>
      <p:sp>
        <p:nvSpPr>
          <p:cNvPr id="39" name="Text 37"/>
          <p:cNvSpPr txBox="1"/>
          <p:nvPr/>
        </p:nvSpPr>
        <p:spPr>
          <a:xfrm>
            <a:off x="3538728" y="4617720"/>
            <a:ext cx="548640" cy="548640"/>
          </a:xfrm>
          <a:prstGeom prst="rect">
            <a:avLst/>
          </a:prstGeom>
          <a:noFill/>
          <a:ln/>
        </p:spPr>
        <p:txBody>
          <a:bodyPr wrap="square" lIns="0" tIns="0" rIns="0" bIns="0" rtlCol="0" anchor="ctr"/>
          <a:lstStyle/>
          <a:p>
            <a:pPr indent="0" marL="0">
              <a:buNone/>
            </a:pPr>
            <a:r>
              <a:rPr lang="en-US" sz="2600" b="1" dirty="0">
                <a:solidFill>
                  <a:srgbClr val="0E5E5A"/>
                </a:solidFill>
                <a:latin typeface="Cambria" pitchFamily="34" charset="0"/>
                <a:ea typeface="Cambria" pitchFamily="34" charset="-122"/>
                <a:cs typeface="Cambria" pitchFamily="34" charset="-120"/>
              </a:rPr>
              <a:t>2</a:t>
            </a:r>
            <a:endParaRPr lang="en-US" sz="2600" dirty="0"/>
          </a:p>
        </p:txBody>
      </p:sp>
      <p:sp>
        <p:nvSpPr>
          <p:cNvPr id="40" name="Text 38"/>
          <p:cNvSpPr txBox="1"/>
          <p:nvPr/>
        </p:nvSpPr>
        <p:spPr>
          <a:xfrm>
            <a:off x="4087368" y="4681728"/>
            <a:ext cx="1737360" cy="411480"/>
          </a:xfrm>
          <a:prstGeom prst="rect">
            <a:avLst/>
          </a:prstGeom>
          <a:noFill/>
          <a:ln/>
        </p:spPr>
        <p:txBody>
          <a:bodyPr wrap="square" lIns="0" tIns="0" rIns="0" bIns="0" rtlCol="0" anchor="ctr"/>
          <a:lstStyle/>
          <a:p>
            <a:pPr indent="0" marL="0">
              <a:buNone/>
            </a:pPr>
            <a:r>
              <a:rPr lang="en-US" sz="1600" b="1" dirty="0">
                <a:solidFill>
                  <a:srgbClr val="1E2B2F"/>
                </a:solidFill>
                <a:latin typeface="Calibri" pitchFamily="34" charset="0"/>
                <a:ea typeface="Calibri" pitchFamily="34" charset="-122"/>
                <a:cs typeface="Calibri" pitchFamily="34" charset="-120"/>
              </a:rPr>
              <a:t>Freeze</a:t>
            </a:r>
            <a:endParaRPr lang="en-US" sz="1600" dirty="0"/>
          </a:p>
        </p:txBody>
      </p:sp>
      <p:sp>
        <p:nvSpPr>
          <p:cNvPr id="41" name="Text 39"/>
          <p:cNvSpPr txBox="1"/>
          <p:nvPr/>
        </p:nvSpPr>
        <p:spPr>
          <a:xfrm>
            <a:off x="3538728" y="5212080"/>
            <a:ext cx="2286000" cy="868680"/>
          </a:xfrm>
          <a:prstGeom prst="rect">
            <a:avLst/>
          </a:prstGeom>
          <a:noFill/>
          <a:ln/>
        </p:spPr>
        <p:txBody>
          <a:bodyPr wrap="square" lIns="0" tIns="0" rIns="0" bIns="0" rtlCol="0" anchor="t"/>
          <a:lstStyle/>
          <a:p>
            <a:pPr indent="0" marL="0">
              <a:buNone/>
            </a:pPr>
            <a:r>
              <a:rPr lang="en-US" sz="1300" dirty="0">
                <a:solidFill>
                  <a:srgbClr val="5C6B6E"/>
                </a:solidFill>
                <a:latin typeface="Calibri" pitchFamily="34" charset="0"/>
                <a:ea typeface="Calibri" pitchFamily="34" charset="-122"/>
                <a:cs typeface="Calibri" pitchFamily="34" charset="-120"/>
              </a:rPr>
              <a:t>method fixed before looking at 2021</a:t>
            </a:r>
            <a:endParaRPr lang="en-US" sz="1300" dirty="0"/>
          </a:p>
        </p:txBody>
      </p:sp>
      <p:sp>
        <p:nvSpPr>
          <p:cNvPr id="42" name="Shape 40"/>
          <p:cNvSpPr/>
          <p:nvPr/>
        </p:nvSpPr>
        <p:spPr>
          <a:xfrm>
            <a:off x="6163056" y="4526280"/>
            <a:ext cx="2606040" cy="1645920"/>
          </a:xfrm>
          <a:prstGeom prst="rect">
            <a:avLst/>
          </a:prstGeom>
          <a:solidFill>
            <a:srgbClr val="EEF3F1"/>
          </a:solidFill>
          <a:ln w="12700">
            <a:solidFill>
              <a:srgbClr val="EEF3F1"/>
            </a:solidFill>
            <a:prstDash val="solid"/>
          </a:ln>
        </p:spPr>
      </p:sp>
      <p:sp>
        <p:nvSpPr>
          <p:cNvPr id="43" name="Text 41"/>
          <p:cNvSpPr txBox="1"/>
          <p:nvPr/>
        </p:nvSpPr>
        <p:spPr>
          <a:xfrm>
            <a:off x="6345936" y="4617720"/>
            <a:ext cx="548640" cy="548640"/>
          </a:xfrm>
          <a:prstGeom prst="rect">
            <a:avLst/>
          </a:prstGeom>
          <a:noFill/>
          <a:ln/>
        </p:spPr>
        <p:txBody>
          <a:bodyPr wrap="square" lIns="0" tIns="0" rIns="0" bIns="0" rtlCol="0" anchor="ctr"/>
          <a:lstStyle/>
          <a:p>
            <a:pPr indent="0" marL="0">
              <a:buNone/>
            </a:pPr>
            <a:r>
              <a:rPr lang="en-US" sz="2600" b="1" dirty="0">
                <a:solidFill>
                  <a:srgbClr val="0E5E5A"/>
                </a:solidFill>
                <a:latin typeface="Cambria" pitchFamily="34" charset="0"/>
                <a:ea typeface="Cambria" pitchFamily="34" charset="-122"/>
                <a:cs typeface="Cambria" pitchFamily="34" charset="-120"/>
              </a:rPr>
              <a:t>3</a:t>
            </a:r>
            <a:endParaRPr lang="en-US" sz="2600" dirty="0"/>
          </a:p>
        </p:txBody>
      </p:sp>
      <p:sp>
        <p:nvSpPr>
          <p:cNvPr id="44" name="Text 42"/>
          <p:cNvSpPr txBox="1"/>
          <p:nvPr/>
        </p:nvSpPr>
        <p:spPr>
          <a:xfrm>
            <a:off x="6894576" y="4681728"/>
            <a:ext cx="1737360" cy="411480"/>
          </a:xfrm>
          <a:prstGeom prst="rect">
            <a:avLst/>
          </a:prstGeom>
          <a:noFill/>
          <a:ln/>
        </p:spPr>
        <p:txBody>
          <a:bodyPr wrap="square" lIns="0" tIns="0" rIns="0" bIns="0" rtlCol="0" anchor="ctr"/>
          <a:lstStyle/>
          <a:p>
            <a:pPr indent="0" marL="0">
              <a:buNone/>
            </a:pPr>
            <a:r>
              <a:rPr lang="en-US" sz="1600" b="1" dirty="0">
                <a:solidFill>
                  <a:srgbClr val="1E2B2F"/>
                </a:solidFill>
                <a:latin typeface="Calibri" pitchFamily="34" charset="0"/>
                <a:ea typeface="Calibri" pitchFamily="34" charset="-122"/>
                <a:cs typeface="Calibri" pitchFamily="34" charset="-120"/>
              </a:rPr>
              <a:t>Test once</a:t>
            </a:r>
            <a:endParaRPr lang="en-US" sz="1600" dirty="0"/>
          </a:p>
        </p:txBody>
      </p:sp>
      <p:sp>
        <p:nvSpPr>
          <p:cNvPr id="45" name="Text 43"/>
          <p:cNvSpPr txBox="1"/>
          <p:nvPr/>
        </p:nvSpPr>
        <p:spPr>
          <a:xfrm>
            <a:off x="6345936" y="5212080"/>
            <a:ext cx="2286000" cy="868680"/>
          </a:xfrm>
          <a:prstGeom prst="rect">
            <a:avLst/>
          </a:prstGeom>
          <a:noFill/>
          <a:ln/>
        </p:spPr>
        <p:txBody>
          <a:bodyPr wrap="square" lIns="0" tIns="0" rIns="0" bIns="0" rtlCol="0" anchor="t"/>
          <a:lstStyle/>
          <a:p>
            <a:pPr indent="0" marL="0">
              <a:buNone/>
            </a:pPr>
            <a:r>
              <a:rPr lang="en-US" sz="1300" dirty="0">
                <a:solidFill>
                  <a:srgbClr val="5C6B6E"/>
                </a:solidFill>
                <a:latin typeface="Calibri" pitchFamily="34" charset="0"/>
                <a:ea typeface="Calibri" pitchFamily="34" charset="-122"/>
                <a:cs typeface="Calibri" pitchFamily="34" charset="-120"/>
              </a:rPr>
              <a:t>report 2021 error, good or bad</a:t>
            </a:r>
            <a:endParaRPr lang="en-US" sz="1300" dirty="0"/>
          </a:p>
        </p:txBody>
      </p:sp>
      <p:sp>
        <p:nvSpPr>
          <p:cNvPr id="46" name="Shape 44"/>
          <p:cNvSpPr/>
          <p:nvPr/>
        </p:nvSpPr>
        <p:spPr>
          <a:xfrm>
            <a:off x="8970264" y="4526280"/>
            <a:ext cx="2606040" cy="1645920"/>
          </a:xfrm>
          <a:prstGeom prst="rect">
            <a:avLst/>
          </a:prstGeom>
          <a:solidFill>
            <a:srgbClr val="EEF3F1"/>
          </a:solidFill>
          <a:ln w="12700">
            <a:solidFill>
              <a:srgbClr val="EEF3F1"/>
            </a:solidFill>
            <a:prstDash val="solid"/>
          </a:ln>
        </p:spPr>
      </p:sp>
      <p:sp>
        <p:nvSpPr>
          <p:cNvPr id="47" name="Text 45"/>
          <p:cNvSpPr txBox="1"/>
          <p:nvPr/>
        </p:nvSpPr>
        <p:spPr>
          <a:xfrm>
            <a:off x="9153144" y="4617720"/>
            <a:ext cx="548640" cy="548640"/>
          </a:xfrm>
          <a:prstGeom prst="rect">
            <a:avLst/>
          </a:prstGeom>
          <a:noFill/>
          <a:ln/>
        </p:spPr>
        <p:txBody>
          <a:bodyPr wrap="square" lIns="0" tIns="0" rIns="0" bIns="0" rtlCol="0" anchor="ctr"/>
          <a:lstStyle/>
          <a:p>
            <a:pPr indent="0" marL="0">
              <a:buNone/>
            </a:pPr>
            <a:r>
              <a:rPr lang="en-US" sz="2600" b="1" dirty="0">
                <a:solidFill>
                  <a:srgbClr val="0E5E5A"/>
                </a:solidFill>
                <a:latin typeface="Cambria" pitchFamily="34" charset="0"/>
                <a:ea typeface="Cambria" pitchFamily="34" charset="-122"/>
                <a:cs typeface="Cambria" pitchFamily="34" charset="-120"/>
              </a:rPr>
              <a:t>4</a:t>
            </a:r>
            <a:endParaRPr lang="en-US" sz="2600" dirty="0"/>
          </a:p>
        </p:txBody>
      </p:sp>
      <p:sp>
        <p:nvSpPr>
          <p:cNvPr id="48" name="Text 46"/>
          <p:cNvSpPr txBox="1"/>
          <p:nvPr/>
        </p:nvSpPr>
        <p:spPr>
          <a:xfrm>
            <a:off x="9701784" y="4681728"/>
            <a:ext cx="1737360" cy="411480"/>
          </a:xfrm>
          <a:prstGeom prst="rect">
            <a:avLst/>
          </a:prstGeom>
          <a:noFill/>
          <a:ln/>
        </p:spPr>
        <p:txBody>
          <a:bodyPr wrap="square" lIns="0" tIns="0" rIns="0" bIns="0" rtlCol="0" anchor="ctr"/>
          <a:lstStyle/>
          <a:p>
            <a:pPr indent="0" marL="0">
              <a:buNone/>
            </a:pPr>
            <a:r>
              <a:rPr lang="en-US" sz="1600" b="1" dirty="0">
                <a:solidFill>
                  <a:srgbClr val="1E2B2F"/>
                </a:solidFill>
                <a:latin typeface="Calibri" pitchFamily="34" charset="0"/>
                <a:ea typeface="Calibri" pitchFamily="34" charset="-122"/>
                <a:cs typeface="Calibri" pitchFamily="34" charset="-120"/>
              </a:rPr>
              <a:t>Refit</a:t>
            </a:r>
            <a:endParaRPr lang="en-US" sz="1600" dirty="0"/>
          </a:p>
        </p:txBody>
      </p:sp>
      <p:sp>
        <p:nvSpPr>
          <p:cNvPr id="49" name="Text 47"/>
          <p:cNvSpPr txBox="1"/>
          <p:nvPr/>
        </p:nvSpPr>
        <p:spPr>
          <a:xfrm>
            <a:off x="9153144" y="5212080"/>
            <a:ext cx="2286000" cy="868680"/>
          </a:xfrm>
          <a:prstGeom prst="rect">
            <a:avLst/>
          </a:prstGeom>
          <a:noFill/>
          <a:ln/>
        </p:spPr>
        <p:txBody>
          <a:bodyPr wrap="square" lIns="0" tIns="0" rIns="0" bIns="0" rtlCol="0" anchor="t"/>
          <a:lstStyle/>
          <a:p>
            <a:pPr indent="0" marL="0">
              <a:buNone/>
            </a:pPr>
            <a:r>
              <a:rPr lang="en-US" sz="1300" dirty="0">
                <a:solidFill>
                  <a:srgbClr val="5C6B6E"/>
                </a:solidFill>
                <a:latin typeface="Calibri" pitchFamily="34" charset="0"/>
                <a:ea typeface="Calibri" pitchFamily="34" charset="-122"/>
                <a:cs typeface="Calibri" pitchFamily="34" charset="-120"/>
              </a:rPr>
              <a:t>same method on all data through 2021 for 2026</a:t>
            </a:r>
            <a:endParaRPr lang="en-US" sz="1300" dirty="0"/>
          </a:p>
        </p:txBody>
      </p:sp>
      <p:sp>
        <p:nvSpPr>
          <p:cNvPr id="50" name="Text 48"/>
          <p:cNvSpPr txBox="1"/>
          <p:nvPr/>
        </p:nvSpPr>
        <p:spPr>
          <a:xfrm>
            <a:off x="7315200" y="2240280"/>
            <a:ext cx="4297680" cy="1828800"/>
          </a:xfrm>
          <a:prstGeom prst="rect">
            <a:avLst/>
          </a:prstGeom>
          <a:noFill/>
          <a:ln/>
        </p:spPr>
        <p:txBody>
          <a:bodyPr wrap="square" lIns="0" tIns="0" rIns="0" bIns="0" rtlCol="0" anchor="t"/>
          <a:lstStyle/>
          <a:p>
            <a:pPr indent="0" marL="0">
              <a:buNone/>
            </a:pPr>
            <a:r>
              <a:rPr lang="en-US" sz="1400" i="1" dirty="0">
                <a:solidFill>
                  <a:srgbClr val="D2542B"/>
                </a:solidFill>
                <a:latin typeface="Calibri" pitchFamily="34" charset="0"/>
                <a:ea typeface="Calibri" pitchFamily="34" charset="-122"/>
                <a:cs typeface="Calibri" pitchFamily="34" charset="-120"/>
              </a:rPr>
              <a:t>Our earlier prototype chose its models by their 2021 scores. We corrected this: choosing on the test year makes the reported error optimistic.</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Turnout: the pattern was predictable, the level was not</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Error in predicting relative turnout (points), by method</a:t>
            </a:r>
            <a:endParaRPr lang="en-US" sz="1500" dirty="0"/>
          </a:p>
        </p:txBody>
      </p:sp>
      <p:sp>
        <p:nvSpPr>
          <p:cNvPr id="4" name="Shape 2"/>
          <p:cNvSpPr/>
          <p:nvPr/>
        </p:nvSpPr>
        <p:spPr>
          <a:xfrm>
            <a:off x="9631375" y="6382512"/>
            <a:ext cx="2011680" cy="310896"/>
          </a:xfrm>
          <a:prstGeom prst="roundRect">
            <a:avLst>
              <a:gd name="adj" fmla="val 50000"/>
            </a:avLst>
          </a:prstGeom>
          <a:solidFill>
            <a:srgbClr val="EEF3F1"/>
          </a:solidFill>
          <a:ln w="12700">
            <a:solidFill>
              <a:srgbClr val="0E5E5A"/>
            </a:solidFill>
            <a:prstDash val="solid"/>
          </a:ln>
        </p:spPr>
      </p:sp>
      <p:sp>
        <p:nvSpPr>
          <p:cNvPr id="5" name="Text 3"/>
          <p:cNvSpPr txBox="1"/>
          <p:nvPr/>
        </p:nvSpPr>
        <p:spPr>
          <a:xfrm>
            <a:off x="9631375" y="6382512"/>
            <a:ext cx="2011680" cy="310896"/>
          </a:xfrm>
          <a:prstGeom prst="rect">
            <a:avLst/>
          </a:prstGeom>
          <a:noFill/>
          <a:ln/>
        </p:spPr>
        <p:txBody>
          <a:bodyPr wrap="square" lIns="0" tIns="0" rIns="0" bIns="0" rtlCol="0" anchor="ctr"/>
          <a:lstStyle/>
          <a:p>
            <a:pPr algn="ctr" indent="0" marL="0">
              <a:buNone/>
            </a:pPr>
            <a:r>
              <a:rPr lang="en-US" sz="1100" b="1" dirty="0">
                <a:solidFill>
                  <a:srgbClr val="0E5E5A"/>
                </a:solidFill>
                <a:latin typeface="Calibri" pitchFamily="34" charset="0"/>
                <a:ea typeface="Calibri" pitchFamily="34" charset="-122"/>
                <a:cs typeface="Calibri" pitchFamily="34" charset="-120"/>
              </a:rPr>
              <a:t>Validated evidence</a:t>
            </a:r>
            <a:endParaRPr lang="en-US" sz="1100" dirty="0"/>
          </a:p>
        </p:txBody>
      </p:sp>
      <p:graphicFrame>
        <p:nvGraphicFramePr>
          <p:cNvPr id="6" name="Chart 0" descr=""/>
          <p:cNvGraphicFramePr/>
          <p:nvPr/>
        </p:nvGraphicFramePr>
        <p:xfrm>
          <a:off x="548640" y="1691640"/>
          <a:ext cx="6583680" cy="4389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98080" y="1737360"/>
            <a:ext cx="4114800" cy="2057400"/>
          </a:xfrm>
          <a:prstGeom prst="rect">
            <a:avLst/>
          </a:prstGeom>
          <a:solidFill>
            <a:srgbClr val="FBEDE7"/>
          </a:solidFill>
          <a:ln w="12700">
            <a:solidFill>
              <a:srgbClr val="FBEDE7"/>
            </a:solidFill>
            <a:prstDash val="solid"/>
          </a:ln>
        </p:spPr>
      </p:sp>
      <p:sp>
        <p:nvSpPr>
          <p:cNvPr id="8" name="Text 5"/>
          <p:cNvSpPr txBox="1"/>
          <p:nvPr/>
        </p:nvSpPr>
        <p:spPr>
          <a:xfrm>
            <a:off x="7726680" y="1828800"/>
            <a:ext cx="3657600" cy="685800"/>
          </a:xfrm>
          <a:prstGeom prst="rect">
            <a:avLst/>
          </a:prstGeom>
          <a:noFill/>
          <a:ln/>
        </p:spPr>
        <p:txBody>
          <a:bodyPr wrap="square" lIns="0" tIns="0" rIns="0" bIns="0" rtlCol="0" anchor="ctr"/>
          <a:lstStyle/>
          <a:p>
            <a:pPr indent="0" marL="0">
              <a:buNone/>
            </a:pPr>
            <a:r>
              <a:rPr lang="en-US" sz="3600" b="1" dirty="0">
                <a:solidFill>
                  <a:srgbClr val="D2542B"/>
                </a:solidFill>
                <a:latin typeface="Cambria" pitchFamily="34" charset="0"/>
                <a:ea typeface="Cambria" pitchFamily="34" charset="-122"/>
                <a:cs typeface="Cambria" pitchFamily="34" charset="-120"/>
              </a:rPr>
              <a:t>8.20 pts</a:t>
            </a:r>
            <a:endParaRPr lang="en-US" sz="3600" dirty="0"/>
          </a:p>
        </p:txBody>
      </p:sp>
      <p:sp>
        <p:nvSpPr>
          <p:cNvPr id="9" name="Text 6"/>
          <p:cNvSpPr txBox="1"/>
          <p:nvPr/>
        </p:nvSpPr>
        <p:spPr>
          <a:xfrm>
            <a:off x="7726680" y="2560320"/>
            <a:ext cx="3657600" cy="11430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Absolute turnout error, 2021. Includes the province-wide fall: predictions were 8.2 points too high, as for every method.</a:t>
            </a:r>
            <a:endParaRPr lang="en-US" sz="1300" dirty="0"/>
          </a:p>
        </p:txBody>
      </p:sp>
      <p:sp>
        <p:nvSpPr>
          <p:cNvPr id="10" name="Shape 7"/>
          <p:cNvSpPr/>
          <p:nvPr/>
        </p:nvSpPr>
        <p:spPr>
          <a:xfrm>
            <a:off x="7498080" y="4069080"/>
            <a:ext cx="4114800" cy="2103120"/>
          </a:xfrm>
          <a:prstGeom prst="rect">
            <a:avLst/>
          </a:prstGeom>
          <a:solidFill>
            <a:srgbClr val="EEF3F1"/>
          </a:solidFill>
          <a:ln w="12700">
            <a:solidFill>
              <a:srgbClr val="EEF3F1"/>
            </a:solidFill>
            <a:prstDash val="solid"/>
          </a:ln>
        </p:spPr>
      </p:sp>
      <p:sp>
        <p:nvSpPr>
          <p:cNvPr id="11" name="Text 8"/>
          <p:cNvSpPr txBox="1"/>
          <p:nvPr/>
        </p:nvSpPr>
        <p:spPr>
          <a:xfrm>
            <a:off x="7726680" y="4160520"/>
            <a:ext cx="3657600" cy="685800"/>
          </a:xfrm>
          <a:prstGeom prst="rect">
            <a:avLst/>
          </a:prstGeom>
          <a:noFill/>
          <a:ln/>
        </p:spPr>
        <p:txBody>
          <a:bodyPr wrap="square" lIns="0" tIns="0" rIns="0" bIns="0" rtlCol="0" anchor="ctr"/>
          <a:lstStyle/>
          <a:p>
            <a:pPr indent="0" marL="0">
              <a:buNone/>
            </a:pPr>
            <a:r>
              <a:rPr lang="en-US" sz="3600" b="1" dirty="0">
                <a:solidFill>
                  <a:srgbClr val="0E5E5A"/>
                </a:solidFill>
                <a:latin typeface="Cambria" pitchFamily="34" charset="0"/>
                <a:ea typeface="Cambria" pitchFamily="34" charset="-122"/>
                <a:cs typeface="Cambria" pitchFamily="34" charset="-120"/>
              </a:rPr>
              <a:t>2.08 pts</a:t>
            </a:r>
            <a:endParaRPr lang="en-US" sz="3600" dirty="0"/>
          </a:p>
        </p:txBody>
      </p:sp>
      <p:sp>
        <p:nvSpPr>
          <p:cNvPr id="12" name="Text 9"/>
          <p:cNvSpPr txBox="1"/>
          <p:nvPr/>
        </p:nvSpPr>
        <p:spPr>
          <a:xfrm>
            <a:off x="7726680" y="4892040"/>
            <a:ext cx="3657600" cy="118872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Relative-pattern error, 2021 (r = 0.77). Relative persistence won validation and also won the locked test; Census 2011 added nothing.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Party support: 'no change' is hard to beat</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2021 locked-test error by party (percentage points of vote share)</a:t>
            </a:r>
            <a:endParaRPr lang="en-US" sz="1500" dirty="0"/>
          </a:p>
        </p:txBody>
      </p:sp>
      <p:sp>
        <p:nvSpPr>
          <p:cNvPr id="4" name="Shape 2"/>
          <p:cNvSpPr/>
          <p:nvPr/>
        </p:nvSpPr>
        <p:spPr>
          <a:xfrm>
            <a:off x="9631375" y="6382512"/>
            <a:ext cx="2011680" cy="310896"/>
          </a:xfrm>
          <a:prstGeom prst="roundRect">
            <a:avLst>
              <a:gd name="adj" fmla="val 50000"/>
            </a:avLst>
          </a:prstGeom>
          <a:solidFill>
            <a:srgbClr val="EEF3F1"/>
          </a:solidFill>
          <a:ln w="12700">
            <a:solidFill>
              <a:srgbClr val="0E5E5A"/>
            </a:solidFill>
            <a:prstDash val="solid"/>
          </a:ln>
        </p:spPr>
      </p:sp>
      <p:sp>
        <p:nvSpPr>
          <p:cNvPr id="5" name="Text 3"/>
          <p:cNvSpPr txBox="1"/>
          <p:nvPr/>
        </p:nvSpPr>
        <p:spPr>
          <a:xfrm>
            <a:off x="9631375" y="6382512"/>
            <a:ext cx="2011680" cy="310896"/>
          </a:xfrm>
          <a:prstGeom prst="rect">
            <a:avLst/>
          </a:prstGeom>
          <a:noFill/>
          <a:ln/>
        </p:spPr>
        <p:txBody>
          <a:bodyPr wrap="square" lIns="0" tIns="0" rIns="0" bIns="0" rtlCol="0" anchor="ctr"/>
          <a:lstStyle/>
          <a:p>
            <a:pPr algn="ctr" indent="0" marL="0">
              <a:buNone/>
            </a:pPr>
            <a:r>
              <a:rPr lang="en-US" sz="1100" b="1" dirty="0">
                <a:solidFill>
                  <a:srgbClr val="0E5E5A"/>
                </a:solidFill>
                <a:latin typeface="Calibri" pitchFamily="34" charset="0"/>
                <a:ea typeface="Calibri" pitchFamily="34" charset="-122"/>
                <a:cs typeface="Calibri" pitchFamily="34" charset="-120"/>
              </a:rPr>
              <a:t>Validated evidence</a:t>
            </a:r>
            <a:endParaRPr lang="en-US" sz="1100" dirty="0"/>
          </a:p>
        </p:txBody>
      </p:sp>
      <p:graphicFrame>
        <p:nvGraphicFramePr>
          <p:cNvPr id="6" name="Chart 0" descr=""/>
          <p:cNvGraphicFramePr/>
          <p:nvPr/>
        </p:nvGraphicFramePr>
        <p:xfrm>
          <a:off x="548640" y="1691640"/>
          <a:ext cx="6949440" cy="43891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863840" y="1828800"/>
            <a:ext cx="3749040" cy="731520"/>
          </a:xfrm>
          <a:prstGeom prst="rect">
            <a:avLst/>
          </a:prstGeom>
          <a:noFill/>
          <a:ln/>
        </p:spPr>
        <p:txBody>
          <a:bodyPr wrap="square" lIns="0" tIns="0" rIns="0" bIns="0" rtlCol="0" anchor="ctr"/>
          <a:lstStyle/>
          <a:p>
            <a:pPr indent="0" marL="0">
              <a:buNone/>
            </a:pPr>
            <a:r>
              <a:rPr lang="en-US" sz="4000" b="1" dirty="0">
                <a:solidFill>
                  <a:srgbClr val="0E5E5A"/>
                </a:solidFill>
                <a:latin typeface="Cambria" pitchFamily="34" charset="0"/>
                <a:ea typeface="Cambria" pitchFamily="34" charset="-122"/>
                <a:cs typeface="Cambria" pitchFamily="34" charset="-120"/>
              </a:rPr>
              <a:t>2.69 vs 2.93</a:t>
            </a:r>
            <a:endParaRPr lang="en-US" sz="4000" dirty="0"/>
          </a:p>
        </p:txBody>
      </p:sp>
      <p:sp>
        <p:nvSpPr>
          <p:cNvPr id="8" name="Text 5"/>
          <p:cNvSpPr txBox="1"/>
          <p:nvPr/>
        </p:nvSpPr>
        <p:spPr>
          <a:xfrm>
            <a:off x="7863840" y="2578608"/>
            <a:ext cx="374904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overall error: validated composite vs no-change baseline (RMSE 4.02 vs 4.47)</a:t>
            </a:r>
            <a:endParaRPr lang="en-US" sz="1300" dirty="0"/>
          </a:p>
        </p:txBody>
      </p:sp>
      <p:sp>
        <p:nvSpPr>
          <p:cNvPr id="9" name="Text 6"/>
          <p:cNvSpPr txBox="1"/>
          <p:nvPr/>
        </p:nvSpPr>
        <p:spPr>
          <a:xfrm>
            <a:off x="7863840" y="3337560"/>
            <a:ext cx="3749040" cy="731520"/>
          </a:xfrm>
          <a:prstGeom prst="rect">
            <a:avLst/>
          </a:prstGeom>
          <a:noFill/>
          <a:ln/>
        </p:spPr>
        <p:txBody>
          <a:bodyPr wrap="square" lIns="0" tIns="0" rIns="0" bIns="0" rtlCol="0" anchor="ctr"/>
          <a:lstStyle/>
          <a:p>
            <a:pPr indent="0" marL="0">
              <a:buNone/>
            </a:pPr>
            <a:r>
              <a:rPr lang="en-US" sz="4000" b="1" dirty="0">
                <a:solidFill>
                  <a:srgbClr val="0E5E5A"/>
                </a:solidFill>
                <a:latin typeface="Cambria" pitchFamily="34" charset="0"/>
                <a:ea typeface="Cambria" pitchFamily="34" charset="-122"/>
                <a:cs typeface="Cambria" pitchFamily="34" charset="-120"/>
              </a:rPr>
              <a:t>33 of 33</a:t>
            </a:r>
            <a:endParaRPr lang="en-US" sz="4000" dirty="0"/>
          </a:p>
        </p:txBody>
      </p:sp>
      <p:sp>
        <p:nvSpPr>
          <p:cNvPr id="10" name="Text 7"/>
          <p:cNvSpPr txBox="1"/>
          <p:nvPr/>
        </p:nvSpPr>
        <p:spPr>
          <a:xfrm>
            <a:off x="7863840" y="4087368"/>
            <a:ext cx="374904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largest party correct; the baseline also scores 33/33, so this is an easy test</a:t>
            </a:r>
            <a:endParaRPr lang="en-US" sz="1300" dirty="0"/>
          </a:p>
        </p:txBody>
      </p:sp>
      <p:sp>
        <p:nvSpPr>
          <p:cNvPr id="11" name="Text 8"/>
          <p:cNvSpPr txBox="1"/>
          <p:nvPr/>
        </p:nvSpPr>
        <p:spPr>
          <a:xfrm>
            <a:off x="7863840" y="4846320"/>
            <a:ext cx="3749040" cy="1371600"/>
          </a:xfrm>
          <a:prstGeom prst="rect">
            <a:avLst/>
          </a:prstGeom>
          <a:noFill/>
          <a:ln/>
        </p:spPr>
        <p:txBody>
          <a:bodyPr wrap="square" lIns="0" tIns="0" rIns="0" bIns="0" rtlCol="0" anchor="t"/>
          <a:lstStyle/>
          <a:p>
            <a:pPr indent="0" marL="0">
              <a:spcAft>
                <a:spcPts val="800"/>
              </a:spcAft>
              <a:buNone/>
            </a:pPr>
            <a:r>
              <a:rPr lang="en-US" sz="1300" b="1" dirty="0">
                <a:solidFill>
                  <a:srgbClr val="1E2B2F"/>
                </a:solidFill>
                <a:latin typeface="Calibri" pitchFamily="34" charset="0"/>
                <a:ea typeface="Calibri" pitchFamily="34" charset="-122"/>
                <a:cs typeface="Calibri" pitchFamily="34" charset="-120"/>
              </a:rPr>
              <a:t>Selected: </a:t>
            </a:r>
            <a:pPr indent="0" marL="0">
              <a:spcAft>
                <a:spcPts val="800"/>
              </a:spcAft>
              <a:buNone/>
            </a:pPr>
            <a:r>
              <a:rPr lang="en-US" sz="1300" dirty="0">
                <a:solidFill>
                  <a:srgbClr val="1E2B2F"/>
                </a:solidFill>
                <a:latin typeface="Calibri" pitchFamily="34" charset="0"/>
                <a:ea typeface="Calibri" pitchFamily="34" charset="-122"/>
                <a:cs typeface="Calibri" pitchFamily="34" charset="-120"/>
              </a:rPr>
              <a:t>no change for ANC, DA, UDM, EFF, ATM; random forest for OTHER. The prototype's 2.50 and 32/33 were chosen on 2021 and are not valid.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2026 turnout: one modelled pattern, three assumptions</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Each municipality keeps its 2021 relative position; only the provincial level changes</a:t>
            </a:r>
            <a:endParaRPr lang="en-US" sz="1500" dirty="0"/>
          </a:p>
        </p:txBody>
      </p:sp>
      <p:sp>
        <p:nvSpPr>
          <p:cNvPr id="4" name="Shape 2"/>
          <p:cNvSpPr/>
          <p:nvPr/>
        </p:nvSpPr>
        <p:spPr>
          <a:xfrm>
            <a:off x="9631375" y="6382512"/>
            <a:ext cx="2011680" cy="310896"/>
          </a:xfrm>
          <a:prstGeom prst="roundRect">
            <a:avLst>
              <a:gd name="adj" fmla="val 50000"/>
            </a:avLst>
          </a:prstGeom>
          <a:solidFill>
            <a:srgbClr val="FBEDE7"/>
          </a:solidFill>
          <a:ln w="12700">
            <a:solidFill>
              <a:srgbClr val="D2542B"/>
            </a:solidFill>
            <a:prstDash val="solid"/>
          </a:ln>
        </p:spPr>
      </p:sp>
      <p:sp>
        <p:nvSpPr>
          <p:cNvPr id="5" name="Text 3"/>
          <p:cNvSpPr txBox="1"/>
          <p:nvPr/>
        </p:nvSpPr>
        <p:spPr>
          <a:xfrm>
            <a:off x="9631375" y="6382512"/>
            <a:ext cx="2011680" cy="310896"/>
          </a:xfrm>
          <a:prstGeom prst="rect">
            <a:avLst/>
          </a:prstGeom>
          <a:noFill/>
          <a:ln/>
        </p:spPr>
        <p:txBody>
          <a:bodyPr wrap="square" lIns="0" tIns="0" rIns="0" bIns="0" rtlCol="0" anchor="ctr"/>
          <a:lstStyle/>
          <a:p>
            <a:pPr algn="ctr" indent="0" marL="0">
              <a:buNone/>
            </a:pPr>
            <a:r>
              <a:rPr lang="en-US" sz="1100" b="1" dirty="0">
                <a:solidFill>
                  <a:srgbClr val="D2542B"/>
                </a:solidFill>
                <a:latin typeface="Calibri" pitchFamily="34" charset="0"/>
                <a:ea typeface="Calibri" pitchFamily="34" charset="-122"/>
                <a:cs typeface="Calibri" pitchFamily="34" charset="-120"/>
              </a:rPr>
              <a:t>Scenario assumption</a:t>
            </a:r>
            <a:endParaRPr lang="en-US" sz="1100" dirty="0"/>
          </a:p>
        </p:txBody>
      </p:sp>
      <p:pic>
        <p:nvPicPr>
          <p:cNvPr id="6" name="Image 0" descr="/home/claude/repo/presentation/build/maps3.png">    </p:cNvPr>
          <p:cNvPicPr>
            <a:picLocks noChangeAspect="1"/>
          </p:cNvPicPr>
          <p:nvPr/>
        </p:nvPicPr>
        <p:blipFill>
          <a:blip r:embed="rId1"/>
          <a:stretch>
            <a:fillRect/>
          </a:stretch>
        </p:blipFill>
        <p:spPr>
          <a:xfrm>
            <a:off x="548640" y="1645920"/>
            <a:ext cx="11094415" cy="2734572"/>
          </a:xfrm>
          <a:prstGeom prst="rect">
            <a:avLst/>
          </a:prstGeom>
        </p:spPr>
      </p:pic>
      <p:sp>
        <p:nvSpPr>
          <p:cNvPr id="7" name="Text 4"/>
          <p:cNvSpPr txBox="1"/>
          <p:nvPr/>
        </p:nvSpPr>
        <p:spPr>
          <a:xfrm>
            <a:off x="548640" y="4709160"/>
            <a:ext cx="2560320" cy="594360"/>
          </a:xfrm>
          <a:prstGeom prst="rect">
            <a:avLst/>
          </a:prstGeom>
          <a:noFill/>
          <a:ln/>
        </p:spPr>
        <p:txBody>
          <a:bodyPr wrap="square" lIns="0" tIns="0" rIns="0" bIns="0" rtlCol="0" anchor="ctr"/>
          <a:lstStyle/>
          <a:p>
            <a:pPr indent="0" marL="0">
              <a:buNone/>
            </a:pPr>
            <a:r>
              <a:rPr lang="en-US" sz="3000" b="1" dirty="0">
                <a:solidFill>
                  <a:srgbClr val="0E5E5A"/>
                </a:solidFill>
                <a:latin typeface="Cambria" pitchFamily="34" charset="0"/>
                <a:ea typeface="Cambria" pitchFamily="34" charset="-122"/>
                <a:cs typeface="Cambria" pitchFamily="34" charset="-120"/>
              </a:rPr>
              <a:t>48.0%</a:t>
            </a:r>
            <a:endParaRPr lang="en-US" sz="3000" dirty="0"/>
          </a:p>
        </p:txBody>
      </p:sp>
      <p:sp>
        <p:nvSpPr>
          <p:cNvPr id="8" name="Text 5"/>
          <p:cNvSpPr txBox="1"/>
          <p:nvPr/>
        </p:nvSpPr>
        <p:spPr>
          <a:xfrm>
            <a:off x="548640" y="5303520"/>
            <a:ext cx="2560320" cy="457200"/>
          </a:xfrm>
          <a:prstGeom prst="rect">
            <a:avLst/>
          </a:prstGeom>
          <a:noFill/>
          <a:ln/>
        </p:spPr>
        <p:txBody>
          <a:bodyPr wrap="square" lIns="0" tIns="0" rIns="0" bIns="0" rtlCol="0" anchor="ctr"/>
          <a:lstStyle/>
          <a:p>
            <a:pPr indent="0" marL="0">
              <a:buNone/>
            </a:pPr>
            <a:r>
              <a:rPr lang="en-US" sz="1300" dirty="0">
                <a:solidFill>
                  <a:srgbClr val="1E2B2F"/>
                </a:solidFill>
                <a:latin typeface="Calibri" pitchFamily="34" charset="0"/>
                <a:ea typeface="Calibri" pitchFamily="34" charset="-122"/>
                <a:cs typeface="Calibri" pitchFamily="34" charset="-120"/>
              </a:rPr>
              <a:t>Repeat of 2021: about 1.51 m votes</a:t>
            </a:r>
            <a:endParaRPr lang="en-US" sz="1300" dirty="0"/>
          </a:p>
        </p:txBody>
      </p:sp>
      <p:sp>
        <p:nvSpPr>
          <p:cNvPr id="9" name="Text 6"/>
          <p:cNvSpPr txBox="1"/>
          <p:nvPr/>
        </p:nvSpPr>
        <p:spPr>
          <a:xfrm>
            <a:off x="3291840" y="4709160"/>
            <a:ext cx="2560320" cy="594360"/>
          </a:xfrm>
          <a:prstGeom prst="rect">
            <a:avLst/>
          </a:prstGeom>
          <a:noFill/>
          <a:ln/>
        </p:spPr>
        <p:txBody>
          <a:bodyPr wrap="square" lIns="0" tIns="0" rIns="0" bIns="0" rtlCol="0" anchor="ctr"/>
          <a:lstStyle/>
          <a:p>
            <a:pPr indent="0" marL="0">
              <a:buNone/>
            </a:pPr>
            <a:r>
              <a:rPr lang="en-US" sz="3000" b="1" dirty="0">
                <a:solidFill>
                  <a:srgbClr val="D2542B"/>
                </a:solidFill>
                <a:latin typeface="Cambria" pitchFamily="34" charset="0"/>
                <a:ea typeface="Cambria" pitchFamily="34" charset="-122"/>
                <a:cs typeface="Cambria" pitchFamily="34" charset="-120"/>
              </a:rPr>
              <a:t>52.1%</a:t>
            </a:r>
            <a:endParaRPr lang="en-US" sz="3000" dirty="0"/>
          </a:p>
        </p:txBody>
      </p:sp>
      <p:sp>
        <p:nvSpPr>
          <p:cNvPr id="10" name="Text 7"/>
          <p:cNvSpPr txBox="1"/>
          <p:nvPr/>
        </p:nvSpPr>
        <p:spPr>
          <a:xfrm>
            <a:off x="3291840" y="5303520"/>
            <a:ext cx="2560320" cy="457200"/>
          </a:xfrm>
          <a:prstGeom prst="rect">
            <a:avLst/>
          </a:prstGeom>
          <a:noFill/>
          <a:ln/>
        </p:spPr>
        <p:txBody>
          <a:bodyPr wrap="square" lIns="0" tIns="0" rIns="0" bIns="0" rtlCol="0" anchor="ctr"/>
          <a:lstStyle/>
          <a:p>
            <a:pPr indent="0" marL="0">
              <a:buNone/>
            </a:pPr>
            <a:r>
              <a:rPr lang="en-US" sz="1300" dirty="0">
                <a:solidFill>
                  <a:srgbClr val="1E2B2F"/>
                </a:solidFill>
                <a:latin typeface="Calibri" pitchFamily="34" charset="0"/>
                <a:ea typeface="Calibri" pitchFamily="34" charset="-122"/>
                <a:cs typeface="Calibri" pitchFamily="34" charset="-120"/>
              </a:rPr>
              <a:t>Partial recovery: about 1.64 m votes</a:t>
            </a:r>
            <a:endParaRPr lang="en-US" sz="1300" dirty="0"/>
          </a:p>
        </p:txBody>
      </p:sp>
      <p:sp>
        <p:nvSpPr>
          <p:cNvPr id="11" name="Text 8"/>
          <p:cNvSpPr txBox="1"/>
          <p:nvPr/>
        </p:nvSpPr>
        <p:spPr>
          <a:xfrm>
            <a:off x="6035040" y="4709160"/>
            <a:ext cx="2560320" cy="594360"/>
          </a:xfrm>
          <a:prstGeom prst="rect">
            <a:avLst/>
          </a:prstGeom>
          <a:noFill/>
          <a:ln/>
        </p:spPr>
        <p:txBody>
          <a:bodyPr wrap="square" lIns="0" tIns="0" rIns="0" bIns="0" rtlCol="0" anchor="ctr"/>
          <a:lstStyle/>
          <a:p>
            <a:pPr indent="0" marL="0">
              <a:buNone/>
            </a:pPr>
            <a:r>
              <a:rPr lang="en-US" sz="3000" b="1" dirty="0">
                <a:solidFill>
                  <a:srgbClr val="0E5E5A"/>
                </a:solidFill>
                <a:latin typeface="Cambria" pitchFamily="34" charset="0"/>
                <a:ea typeface="Cambria" pitchFamily="34" charset="-122"/>
                <a:cs typeface="Cambria" pitchFamily="34" charset="-120"/>
              </a:rPr>
              <a:t>56.2%</a:t>
            </a:r>
            <a:endParaRPr lang="en-US" sz="3000" dirty="0"/>
          </a:p>
        </p:txBody>
      </p:sp>
      <p:sp>
        <p:nvSpPr>
          <p:cNvPr id="12" name="Text 9"/>
          <p:cNvSpPr txBox="1"/>
          <p:nvPr/>
        </p:nvSpPr>
        <p:spPr>
          <a:xfrm>
            <a:off x="6035040" y="5303520"/>
            <a:ext cx="2560320" cy="457200"/>
          </a:xfrm>
          <a:prstGeom prst="rect">
            <a:avLst/>
          </a:prstGeom>
          <a:noFill/>
          <a:ln/>
        </p:spPr>
        <p:txBody>
          <a:bodyPr wrap="square" lIns="0" tIns="0" rIns="0" bIns="0" rtlCol="0" anchor="ctr"/>
          <a:lstStyle/>
          <a:p>
            <a:pPr indent="0" marL="0">
              <a:buNone/>
            </a:pPr>
            <a:r>
              <a:rPr lang="en-US" sz="1300" dirty="0">
                <a:solidFill>
                  <a:srgbClr val="1E2B2F"/>
                </a:solidFill>
                <a:latin typeface="Calibri" pitchFamily="34" charset="0"/>
                <a:ea typeface="Calibri" pitchFamily="34" charset="-122"/>
                <a:cs typeface="Calibri" pitchFamily="34" charset="-120"/>
              </a:rPr>
              <a:t>Return to 2016: about 1.78 m votes</a:t>
            </a:r>
            <a:endParaRPr lang="en-US" sz="1300" dirty="0"/>
          </a:p>
        </p:txBody>
      </p:sp>
      <p:sp>
        <p:nvSpPr>
          <p:cNvPr id="13" name="Text 10"/>
          <p:cNvSpPr txBox="1"/>
          <p:nvPr/>
        </p:nvSpPr>
        <p:spPr>
          <a:xfrm>
            <a:off x="8778240" y="4709160"/>
            <a:ext cx="2834640" cy="1280160"/>
          </a:xfrm>
          <a:prstGeom prst="rect">
            <a:avLst/>
          </a:prstGeom>
          <a:noFill/>
          <a:ln/>
        </p:spPr>
        <p:txBody>
          <a:bodyPr wrap="square" lIns="0" tIns="0" rIns="0" bIns="0" rtlCol="0" anchor="t"/>
          <a:lstStyle/>
          <a:p>
            <a:pPr indent="0" marL="0">
              <a:spcAft>
                <a:spcPts val="800"/>
              </a:spcAft>
              <a:buNone/>
            </a:pPr>
            <a:r>
              <a:rPr lang="en-US" sz="1200" b="1" dirty="0">
                <a:solidFill>
                  <a:srgbClr val="1E2B2F"/>
                </a:solidFill>
                <a:latin typeface="Calibri" pitchFamily="34" charset="0"/>
                <a:ea typeface="Calibri" pitchFamily="34" charset="-122"/>
                <a:cs typeface="Calibri" pitchFamily="34" charset="-120"/>
              </a:rPr>
              <a:t>Municipal band ±3.79 pts. </a:t>
            </a:r>
            <a:pPr indent="0" marL="0">
              <a:spcAft>
                <a:spcPts val="800"/>
              </a:spcAft>
              <a:buNone/>
            </a:pPr>
            <a:r>
              <a:rPr lang="en-US" sz="1200" dirty="0">
                <a:solidFill>
                  <a:srgbClr val="1E2B2F"/>
                </a:solidFill>
                <a:latin typeface="Calibri" pitchFamily="34" charset="0"/>
                <a:ea typeface="Calibri" pitchFamily="34" charset="-122"/>
                <a:cs typeface="Calibri" pitchFamily="34" charset="-120"/>
              </a:rPr>
              <a:t>Levels are assumptions, not forecasts. Votes use 2021 registration until the 2026 snapshot is added.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2026 party support: few contests are genuinely open</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Uniform swing from leader to runner-up needed to change the largest party (status-quo scenario)</a:t>
            </a:r>
            <a:endParaRPr lang="en-US" sz="1500" dirty="0"/>
          </a:p>
        </p:txBody>
      </p:sp>
      <p:sp>
        <p:nvSpPr>
          <p:cNvPr id="4" name="Shape 2"/>
          <p:cNvSpPr/>
          <p:nvPr/>
        </p:nvSpPr>
        <p:spPr>
          <a:xfrm>
            <a:off x="9631375" y="6382512"/>
            <a:ext cx="2011680" cy="310896"/>
          </a:xfrm>
          <a:prstGeom prst="roundRect">
            <a:avLst>
              <a:gd name="adj" fmla="val 50000"/>
            </a:avLst>
          </a:prstGeom>
          <a:solidFill>
            <a:srgbClr val="FBEDE7"/>
          </a:solidFill>
          <a:ln w="12700">
            <a:solidFill>
              <a:srgbClr val="D2542B"/>
            </a:solidFill>
            <a:prstDash val="solid"/>
          </a:ln>
        </p:spPr>
      </p:sp>
      <p:sp>
        <p:nvSpPr>
          <p:cNvPr id="5" name="Text 3"/>
          <p:cNvSpPr txBox="1"/>
          <p:nvPr/>
        </p:nvSpPr>
        <p:spPr>
          <a:xfrm>
            <a:off x="9631375" y="6382512"/>
            <a:ext cx="2011680" cy="310896"/>
          </a:xfrm>
          <a:prstGeom prst="rect">
            <a:avLst/>
          </a:prstGeom>
          <a:noFill/>
          <a:ln/>
        </p:spPr>
        <p:txBody>
          <a:bodyPr wrap="square" lIns="0" tIns="0" rIns="0" bIns="0" rtlCol="0" anchor="ctr"/>
          <a:lstStyle/>
          <a:p>
            <a:pPr algn="ctr" indent="0" marL="0">
              <a:buNone/>
            </a:pPr>
            <a:r>
              <a:rPr lang="en-US" sz="1100" b="1" dirty="0">
                <a:solidFill>
                  <a:srgbClr val="D2542B"/>
                </a:solidFill>
                <a:latin typeface="Calibri" pitchFamily="34" charset="0"/>
                <a:ea typeface="Calibri" pitchFamily="34" charset="-122"/>
                <a:cs typeface="Calibri" pitchFamily="34" charset="-120"/>
              </a:rPr>
              <a:t>Scenario assumption</a:t>
            </a:r>
            <a:endParaRPr lang="en-US" sz="1100" dirty="0"/>
          </a:p>
        </p:txBody>
      </p:sp>
      <p:graphicFrame>
        <p:nvGraphicFramePr>
          <p:cNvPr id="6" name="Chart 0" descr=""/>
          <p:cNvGraphicFramePr/>
          <p:nvPr/>
        </p:nvGraphicFramePr>
        <p:xfrm>
          <a:off x="548640" y="1691640"/>
          <a:ext cx="6949440" cy="43891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863840" y="1828800"/>
            <a:ext cx="3749040" cy="731520"/>
          </a:xfrm>
          <a:prstGeom prst="rect">
            <a:avLst/>
          </a:prstGeom>
          <a:noFill/>
          <a:ln/>
        </p:spPr>
        <p:txBody>
          <a:bodyPr wrap="square" lIns="0" tIns="0" rIns="0" bIns="0" rtlCol="0" anchor="ctr"/>
          <a:lstStyle/>
          <a:p>
            <a:pPr indent="0" marL="0">
              <a:buNone/>
            </a:pPr>
            <a:r>
              <a:rPr lang="en-US" sz="4000" b="1" dirty="0">
                <a:solidFill>
                  <a:srgbClr val="0E5E5A"/>
                </a:solidFill>
                <a:latin typeface="Cambria" pitchFamily="34" charset="0"/>
                <a:ea typeface="Cambria" pitchFamily="34" charset="-122"/>
                <a:cs typeface="Cambria" pitchFamily="34" charset="-120"/>
              </a:rPr>
              <a:t>ANC 31, DA 2</a:t>
            </a:r>
            <a:endParaRPr lang="en-US" sz="4000" dirty="0"/>
          </a:p>
        </p:txBody>
      </p:sp>
      <p:sp>
        <p:nvSpPr>
          <p:cNvPr id="8" name="Text 5"/>
          <p:cNvSpPr txBox="1"/>
          <p:nvPr/>
        </p:nvSpPr>
        <p:spPr>
          <a:xfrm>
            <a:off x="7863840" y="2578608"/>
            <a:ext cx="374904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municipalities by largest party under the validated status-quo scenario</a:t>
            </a:r>
            <a:endParaRPr lang="en-US" sz="1300" dirty="0"/>
          </a:p>
        </p:txBody>
      </p:sp>
      <p:sp>
        <p:nvSpPr>
          <p:cNvPr id="9" name="Text 6"/>
          <p:cNvSpPr txBox="1"/>
          <p:nvPr/>
        </p:nvSpPr>
        <p:spPr>
          <a:xfrm>
            <a:off x="7863840" y="3337560"/>
            <a:ext cx="3749040" cy="731520"/>
          </a:xfrm>
          <a:prstGeom prst="rect">
            <a:avLst/>
          </a:prstGeom>
          <a:noFill/>
          <a:ln/>
        </p:spPr>
        <p:txBody>
          <a:bodyPr wrap="square" lIns="0" tIns="0" rIns="0" bIns="0" rtlCol="0" anchor="ctr"/>
          <a:lstStyle/>
          <a:p>
            <a:pPr indent="0" marL="0">
              <a:buNone/>
            </a:pPr>
            <a:r>
              <a:rPr lang="en-US" sz="4000" b="1" dirty="0">
                <a:solidFill>
                  <a:srgbClr val="D2542B"/>
                </a:solidFill>
                <a:latin typeface="Cambria" pitchFamily="34" charset="0"/>
                <a:ea typeface="Cambria" pitchFamily="34" charset="-122"/>
                <a:cs typeface="Cambria" pitchFamily="34" charset="-120"/>
              </a:rPr>
              <a:t>0.48 pts</a:t>
            </a:r>
            <a:endParaRPr lang="en-US" sz="4000" dirty="0"/>
          </a:p>
        </p:txBody>
      </p:sp>
      <p:sp>
        <p:nvSpPr>
          <p:cNvPr id="10" name="Text 7"/>
          <p:cNvSpPr txBox="1"/>
          <p:nvPr/>
        </p:nvSpPr>
        <p:spPr>
          <a:xfrm>
            <a:off x="7863840" y="4087368"/>
            <a:ext cx="3749040" cy="68580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Nelson Mandela Bay lead: too close to call (threshold 2 x 2.69 pts)</a:t>
            </a:r>
            <a:endParaRPr lang="en-US" sz="1300" dirty="0"/>
          </a:p>
        </p:txBody>
      </p:sp>
      <p:sp>
        <p:nvSpPr>
          <p:cNvPr id="11" name="Text 8"/>
          <p:cNvSpPr txBox="1"/>
          <p:nvPr/>
        </p:nvSpPr>
        <p:spPr>
          <a:xfrm>
            <a:off x="7863840" y="4846320"/>
            <a:ext cx="3749040" cy="1371600"/>
          </a:xfrm>
          <a:prstGeom prst="rect">
            <a:avLst/>
          </a:prstGeom>
          <a:noFill/>
          <a:ln/>
        </p:spPr>
        <p:txBody>
          <a:bodyPr wrap="square" lIns="0" tIns="0" rIns="0" bIns="0" rtlCol="0" anchor="t"/>
          <a:lstStyle/>
          <a:p>
            <a:pPr indent="0" marL="0">
              <a:spcAft>
                <a:spcPts val="800"/>
              </a:spcAft>
              <a:buNone/>
            </a:pPr>
            <a:r>
              <a:rPr lang="en-US" sz="1300" b="1" dirty="0">
                <a:solidFill>
                  <a:srgbClr val="1E2B2F"/>
                </a:solidFill>
                <a:latin typeface="Calibri" pitchFamily="34" charset="0"/>
                <a:ea typeface="Calibri" pitchFamily="34" charset="-122"/>
                <a:cs typeface="Calibri" pitchFamily="34" charset="-120"/>
              </a:rPr>
              <a:t>Not modelled: </a:t>
            </a:r>
            <a:pPr indent="0" marL="0">
              <a:spcAft>
                <a:spcPts val="800"/>
              </a:spcAft>
              <a:buNone/>
            </a:pPr>
            <a:r>
              <a:rPr lang="en-US" sz="1300" dirty="0">
                <a:solidFill>
                  <a:srgbClr val="1E2B2F"/>
                </a:solidFill>
                <a:latin typeface="Calibri" pitchFamily="34" charset="0"/>
                <a:ea typeface="Calibri" pitchFamily="34" charset="-122"/>
                <a:cs typeface="Calibri" pitchFamily="34" charset="-120"/>
              </a:rPr>
              <a:t>parties formed after 2021, coalitions, candidates, the 2024 national election. The dashboard lets users test their own swings.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The dashboard: evidence and assumptions, clearly separated</a:t>
            </a:r>
            <a:endParaRPr lang="en-US" sz="30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500" dirty="0">
                <a:solidFill>
                  <a:srgbClr val="5C6B6E"/>
                </a:solidFill>
                <a:latin typeface="Calibri" pitchFamily="34" charset="0"/>
                <a:ea typeface="Calibri" pitchFamily="34" charset="-122"/>
                <a:cs typeface="Calibri" pitchFamily="34" charset="-120"/>
              </a:rPr>
              <a:t>streamlit run app/app.py  |  ten pages from participation to limitations, with CSV downloads</a:t>
            </a:r>
            <a:endParaRPr lang="en-US" sz="1500" dirty="0"/>
          </a:p>
        </p:txBody>
      </p:sp>
      <p:pic>
        <p:nvPicPr>
          <p:cNvPr id="4" name="Image 0" descr="/home/claude/repo/presentation/build/dashboard_overview.png">    </p:cNvPr>
          <p:cNvPicPr>
            <a:picLocks noChangeAspect="1"/>
          </p:cNvPicPr>
          <p:nvPr/>
        </p:nvPicPr>
        <p:blipFill>
          <a:blip r:embed="rId1"/>
          <a:stretch>
            <a:fillRect/>
          </a:stretch>
        </p:blipFill>
        <p:spPr>
          <a:xfrm>
            <a:off x="548640" y="1691640"/>
            <a:ext cx="5440680" cy="3445764"/>
          </a:xfrm>
          <a:prstGeom prst="rect">
            <a:avLst/>
          </a:prstGeom>
        </p:spPr>
      </p:pic>
      <p:pic>
        <p:nvPicPr>
          <p:cNvPr id="5" name="Image 1" descr="/home/claude/repo/presentation/build/dashboard_scenarios.png">    </p:cNvPr>
          <p:cNvPicPr>
            <a:picLocks noChangeAspect="1"/>
          </p:cNvPicPr>
          <p:nvPr/>
        </p:nvPicPr>
        <p:blipFill>
          <a:blip r:embed="rId2"/>
          <a:stretch>
            <a:fillRect/>
          </a:stretch>
        </p:blipFill>
        <p:spPr>
          <a:xfrm>
            <a:off x="6199632" y="1691640"/>
            <a:ext cx="5440680" cy="3445764"/>
          </a:xfrm>
          <a:prstGeom prst="rect">
            <a:avLst/>
          </a:prstGeom>
        </p:spPr>
      </p:pic>
      <p:sp>
        <p:nvSpPr>
          <p:cNvPr id="6" name="Text 2"/>
          <p:cNvSpPr txBox="1"/>
          <p:nvPr/>
        </p:nvSpPr>
        <p:spPr>
          <a:xfrm>
            <a:off x="548640" y="5193792"/>
            <a:ext cx="5440680" cy="320040"/>
          </a:xfrm>
          <a:prstGeom prst="rect">
            <a:avLst/>
          </a:prstGeom>
          <a:noFill/>
          <a:ln/>
        </p:spPr>
        <p:txBody>
          <a:bodyPr wrap="square" lIns="0" tIns="0" rIns="0" bIns="0" rtlCol="0" anchor="ctr"/>
          <a:lstStyle/>
          <a:p>
            <a:pPr indent="0" marL="0">
              <a:buNone/>
            </a:pPr>
            <a:r>
              <a:rPr lang="en-US" sz="1200" dirty="0">
                <a:solidFill>
                  <a:srgbClr val="5C6B6E"/>
                </a:solidFill>
                <a:latin typeface="Calibri" pitchFamily="34" charset="0"/>
                <a:ea typeface="Calibri" pitchFamily="34" charset="-122"/>
                <a:cs typeface="Calibri" pitchFamily="34" charset="-120"/>
              </a:rPr>
              <a:t>Overview: interactive map of any metric and election</a:t>
            </a:r>
            <a:endParaRPr lang="en-US" sz="1200" dirty="0"/>
          </a:p>
        </p:txBody>
      </p:sp>
      <p:sp>
        <p:nvSpPr>
          <p:cNvPr id="7" name="Text 3"/>
          <p:cNvSpPr txBox="1"/>
          <p:nvPr/>
        </p:nvSpPr>
        <p:spPr>
          <a:xfrm>
            <a:off x="6199632" y="5193792"/>
            <a:ext cx="5440680" cy="320040"/>
          </a:xfrm>
          <a:prstGeom prst="rect">
            <a:avLst/>
          </a:prstGeom>
          <a:noFill/>
          <a:ln/>
        </p:spPr>
        <p:txBody>
          <a:bodyPr wrap="square" lIns="0" tIns="0" rIns="0" bIns="0" rtlCol="0" anchor="ctr"/>
          <a:lstStyle/>
          <a:p>
            <a:pPr indent="0" marL="0">
              <a:buNone/>
            </a:pPr>
            <a:r>
              <a:rPr lang="en-US" sz="1200" dirty="0">
                <a:solidFill>
                  <a:srgbClr val="5C6B6E"/>
                </a:solidFill>
                <a:latin typeface="Calibri" pitchFamily="34" charset="0"/>
                <a:ea typeface="Calibri" pitchFamily="34" charset="-122"/>
                <a:cs typeface="Calibri" pitchFamily="34" charset="-120"/>
              </a:rPr>
              <a:t>Scenario explorer: choose the turnout level and party swings</a:t>
            </a:r>
            <a:endParaRPr lang="en-US" sz="1200" dirty="0"/>
          </a:p>
        </p:txBody>
      </p:sp>
      <p:sp>
        <p:nvSpPr>
          <p:cNvPr id="8" name="Text 4"/>
          <p:cNvSpPr txBox="1"/>
          <p:nvPr/>
        </p:nvSpPr>
        <p:spPr>
          <a:xfrm>
            <a:off x="548640" y="5623560"/>
            <a:ext cx="11094415" cy="731520"/>
          </a:xfrm>
          <a:prstGeom prst="rect">
            <a:avLst/>
          </a:prstGeom>
          <a:noFill/>
          <a:ln/>
        </p:spPr>
        <p:txBody>
          <a:bodyPr wrap="square" lIns="0" tIns="0" rIns="0" bIns="0" rtlCol="0" anchor="t"/>
          <a:lstStyle/>
          <a:p>
            <a:pPr indent="0" marL="0">
              <a:spcAft>
                <a:spcPts val="800"/>
              </a:spcAft>
              <a:buNone/>
            </a:pPr>
            <a:r>
              <a:rPr lang="en-US" sz="1400" b="1" dirty="0">
                <a:solidFill>
                  <a:srgbClr val="1E2B2F"/>
                </a:solidFill>
                <a:latin typeface="Calibri" pitchFamily="34" charset="0"/>
                <a:ea typeface="Calibri" pitchFamily="34" charset="-122"/>
                <a:cs typeface="Calibri" pitchFamily="34" charset="-120"/>
              </a:rPr>
              <a:t>Teal panels are validated evidence; orange panels are assumptions. </a:t>
            </a:r>
            <a:pPr indent="0" marL="0">
              <a:spcAft>
                <a:spcPts val="800"/>
              </a:spcAft>
              <a:buNone/>
            </a:pPr>
            <a:r>
              <a:rPr lang="en-US" sz="1400" dirty="0">
                <a:solidFill>
                  <a:srgbClr val="1E2B2F"/>
                </a:solidFill>
                <a:latin typeface="Calibri" pitchFamily="34" charset="0"/>
                <a:ea typeface="Calibri" pitchFamily="34" charset="-122"/>
                <a:cs typeface="Calibri" pitchFamily="34" charset="-120"/>
              </a:rPr>
              <a:t>The scenario explorer calls the same code as Notebook 06, and maps work offline.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Limitations, and how we handled them</a:t>
            </a:r>
            <a:endParaRPr lang="en-US" sz="3000" dirty="0"/>
          </a:p>
        </p:txBody>
      </p:sp>
      <p:sp>
        <p:nvSpPr>
          <p:cNvPr id="3" name="Shape 1"/>
          <p:cNvSpPr/>
          <p:nvPr/>
        </p:nvSpPr>
        <p:spPr>
          <a:xfrm>
            <a:off x="548640" y="1417320"/>
            <a:ext cx="5440680" cy="1463040"/>
          </a:xfrm>
          <a:prstGeom prst="rect">
            <a:avLst/>
          </a:prstGeom>
          <a:solidFill>
            <a:srgbClr val="EEF3F1"/>
          </a:solidFill>
          <a:ln w="12700">
            <a:solidFill>
              <a:srgbClr val="EEF3F1"/>
            </a:solidFill>
            <a:prstDash val="solid"/>
          </a:ln>
        </p:spPr>
      </p:sp>
      <p:sp>
        <p:nvSpPr>
          <p:cNvPr id="4" name="Text 2"/>
          <p:cNvSpPr txBox="1"/>
          <p:nvPr/>
        </p:nvSpPr>
        <p:spPr>
          <a:xfrm>
            <a:off x="777240" y="1554480"/>
            <a:ext cx="5029200" cy="365760"/>
          </a:xfrm>
          <a:prstGeom prst="rect">
            <a:avLst/>
          </a:prstGeom>
          <a:noFill/>
          <a:ln/>
        </p:spPr>
        <p:txBody>
          <a:bodyPr wrap="square" lIns="0" tIns="0" rIns="0" bIns="0" rtlCol="0" anchor="ctr"/>
          <a:lstStyle/>
          <a:p>
            <a:pPr indent="0" marL="0">
              <a:buNone/>
            </a:pPr>
            <a:r>
              <a:rPr lang="en-US" sz="1700" b="1" dirty="0">
                <a:solidFill>
                  <a:srgbClr val="0E5E5A"/>
                </a:solidFill>
                <a:latin typeface="Cambria" pitchFamily="34" charset="0"/>
                <a:ea typeface="Cambria" pitchFamily="34" charset="-122"/>
                <a:cs typeface="Cambria" pitchFamily="34" charset="-120"/>
              </a:rPr>
              <a:t>Small sample</a:t>
            </a:r>
            <a:endParaRPr lang="en-US" sz="1700" dirty="0"/>
          </a:p>
        </p:txBody>
      </p:sp>
      <p:sp>
        <p:nvSpPr>
          <p:cNvPr id="5" name="Text 3"/>
          <p:cNvSpPr txBox="1"/>
          <p:nvPr/>
        </p:nvSpPr>
        <p:spPr>
          <a:xfrm>
            <a:off x="777240" y="1965960"/>
            <a:ext cx="5029200" cy="82296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Five elections, 33 municipalities</a:t>
            </a:r>
            <a:endParaRPr lang="en-US" sz="1300" dirty="0"/>
          </a:p>
          <a:p>
            <a:pPr indent="0" marL="0">
              <a:buNone/>
            </a:pPr>
            <a:r>
              <a:rPr lang="en-US" sz="1300" i="1" dirty="0">
                <a:solidFill>
                  <a:srgbClr val="5C6B6E"/>
                </a:solidFill>
                <a:latin typeface="Calibri" pitchFamily="34" charset="0"/>
                <a:ea typeface="Calibri" pitchFamily="34" charset="-122"/>
                <a:cs typeface="Calibri" pitchFamily="34" charset="-120"/>
              </a:rPr>
              <a:t>Simple models, baselines, honest error bands</a:t>
            </a:r>
            <a:endParaRPr lang="en-US" sz="1300" dirty="0"/>
          </a:p>
        </p:txBody>
      </p:sp>
      <p:sp>
        <p:nvSpPr>
          <p:cNvPr id="6" name="Shape 4"/>
          <p:cNvSpPr/>
          <p:nvPr/>
        </p:nvSpPr>
        <p:spPr>
          <a:xfrm>
            <a:off x="6172200" y="1417320"/>
            <a:ext cx="5440680" cy="1463040"/>
          </a:xfrm>
          <a:prstGeom prst="rect">
            <a:avLst/>
          </a:prstGeom>
          <a:solidFill>
            <a:srgbClr val="EEF3F1"/>
          </a:solidFill>
          <a:ln w="12700">
            <a:solidFill>
              <a:srgbClr val="EEF3F1"/>
            </a:solidFill>
            <a:prstDash val="solid"/>
          </a:ln>
        </p:spPr>
      </p:sp>
      <p:sp>
        <p:nvSpPr>
          <p:cNvPr id="7" name="Text 5"/>
          <p:cNvSpPr txBox="1"/>
          <p:nvPr/>
        </p:nvSpPr>
        <p:spPr>
          <a:xfrm>
            <a:off x="6400800" y="1554480"/>
            <a:ext cx="5029200" cy="365760"/>
          </a:xfrm>
          <a:prstGeom prst="rect">
            <a:avLst/>
          </a:prstGeom>
          <a:noFill/>
          <a:ln/>
        </p:spPr>
        <p:txBody>
          <a:bodyPr wrap="square" lIns="0" tIns="0" rIns="0" bIns="0" rtlCol="0" anchor="ctr"/>
          <a:lstStyle/>
          <a:p>
            <a:pPr indent="0" marL="0">
              <a:buNone/>
            </a:pPr>
            <a:r>
              <a:rPr lang="en-US" sz="1700" b="1" dirty="0">
                <a:solidFill>
                  <a:srgbClr val="0E5E5A"/>
                </a:solidFill>
                <a:latin typeface="Cambria" pitchFamily="34" charset="0"/>
                <a:ea typeface="Cambria" pitchFamily="34" charset="-122"/>
                <a:cs typeface="Cambria" pitchFamily="34" charset="-120"/>
              </a:rPr>
              <a:t>Ecological data</a:t>
            </a:r>
            <a:endParaRPr lang="en-US" sz="1700" dirty="0"/>
          </a:p>
        </p:txBody>
      </p:sp>
      <p:sp>
        <p:nvSpPr>
          <p:cNvPr id="8" name="Text 6"/>
          <p:cNvSpPr txBox="1"/>
          <p:nvPr/>
        </p:nvSpPr>
        <p:spPr>
          <a:xfrm>
            <a:off x="6400800" y="1965960"/>
            <a:ext cx="5029200" cy="82296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Associations describe places, not voters</a:t>
            </a:r>
            <a:endParaRPr lang="en-US" sz="1300" dirty="0"/>
          </a:p>
          <a:p>
            <a:pPr indent="0" marL="0">
              <a:buNone/>
            </a:pPr>
            <a:r>
              <a:rPr lang="en-US" sz="1300" i="1" dirty="0">
                <a:solidFill>
                  <a:srgbClr val="5C6B6E"/>
                </a:solidFill>
                <a:latin typeface="Calibri" pitchFamily="34" charset="0"/>
                <a:ea typeface="Calibri" pitchFamily="34" charset="-122"/>
                <a:cs typeface="Calibri" pitchFamily="34" charset="-120"/>
              </a:rPr>
              <a:t>No causal or individual-level claims</a:t>
            </a:r>
            <a:endParaRPr lang="en-US" sz="1300" dirty="0"/>
          </a:p>
        </p:txBody>
      </p:sp>
      <p:sp>
        <p:nvSpPr>
          <p:cNvPr id="9" name="Shape 7"/>
          <p:cNvSpPr/>
          <p:nvPr/>
        </p:nvSpPr>
        <p:spPr>
          <a:xfrm>
            <a:off x="548640" y="3063240"/>
            <a:ext cx="5440680" cy="1463040"/>
          </a:xfrm>
          <a:prstGeom prst="rect">
            <a:avLst/>
          </a:prstGeom>
          <a:solidFill>
            <a:srgbClr val="EEF3F1"/>
          </a:solidFill>
          <a:ln w="12700">
            <a:solidFill>
              <a:srgbClr val="EEF3F1"/>
            </a:solidFill>
            <a:prstDash val="solid"/>
          </a:ln>
        </p:spPr>
      </p:sp>
      <p:sp>
        <p:nvSpPr>
          <p:cNvPr id="10" name="Text 8"/>
          <p:cNvSpPr txBox="1"/>
          <p:nvPr/>
        </p:nvSpPr>
        <p:spPr>
          <a:xfrm>
            <a:off x="777240" y="3200400"/>
            <a:ext cx="5029200" cy="365760"/>
          </a:xfrm>
          <a:prstGeom prst="rect">
            <a:avLst/>
          </a:prstGeom>
          <a:noFill/>
          <a:ln/>
        </p:spPr>
        <p:txBody>
          <a:bodyPr wrap="square" lIns="0" tIns="0" rIns="0" bIns="0" rtlCol="0" anchor="ctr"/>
          <a:lstStyle/>
          <a:p>
            <a:pPr indent="0" marL="0">
              <a:buNone/>
            </a:pPr>
            <a:r>
              <a:rPr lang="en-US" sz="1700" b="1" dirty="0">
                <a:solidFill>
                  <a:srgbClr val="0E5E5A"/>
                </a:solidFill>
                <a:latin typeface="Cambria" pitchFamily="34" charset="0"/>
                <a:ea typeface="Cambria" pitchFamily="34" charset="-122"/>
                <a:cs typeface="Cambria" pitchFamily="34" charset="-120"/>
              </a:rPr>
              <a:t>2021 shock</a:t>
            </a:r>
            <a:endParaRPr lang="en-US" sz="1700" dirty="0"/>
          </a:p>
        </p:txBody>
      </p:sp>
      <p:sp>
        <p:nvSpPr>
          <p:cNvPr id="11" name="Text 9"/>
          <p:cNvSpPr txBox="1"/>
          <p:nvPr/>
        </p:nvSpPr>
        <p:spPr>
          <a:xfrm>
            <a:off x="777240" y="3611880"/>
            <a:ext cx="5029200" cy="82296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COVID-era fall nobody could foresee</a:t>
            </a:r>
            <a:endParaRPr lang="en-US" sz="1300" dirty="0"/>
          </a:p>
          <a:p>
            <a:pPr indent="0" marL="0">
              <a:buNone/>
            </a:pPr>
            <a:r>
              <a:rPr lang="en-US" sz="1300" i="1" dirty="0">
                <a:solidFill>
                  <a:srgbClr val="5C6B6E"/>
                </a:solidFill>
                <a:latin typeface="Calibri" pitchFamily="34" charset="0"/>
                <a:ea typeface="Calibri" pitchFamily="34" charset="-122"/>
                <a:cs typeface="Calibri" pitchFamily="34" charset="-120"/>
              </a:rPr>
              <a:t>Level treated as a scenario assumption</a:t>
            </a:r>
            <a:endParaRPr lang="en-US" sz="1300" dirty="0"/>
          </a:p>
        </p:txBody>
      </p:sp>
      <p:sp>
        <p:nvSpPr>
          <p:cNvPr id="12" name="Shape 10"/>
          <p:cNvSpPr/>
          <p:nvPr/>
        </p:nvSpPr>
        <p:spPr>
          <a:xfrm>
            <a:off x="6172200" y="3063240"/>
            <a:ext cx="5440680" cy="1463040"/>
          </a:xfrm>
          <a:prstGeom prst="rect">
            <a:avLst/>
          </a:prstGeom>
          <a:solidFill>
            <a:srgbClr val="EEF3F1"/>
          </a:solidFill>
          <a:ln w="12700">
            <a:solidFill>
              <a:srgbClr val="EEF3F1"/>
            </a:solidFill>
            <a:prstDash val="solid"/>
          </a:ln>
        </p:spPr>
      </p:sp>
      <p:sp>
        <p:nvSpPr>
          <p:cNvPr id="13" name="Text 11"/>
          <p:cNvSpPr txBox="1"/>
          <p:nvPr/>
        </p:nvSpPr>
        <p:spPr>
          <a:xfrm>
            <a:off x="6400800" y="3200400"/>
            <a:ext cx="5029200" cy="365760"/>
          </a:xfrm>
          <a:prstGeom prst="rect">
            <a:avLst/>
          </a:prstGeom>
          <a:noFill/>
          <a:ln/>
        </p:spPr>
        <p:txBody>
          <a:bodyPr wrap="square" lIns="0" tIns="0" rIns="0" bIns="0" rtlCol="0" anchor="ctr"/>
          <a:lstStyle/>
          <a:p>
            <a:pPr indent="0" marL="0">
              <a:buNone/>
            </a:pPr>
            <a:r>
              <a:rPr lang="en-US" sz="1700" b="1" dirty="0">
                <a:solidFill>
                  <a:srgbClr val="0E5E5A"/>
                </a:solidFill>
                <a:latin typeface="Cambria" pitchFamily="34" charset="0"/>
                <a:ea typeface="Cambria" pitchFamily="34" charset="-122"/>
                <a:cs typeface="Cambria" pitchFamily="34" charset="-120"/>
              </a:rPr>
              <a:t>Boundaries</a:t>
            </a:r>
            <a:endParaRPr lang="en-US" sz="1700" dirty="0"/>
          </a:p>
        </p:txBody>
      </p:sp>
      <p:sp>
        <p:nvSpPr>
          <p:cNvPr id="14" name="Text 12"/>
          <p:cNvSpPr txBox="1"/>
          <p:nvPr/>
        </p:nvSpPr>
        <p:spPr>
          <a:xfrm>
            <a:off x="6400800" y="3611880"/>
            <a:ext cx="5029200" cy="82296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Merged units are comparable, not identical</a:t>
            </a:r>
            <a:endParaRPr lang="en-US" sz="1300" dirty="0"/>
          </a:p>
          <a:p>
            <a:pPr indent="0" marL="0">
              <a:buNone/>
            </a:pPr>
            <a:r>
              <a:rPr lang="en-US" sz="1300" i="1" dirty="0">
                <a:solidFill>
                  <a:srgbClr val="5C6B6E"/>
                </a:solidFill>
                <a:latin typeface="Calibri" pitchFamily="34" charset="0"/>
                <a:ea typeface="Calibri" pitchFamily="34" charset="-122"/>
                <a:cs typeface="Calibri" pitchFamily="34" charset="-120"/>
              </a:rPr>
              <a:t>Explicit crosswalk, same for maps</a:t>
            </a:r>
            <a:endParaRPr lang="en-US" sz="1300" dirty="0"/>
          </a:p>
        </p:txBody>
      </p:sp>
      <p:sp>
        <p:nvSpPr>
          <p:cNvPr id="15" name="Shape 13"/>
          <p:cNvSpPr/>
          <p:nvPr/>
        </p:nvSpPr>
        <p:spPr>
          <a:xfrm>
            <a:off x="548640" y="4709160"/>
            <a:ext cx="5440680" cy="1463040"/>
          </a:xfrm>
          <a:prstGeom prst="rect">
            <a:avLst/>
          </a:prstGeom>
          <a:solidFill>
            <a:srgbClr val="EEF3F1"/>
          </a:solidFill>
          <a:ln w="12700">
            <a:solidFill>
              <a:srgbClr val="EEF3F1"/>
            </a:solidFill>
            <a:prstDash val="solid"/>
          </a:ln>
        </p:spPr>
      </p:sp>
      <p:sp>
        <p:nvSpPr>
          <p:cNvPr id="16" name="Text 14"/>
          <p:cNvSpPr txBox="1"/>
          <p:nvPr/>
        </p:nvSpPr>
        <p:spPr>
          <a:xfrm>
            <a:off x="777240" y="4846320"/>
            <a:ext cx="5029200" cy="365760"/>
          </a:xfrm>
          <a:prstGeom prst="rect">
            <a:avLst/>
          </a:prstGeom>
          <a:noFill/>
          <a:ln/>
        </p:spPr>
        <p:txBody>
          <a:bodyPr wrap="square" lIns="0" tIns="0" rIns="0" bIns="0" rtlCol="0" anchor="ctr"/>
          <a:lstStyle/>
          <a:p>
            <a:pPr indent="0" marL="0">
              <a:buNone/>
            </a:pPr>
            <a:r>
              <a:rPr lang="en-US" sz="1700" b="1" dirty="0">
                <a:solidFill>
                  <a:srgbClr val="0E5E5A"/>
                </a:solidFill>
                <a:latin typeface="Cambria" pitchFamily="34" charset="0"/>
                <a:ea typeface="Cambria" pitchFamily="34" charset="-122"/>
                <a:cs typeface="Cambria" pitchFamily="34" charset="-120"/>
              </a:rPr>
              <a:t>Census provenance</a:t>
            </a:r>
            <a:endParaRPr lang="en-US" sz="1700" dirty="0"/>
          </a:p>
        </p:txBody>
      </p:sp>
      <p:sp>
        <p:nvSpPr>
          <p:cNvPr id="17" name="Text 15"/>
          <p:cNvSpPr txBox="1"/>
          <p:nvPr/>
        </p:nvSpPr>
        <p:spPr>
          <a:xfrm>
            <a:off x="777240" y="5257800"/>
            <a:ext cx="5029200" cy="82296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Upstream tables of our census file unrecorded</a:t>
            </a:r>
            <a:endParaRPr lang="en-US" sz="1300" dirty="0"/>
          </a:p>
          <a:p>
            <a:pPr indent="0" marL="0">
              <a:buNone/>
            </a:pPr>
            <a:r>
              <a:rPr lang="en-US" sz="1300" i="1" dirty="0">
                <a:solidFill>
                  <a:srgbClr val="5C6B6E"/>
                </a:solidFill>
                <a:latin typeface="Calibri" pitchFamily="34" charset="0"/>
                <a:ea typeface="Calibri" pitchFamily="34" charset="-122"/>
                <a:cs typeface="Calibri" pitchFamily="34" charset="-120"/>
              </a:rPr>
              <a:t>Flagged; no headline result depends on it</a:t>
            </a:r>
            <a:endParaRPr lang="en-US" sz="1300" dirty="0"/>
          </a:p>
        </p:txBody>
      </p:sp>
      <p:sp>
        <p:nvSpPr>
          <p:cNvPr id="18" name="Shape 16"/>
          <p:cNvSpPr/>
          <p:nvPr/>
        </p:nvSpPr>
        <p:spPr>
          <a:xfrm>
            <a:off x="6172200" y="4709160"/>
            <a:ext cx="5440680" cy="1463040"/>
          </a:xfrm>
          <a:prstGeom prst="rect">
            <a:avLst/>
          </a:prstGeom>
          <a:solidFill>
            <a:srgbClr val="EEF3F1"/>
          </a:solidFill>
          <a:ln w="12700">
            <a:solidFill>
              <a:srgbClr val="EEF3F1"/>
            </a:solidFill>
            <a:prstDash val="solid"/>
          </a:ln>
        </p:spPr>
      </p:sp>
      <p:sp>
        <p:nvSpPr>
          <p:cNvPr id="19" name="Text 17"/>
          <p:cNvSpPr txBox="1"/>
          <p:nvPr/>
        </p:nvSpPr>
        <p:spPr>
          <a:xfrm>
            <a:off x="6400800" y="4846320"/>
            <a:ext cx="5029200" cy="365760"/>
          </a:xfrm>
          <a:prstGeom prst="rect">
            <a:avLst/>
          </a:prstGeom>
          <a:noFill/>
          <a:ln/>
        </p:spPr>
        <p:txBody>
          <a:bodyPr wrap="square" lIns="0" tIns="0" rIns="0" bIns="0" rtlCol="0" anchor="ctr"/>
          <a:lstStyle/>
          <a:p>
            <a:pPr indent="0" marL="0">
              <a:buNone/>
            </a:pPr>
            <a:r>
              <a:rPr lang="en-US" sz="1700" b="1" dirty="0">
                <a:solidFill>
                  <a:srgbClr val="0E5E5A"/>
                </a:solidFill>
                <a:latin typeface="Cambria" pitchFamily="34" charset="0"/>
                <a:ea typeface="Cambria" pitchFamily="34" charset="-122"/>
                <a:cs typeface="Cambria" pitchFamily="34" charset="-120"/>
              </a:rPr>
              <a:t>Missing context</a:t>
            </a:r>
            <a:endParaRPr lang="en-US" sz="1700" dirty="0"/>
          </a:p>
        </p:txBody>
      </p:sp>
      <p:sp>
        <p:nvSpPr>
          <p:cNvPr id="20" name="Text 18"/>
          <p:cNvSpPr txBox="1"/>
          <p:nvPr/>
        </p:nvSpPr>
        <p:spPr>
          <a:xfrm>
            <a:off x="6400800" y="5257800"/>
            <a:ext cx="5029200" cy="822960"/>
          </a:xfrm>
          <a:prstGeom prst="rect">
            <a:avLst/>
          </a:prstGeom>
          <a:noFill/>
          <a:ln/>
        </p:spPr>
        <p:txBody>
          <a:bodyPr wrap="square" lIns="0" tIns="0" rIns="0" bIns="0" rtlCol="0" anchor="t"/>
          <a:lstStyle/>
          <a:p>
            <a:pPr indent="0" marL="0">
              <a:buNone/>
            </a:pPr>
            <a:r>
              <a:rPr lang="en-US" sz="1300" dirty="0">
                <a:solidFill>
                  <a:srgbClr val="1E2B2F"/>
                </a:solidFill>
                <a:latin typeface="Calibri" pitchFamily="34" charset="0"/>
                <a:ea typeface="Calibri" pitchFamily="34" charset="-122"/>
                <a:cs typeface="Calibri" pitchFamily="34" charset="-120"/>
              </a:rPr>
              <a:t>No province-wide gender data; 2026 registration not yet extracted</a:t>
            </a:r>
            <a:endParaRPr lang="en-US" sz="1300" dirty="0"/>
          </a:p>
          <a:p>
            <a:pPr indent="0" marL="0">
              <a:buNone/>
            </a:pPr>
            <a:r>
              <a:rPr lang="en-US" sz="1300" i="1" dirty="0">
                <a:solidFill>
                  <a:srgbClr val="5C6B6E"/>
                </a:solidFill>
                <a:latin typeface="Calibri" pitchFamily="34" charset="0"/>
                <a:ea typeface="Calibri" pitchFamily="34" charset="-122"/>
                <a:cs typeface="Calibri" pitchFamily="34" charset="-120"/>
              </a:rPr>
              <a:t>Pipeline ready to ingest it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B2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 contribute</a:t>
            </a:r>
            <a:endParaRPr lang="en-US" sz="3200" dirty="0"/>
          </a:p>
        </p:txBody>
      </p:sp>
      <p:sp>
        <p:nvSpPr>
          <p:cNvPr id="3" name="Shape 1"/>
          <p:cNvSpPr/>
          <p:nvPr/>
        </p:nvSpPr>
        <p:spPr>
          <a:xfrm>
            <a:off x="548640" y="1508760"/>
            <a:ext cx="457200" cy="457200"/>
          </a:xfrm>
          <a:prstGeom prst="ellipse">
            <a:avLst/>
          </a:prstGeom>
          <a:solidFill>
            <a:srgbClr val="0E5E5A"/>
          </a:solidFill>
          <a:ln w="12700">
            <a:solidFill>
              <a:srgbClr val="0E5E5A"/>
            </a:solidFill>
            <a:prstDash val="solid"/>
          </a:ln>
        </p:spPr>
      </p:sp>
      <p:sp>
        <p:nvSpPr>
          <p:cNvPr id="4" name="Text 2"/>
          <p:cNvSpPr txBox="1"/>
          <p:nvPr/>
        </p:nvSpPr>
        <p:spPr>
          <a:xfrm>
            <a:off x="548640" y="1508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80160" y="1463040"/>
            <a:ext cx="6035040" cy="86868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 validated municipal panel</a:t>
            </a:r>
            <a:endParaRPr lang="en-US" sz="1600" dirty="0"/>
          </a:p>
          <a:p>
            <a:pPr indent="0" marL="0">
              <a:buNone/>
            </a:pPr>
            <a:r>
              <a:rPr lang="en-US" sz="1600" dirty="0">
                <a:solidFill>
                  <a:srgbClr val="B8C4C2"/>
                </a:solidFill>
                <a:latin typeface="Calibri" pitchFamily="34" charset="0"/>
                <a:ea typeface="Calibri" pitchFamily="34" charset="-122"/>
                <a:cs typeface="Calibri" pitchFamily="34" charset="-120"/>
              </a:rPr>
              <a:t>Five elections on one geography, matching the IEC's official figures</a:t>
            </a:r>
            <a:endParaRPr lang="en-US" sz="1600" dirty="0"/>
          </a:p>
        </p:txBody>
      </p:sp>
      <p:sp>
        <p:nvSpPr>
          <p:cNvPr id="6" name="Shape 4"/>
          <p:cNvSpPr/>
          <p:nvPr/>
        </p:nvSpPr>
        <p:spPr>
          <a:xfrm>
            <a:off x="548640" y="2560320"/>
            <a:ext cx="457200" cy="457200"/>
          </a:xfrm>
          <a:prstGeom prst="ellipse">
            <a:avLst/>
          </a:prstGeom>
          <a:solidFill>
            <a:srgbClr val="0E5E5A"/>
          </a:solidFill>
          <a:ln w="12700">
            <a:solidFill>
              <a:srgbClr val="0E5E5A"/>
            </a:solidFill>
            <a:prstDash val="solid"/>
          </a:ln>
        </p:spPr>
      </p:sp>
      <p:sp>
        <p:nvSpPr>
          <p:cNvPr id="7" name="Text 5"/>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8" name="Text 6"/>
          <p:cNvSpPr txBox="1"/>
          <p:nvPr/>
        </p:nvSpPr>
        <p:spPr>
          <a:xfrm>
            <a:off x="1280160" y="2514600"/>
            <a:ext cx="6035040" cy="86868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 clear finding</a:t>
            </a:r>
            <a:endParaRPr lang="en-US" sz="1600" dirty="0"/>
          </a:p>
          <a:p>
            <a:pPr indent="0" marL="0">
              <a:buNone/>
            </a:pPr>
            <a:r>
              <a:rPr lang="en-US" sz="1600" dirty="0">
                <a:solidFill>
                  <a:srgbClr val="B8C4C2"/>
                </a:solidFill>
                <a:latin typeface="Calibri" pitchFamily="34" charset="0"/>
                <a:ea typeface="Calibri" pitchFamily="34" charset="-122"/>
                <a:cs typeface="Calibri" pitchFamily="34" charset="-120"/>
              </a:rPr>
              <a:t>Turnout's provincial level moves with events; its municipal pattern is stable</a:t>
            </a:r>
            <a:endParaRPr lang="en-US" sz="1600" dirty="0"/>
          </a:p>
        </p:txBody>
      </p:sp>
      <p:sp>
        <p:nvSpPr>
          <p:cNvPr id="9" name="Shape 7"/>
          <p:cNvSpPr/>
          <p:nvPr/>
        </p:nvSpPr>
        <p:spPr>
          <a:xfrm>
            <a:off x="548640" y="3611880"/>
            <a:ext cx="457200" cy="457200"/>
          </a:xfrm>
          <a:prstGeom prst="ellipse">
            <a:avLst/>
          </a:prstGeom>
          <a:solidFill>
            <a:srgbClr val="0E5E5A"/>
          </a:solidFill>
          <a:ln w="12700">
            <a:solidFill>
              <a:srgbClr val="0E5E5A"/>
            </a:solidFill>
            <a:prstDash val="solid"/>
          </a:ln>
        </p:spPr>
      </p:sp>
      <p:sp>
        <p:nvSpPr>
          <p:cNvPr id="10" name="Text 8"/>
          <p:cNvSpPr txBox="1"/>
          <p:nvPr/>
        </p:nvSpPr>
        <p:spPr>
          <a:xfrm>
            <a:off x="54864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1" name="Text 9"/>
          <p:cNvSpPr txBox="1"/>
          <p:nvPr/>
        </p:nvSpPr>
        <p:spPr>
          <a:xfrm>
            <a:off x="1280160" y="3566160"/>
            <a:ext cx="6035040" cy="86868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An honest test</a:t>
            </a:r>
            <a:endParaRPr lang="en-US" sz="1600" dirty="0"/>
          </a:p>
          <a:p>
            <a:pPr indent="0" marL="0">
              <a:buNone/>
            </a:pPr>
            <a:r>
              <a:rPr lang="en-US" sz="1600" dirty="0">
                <a:solidFill>
                  <a:srgbClr val="B8C4C2"/>
                </a:solidFill>
                <a:latin typeface="Calibri" pitchFamily="34" charset="0"/>
                <a:ea typeface="Calibri" pitchFamily="34" charset="-122"/>
                <a:cs typeface="Calibri" pitchFamily="34" charset="-120"/>
              </a:rPr>
              <a:t>Methods chosen before 2021 and tested once; simple persistence wins</a:t>
            </a:r>
            <a:endParaRPr lang="en-US" sz="1600" dirty="0"/>
          </a:p>
        </p:txBody>
      </p:sp>
      <p:sp>
        <p:nvSpPr>
          <p:cNvPr id="12" name="Shape 10"/>
          <p:cNvSpPr/>
          <p:nvPr/>
        </p:nvSpPr>
        <p:spPr>
          <a:xfrm>
            <a:off x="548640" y="4663440"/>
            <a:ext cx="457200" cy="457200"/>
          </a:xfrm>
          <a:prstGeom prst="ellipse">
            <a:avLst/>
          </a:prstGeom>
          <a:solidFill>
            <a:srgbClr val="0E5E5A"/>
          </a:solidFill>
          <a:ln w="12700">
            <a:solidFill>
              <a:srgbClr val="0E5E5A"/>
            </a:solidFill>
            <a:prstDash val="solid"/>
          </a:ln>
        </p:spPr>
      </p:sp>
      <p:sp>
        <p:nvSpPr>
          <p:cNvPr id="13" name="Text 11"/>
          <p:cNvSpPr txBox="1"/>
          <p:nvPr/>
        </p:nvSpPr>
        <p:spPr>
          <a:xfrm>
            <a:off x="548640" y="46634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4" name="Text 12"/>
          <p:cNvSpPr txBox="1"/>
          <p:nvPr/>
        </p:nvSpPr>
        <p:spPr>
          <a:xfrm>
            <a:off x="1280160" y="4617720"/>
            <a:ext cx="6035040" cy="86868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 usable tool</a:t>
            </a:r>
            <a:endParaRPr lang="en-US" sz="1600" dirty="0"/>
          </a:p>
          <a:p>
            <a:pPr indent="0" marL="0">
              <a:buNone/>
            </a:pPr>
            <a:r>
              <a:rPr lang="en-US" sz="1600" dirty="0">
                <a:solidFill>
                  <a:srgbClr val="B8C4C2"/>
                </a:solidFill>
                <a:latin typeface="Calibri" pitchFamily="34" charset="0"/>
                <a:ea typeface="Calibri" pitchFamily="34" charset="-122"/>
                <a:cs typeface="Calibri" pitchFamily="34" charset="-120"/>
              </a:rPr>
              <a:t>Dashboard separating evidence from assumption, with open data downloads</a:t>
            </a:r>
            <a:endParaRPr lang="en-US" sz="1600" dirty="0"/>
          </a:p>
        </p:txBody>
      </p:sp>
      <p:sp>
        <p:nvSpPr>
          <p:cNvPr id="15" name="Text 13"/>
          <p:cNvSpPr txBox="1"/>
          <p:nvPr/>
        </p:nvSpPr>
        <p:spPr>
          <a:xfrm>
            <a:off x="7589520" y="1463040"/>
            <a:ext cx="4023360" cy="457200"/>
          </a:xfrm>
          <a:prstGeom prst="rect">
            <a:avLst/>
          </a:prstGeom>
          <a:noFill/>
          <a:ln/>
        </p:spPr>
        <p:txBody>
          <a:bodyPr wrap="square" lIns="0" tIns="0" rIns="0" bIns="0" rtlCol="0" anchor="ctr"/>
          <a:lstStyle/>
          <a:p>
            <a:pPr indent="0" marL="0">
              <a:buNone/>
            </a:pPr>
            <a:r>
              <a:rPr lang="en-US" sz="2200" b="1" dirty="0">
                <a:solidFill>
                  <a:srgbClr val="7FB5AE"/>
                </a:solidFill>
                <a:latin typeface="Cambria" pitchFamily="34" charset="0"/>
                <a:ea typeface="Cambria" pitchFamily="34" charset="-122"/>
                <a:cs typeface="Cambria" pitchFamily="34" charset="-120"/>
              </a:rPr>
              <a:t>Next steps</a:t>
            </a:r>
            <a:endParaRPr lang="en-US" sz="2200" dirty="0"/>
          </a:p>
        </p:txBody>
      </p:sp>
      <p:sp>
        <p:nvSpPr>
          <p:cNvPr id="16" name="Text 14"/>
          <p:cNvSpPr txBox="1"/>
          <p:nvPr/>
        </p:nvSpPr>
        <p:spPr>
          <a:xfrm>
            <a:off x="7589520" y="2057400"/>
            <a:ext cx="402336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Add the IEC 2026 registration snapshot (age and gender)</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Train only on post-2011 transitions, when patterns stabilised</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Extend to ward level and other provinces</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Update after the 4 November 2026 results</a:t>
            </a:r>
            <a:endParaRPr lang="en-US" sz="1500" dirty="0"/>
          </a:p>
        </p:txBody>
      </p:sp>
      <p:sp>
        <p:nvSpPr>
          <p:cNvPr id="17" name="Text 15"/>
          <p:cNvSpPr txBox="1"/>
          <p:nvPr/>
        </p:nvSpPr>
        <p:spPr>
          <a:xfrm>
            <a:off x="548640" y="5943600"/>
            <a:ext cx="5486400" cy="548640"/>
          </a:xfrm>
          <a:prstGeom prst="rect">
            <a:avLst/>
          </a:prstGeom>
          <a:noFill/>
          <a:ln/>
        </p:spPr>
        <p:txBody>
          <a:bodyPr wrap="square" lIns="0" tIns="0" rIns="0" bIns="0" rtlCol="0" anchor="ctr"/>
          <a:lstStyle/>
          <a:p>
            <a:pPr indent="0" marL="0">
              <a:buNone/>
            </a:pPr>
            <a:r>
              <a:rPr lang="en-US" sz="2400" b="1" dirty="0">
                <a:solidFill>
                  <a:srgbClr val="7FB5AE"/>
                </a:solidFill>
                <a:latin typeface="Cambria" pitchFamily="34" charset="0"/>
                <a:ea typeface="Cambria" pitchFamily="34" charset="-122"/>
                <a:cs typeface="Cambria" pitchFamily="34" charset="-120"/>
              </a:rPr>
              <a:t>Thank you</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t"/>
          <a:lstStyle/>
          <a:p>
            <a:pPr indent="0" marL="0">
              <a:buNone/>
            </a:pPr>
            <a:r>
              <a:rPr lang="en-US" sz="3000" b="1" dirty="0">
                <a:solidFill>
                  <a:srgbClr val="1E2B2F"/>
                </a:solidFill>
                <a:latin typeface="Cambria" pitchFamily="34" charset="0"/>
                <a:ea typeface="Cambria" pitchFamily="34" charset="-122"/>
                <a:cs typeface="Cambria" pitchFamily="34" charset="-120"/>
              </a:rPr>
              <a:t>References</a:t>
            </a:r>
            <a:endParaRPr lang="en-US" sz="3000" dirty="0"/>
          </a:p>
        </p:txBody>
      </p:sp>
      <p:sp>
        <p:nvSpPr>
          <p:cNvPr id="3" name="Text 1"/>
          <p:cNvSpPr txBox="1"/>
          <p:nvPr/>
        </p:nvSpPr>
        <p:spPr>
          <a:xfrm>
            <a:off x="548640" y="1280160"/>
            <a:ext cx="11094415" cy="4937760"/>
          </a:xfrm>
          <a:prstGeom prst="rect">
            <a:avLst/>
          </a:prstGeom>
          <a:noFill/>
          <a:ln/>
        </p:spPr>
        <p:txBody>
          <a:bodyPr wrap="square" lIns="0" tIns="0" rIns="0" bIns="0" rtlCol="0" anchor="t"/>
          <a:lstStyle/>
          <a:p>
            <a:pPr indent="0" marL="0">
              <a:spcAft>
                <a:spcPts val="700"/>
              </a:spcAft>
              <a:buNone/>
            </a:pPr>
            <a:r>
              <a:rPr lang="en-US" sz="1300" dirty="0">
                <a:solidFill>
                  <a:srgbClr val="1E2B2F"/>
                </a:solidFill>
                <a:latin typeface="Calibri" pitchFamily="34" charset="0"/>
                <a:ea typeface="Calibri" pitchFamily="34" charset="-122"/>
                <a:cs typeface="Calibri" pitchFamily="34" charset="-120"/>
              </a:rPr>
              <a:t>Electoral Commission of South Africa (IEC). Municipal election results downloads, LGE 2000-2021. results.elections.org.za/home/downloads/me-results</a:t>
            </a:r>
            <a:endParaRPr lang="en-US" sz="1300" dirty="0"/>
          </a:p>
          <a:p>
            <a:pPr indent="0" marL="0">
              <a:spcAft>
                <a:spcPts val="700"/>
              </a:spcAft>
              <a:buNone/>
            </a:pPr>
            <a:r>
              <a:rPr lang="en-US" sz="1300" dirty="0">
                <a:solidFill>
                  <a:srgbClr val="1E2B2F"/>
                </a:solidFill>
                <a:latin typeface="Calibri" pitchFamily="34" charset="0"/>
                <a:ea typeface="Calibri" pitchFamily="34" charset="-122"/>
                <a:cs typeface="Calibri" pitchFamily="34" charset="-120"/>
              </a:rPr>
              <a:t>IEC. Voter Turnout Reports, LGE 2000-2021. results.elections.org.za</a:t>
            </a:r>
            <a:endParaRPr lang="en-US" sz="1300" dirty="0"/>
          </a:p>
          <a:p>
            <a:pPr indent="0" marL="0">
              <a:spcAft>
                <a:spcPts val="700"/>
              </a:spcAft>
              <a:buNone/>
            </a:pPr>
            <a:r>
              <a:rPr lang="en-US" sz="1300" dirty="0">
                <a:solidFill>
                  <a:srgbClr val="1E2B2F"/>
                </a:solidFill>
                <a:latin typeface="Calibri" pitchFamily="34" charset="0"/>
                <a:ea typeface="Calibri" pitchFamily="34" charset="-122"/>
                <a:cs typeface="Calibri" pitchFamily="34" charset="-120"/>
              </a:rPr>
              <a:t>IEC. Voter Registration Statistics. elections.org.za/pw/StatsData/Voter-Registration-Statistics</a:t>
            </a:r>
            <a:endParaRPr lang="en-US" sz="1300" dirty="0"/>
          </a:p>
          <a:p>
            <a:pPr indent="0" marL="0">
              <a:spcAft>
                <a:spcPts val="700"/>
              </a:spcAft>
              <a:buNone/>
            </a:pPr>
            <a:r>
              <a:rPr lang="en-US" sz="1300" dirty="0">
                <a:solidFill>
                  <a:srgbClr val="1E2B2F"/>
                </a:solidFill>
                <a:latin typeface="Calibri" pitchFamily="34" charset="0"/>
                <a:ea typeface="Calibri" pitchFamily="34" charset="-122"/>
                <a:cs typeface="Calibri" pitchFamily="34" charset="-120"/>
              </a:rPr>
              <a:t>Statistics South Africa. Census 2011 and Census 2022. census.statssa.gov.za (upstream tables of our census file not recorded; see docs/DATA_SOURCES.md)</a:t>
            </a:r>
            <a:endParaRPr lang="en-US" sz="1300" dirty="0"/>
          </a:p>
          <a:p>
            <a:pPr indent="0" marL="0">
              <a:spcAft>
                <a:spcPts val="700"/>
              </a:spcAft>
              <a:buNone/>
            </a:pPr>
            <a:r>
              <a:rPr lang="en-US" sz="1300" dirty="0">
                <a:solidFill>
                  <a:srgbClr val="1E2B2F"/>
                </a:solidFill>
                <a:latin typeface="Calibri" pitchFamily="34" charset="0"/>
                <a:ea typeface="Calibri" pitchFamily="34" charset="-122"/>
                <a:cs typeface="Calibri" pitchFamily="34" charset="-120"/>
              </a:rPr>
              <a:t>Municipal Demarcation Board 2011 local municipal boundaries, via github.com/datawizzards/zadmaps</a:t>
            </a:r>
            <a:endParaRPr lang="en-US" sz="1300" dirty="0"/>
          </a:p>
          <a:p>
            <a:pPr indent="0" marL="0">
              <a:spcAft>
                <a:spcPts val="700"/>
              </a:spcAft>
              <a:buNone/>
            </a:pPr>
            <a:r>
              <a:rPr lang="en-US" sz="1300" dirty="0">
                <a:solidFill>
                  <a:srgbClr val="1E2B2F"/>
                </a:solidFill>
                <a:latin typeface="Calibri" pitchFamily="34" charset="0"/>
                <a:ea typeface="Calibri" pitchFamily="34" charset="-122"/>
                <a:cs typeface="Calibri" pitchFamily="34" charset="-120"/>
              </a:rPr>
              <a:t>Laakso, M. &amp; Taagepera, R. (1979). 'Effective' number of parties. Comparative Political Studies, 12(1), 3-27.</a:t>
            </a:r>
            <a:endParaRPr lang="en-US" sz="1300" dirty="0"/>
          </a:p>
          <a:p>
            <a:pPr indent="0" marL="0">
              <a:spcAft>
                <a:spcPts val="700"/>
              </a:spcAft>
              <a:buNone/>
            </a:pPr>
            <a:r>
              <a:rPr lang="en-US" sz="1300" dirty="0">
                <a:solidFill>
                  <a:srgbClr val="1E2B2F"/>
                </a:solidFill>
                <a:latin typeface="Calibri" pitchFamily="34" charset="0"/>
                <a:ea typeface="Calibri" pitchFamily="34" charset="-122"/>
                <a:cs typeface="Calibri" pitchFamily="34" charset="-120"/>
              </a:rPr>
              <a:t>Geys, B. (2006). Explaining voter turnout: a review of aggregate-level research. Electoral Studies, 25(4), 637-663.</a:t>
            </a:r>
            <a:endParaRPr lang="en-US" sz="1300" dirty="0"/>
          </a:p>
          <a:p>
            <a:pPr indent="0" marL="0">
              <a:spcAft>
                <a:spcPts val="700"/>
              </a:spcAft>
              <a:buNone/>
            </a:pPr>
            <a:r>
              <a:rPr lang="en-US" sz="1300" dirty="0">
                <a:solidFill>
                  <a:srgbClr val="1E2B2F"/>
                </a:solidFill>
                <a:latin typeface="Calibri" pitchFamily="34" charset="0"/>
                <a:ea typeface="Calibri" pitchFamily="34" charset="-122"/>
                <a:cs typeface="Calibri" pitchFamily="34" charset="-120"/>
              </a:rPr>
              <a:t>Robinson, W.S. (1950). Ecological correlations and the behavior of individuals. American Sociological Review, 15(3), 351-357.</a:t>
            </a:r>
            <a:endParaRPr lang="en-US" sz="1300" dirty="0"/>
          </a:p>
          <a:p>
            <a:pPr indent="0" marL="0">
              <a:spcAft>
                <a:spcPts val="700"/>
              </a:spcAft>
              <a:buNone/>
            </a:pPr>
            <a:r>
              <a:rPr lang="en-US" sz="1300" dirty="0">
                <a:solidFill>
                  <a:srgbClr val="1E2B2F"/>
                </a:solidFill>
                <a:latin typeface="Calibri" pitchFamily="34" charset="0"/>
                <a:ea typeface="Calibri" pitchFamily="34" charset="-122"/>
                <a:cs typeface="Calibri" pitchFamily="34" charset="-120"/>
              </a:rPr>
              <a:t>Simpson, E.H. (1951). The interpretation of interaction in contingency tables. JRSS Series B, 13(2), 238-241.</a:t>
            </a:r>
            <a:endParaRPr lang="en-US" sz="1300" dirty="0"/>
          </a:p>
          <a:p>
            <a:pPr indent="0" marL="0">
              <a:spcAft>
                <a:spcPts val="700"/>
              </a:spcAft>
              <a:buNone/>
            </a:pPr>
            <a:r>
              <a:rPr lang="en-US" sz="1300" dirty="0">
                <a:solidFill>
                  <a:srgbClr val="1E2B2F"/>
                </a:solidFill>
                <a:latin typeface="Calibri" pitchFamily="34" charset="0"/>
                <a:ea typeface="Calibri" pitchFamily="34" charset="-122"/>
                <a:cs typeface="Calibri" pitchFamily="34" charset="-120"/>
              </a:rPr>
              <a:t>Hyndman, R.J. &amp; Athanasopoulos, G. (2021). Forecasting: Principles and Practice (3rd ed.), section 5.10. otexts.com/fpp3</a:t>
            </a:r>
            <a:endParaRPr lang="en-US" sz="1300" dirty="0"/>
          </a:p>
          <a:p>
            <a:pPr indent="0" marL="0">
              <a:spcAft>
                <a:spcPts val="700"/>
              </a:spcAft>
              <a:buNone/>
            </a:pPr>
            <a:r>
              <a:rPr lang="en-US" sz="1300" dirty="0">
                <a:solidFill>
                  <a:srgbClr val="1E2B2F"/>
                </a:solidFill>
                <a:latin typeface="Calibri" pitchFamily="34" charset="0"/>
                <a:ea typeface="Calibri" pitchFamily="34" charset="-122"/>
                <a:cs typeface="Calibri" pitchFamily="34" charset="-120"/>
              </a:rPr>
              <a:t>Pedregosa, F. et al. (2011). Scikit-learn: Machine learning in Python. JMLR, 12, 2825-2830.</a:t>
            </a:r>
            <a:endParaRPr lang="en-US" sz="1300" dirty="0"/>
          </a:p>
          <a:p>
            <a:pPr indent="0" marL="0">
              <a:spcAft>
                <a:spcPts val="700"/>
              </a:spcAft>
              <a:buNone/>
            </a:pPr>
            <a:r>
              <a:rPr lang="en-US" sz="1300" dirty="0">
                <a:solidFill>
                  <a:srgbClr val="1E2B2F"/>
                </a:solidFill>
                <a:latin typeface="Calibri" pitchFamily="34" charset="0"/>
                <a:ea typeface="Calibri" pitchFamily="34" charset="-122"/>
                <a:cs typeface="Calibri" pitchFamily="34" charset="-120"/>
              </a:rPr>
              <a:t>Seabold, S. &amp; Perktold, J. (2010). statsmodels: Econometric and statistical modeling with Python. Proc. 9th Python in Science Conf.</a:t>
            </a:r>
            <a:endParaRPr lang="en-US" sz="1300" dirty="0"/>
          </a:p>
        </p:txBody>
      </p:sp>
      <p:sp>
        <p:nvSpPr>
          <p:cNvPr id="4" name="Text 2"/>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000" dirty="0">
                <a:solidFill>
                  <a:srgbClr val="5C6B6E"/>
                </a:solidFill>
                <a:latin typeface="Calibri" pitchFamily="34" charset="0"/>
                <a:ea typeface="Calibri" pitchFamily="34" charset="-122"/>
                <a:cs typeface="Calibri" pitchFamily="34" charset="-120"/>
              </a:rPr>
              <a:t>Code, data, notebooks and documentation: github.com/MonwabisiThebe/UFH-DIRISA-TEAM-QUALIFICATION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Eastern Cape Municipal Electoral Dynamics</dc:title>
  <dc:subject>PptxGenJS Presentation</dc:subject>
  <dc:creator>University of Fort Hare team</dc:creator>
  <cp:lastModifiedBy>University of Fort Hare team</cp:lastModifiedBy>
  <cp:revision>1</cp:revision>
  <dcterms:created xsi:type="dcterms:W3CDTF">2026-10-01T21:15:57Z</dcterms:created>
  <dcterms:modified xsi:type="dcterms:W3CDTF">2026-10-01T21:15:57Z</dcterms:modified>
</cp:coreProperties>
</file>