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/>
            </a:pPr>
            <a:r>
              <a:t>Eastern Cape Municipal Electoral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332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100"/>
            </a:pPr>
            <a:r>
              <a:t>University of Fort Hare · DIRISA Student Datathon Challenge 2026</a:t>
            </a:r>
          </a:p>
          <a:p>
            <a:pPr>
              <a:spcAft>
                <a:spcPts val="1000"/>
              </a:spcAft>
              <a:defRPr sz="2100"/>
            </a:pPr>
            <a:r>
              <a:t>Historical participation, political competition and model-based 2026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UFH · DIRISA 2026     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/>
            </a:pPr>
            <a:r>
              <a:t>The 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332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What explains differences in electoral participation across Eastern Cape municipalities, and what do historical electoral patterns suggest about turnout and party support in the 2026 Local Government Elections?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Scope: 33-municipality analytical geography · five LGEs · 2000–2021 historical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UFH · DIRISA 2026   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/>
            </a:pPr>
            <a:r>
              <a:t>From fragmented data to one analytical history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332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IEC detailed LGE results: 2000, 2006, 2011, 2016, 2021</a:t>
            </a:r>
          </a:p>
          <a:p>
            <a:pPr>
              <a:spcAft>
                <a:spcPts val="1000"/>
              </a:spcAft>
              <a:defRPr sz="1900"/>
            </a:pPr>
            <a:r>
              <a:t>PR ballots for party-support comparability</a:t>
            </a:r>
          </a:p>
          <a:p>
            <a:pPr>
              <a:spcAft>
                <a:spcPts val="1000"/>
              </a:spcAft>
              <a:defRPr sz="1900"/>
            </a:pPr>
            <a:r>
              <a:t>Explicit historical municipality crosswalk</a:t>
            </a:r>
          </a:p>
          <a:p>
            <a:pPr>
              <a:spcAft>
                <a:spcPts val="1000"/>
              </a:spcAft>
              <a:defRPr sz="1900"/>
            </a:pPr>
            <a:r>
              <a:t>Voting-district deduplication for repeated registered/spoilt fields</a:t>
            </a:r>
          </a:p>
          <a:p>
            <a:pPr>
              <a:spcAft>
                <a:spcPts val="1000"/>
              </a:spcAft>
              <a:defRPr sz="1900"/>
            </a:pPr>
            <a:r>
              <a:t>Census 2011 and 2022 municipality context</a:t>
            </a:r>
          </a:p>
          <a:p>
            <a:pPr>
              <a:spcAft>
                <a:spcPts val="1000"/>
              </a:spcAft>
              <a:defRPr sz="1900"/>
            </a:pPr>
            <a:r>
              <a:t>164 municipality-election observations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UFH · DIRISA 2026   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/>
            </a:pPr>
            <a:r>
              <a:t>Six-phase reproducible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332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1  Historical election reconstruction</a:t>
            </a:r>
          </a:p>
          <a:p>
            <a:pPr>
              <a:spcAft>
                <a:spcPts val="1000"/>
              </a:spcAft>
              <a:defRPr sz="1900"/>
            </a:pPr>
            <a:r>
              <a:t>2  Demographic preparation and temporal alignment</a:t>
            </a:r>
          </a:p>
          <a:p>
            <a:pPr>
              <a:spcAft>
                <a:spcPts val="1000"/>
              </a:spcAft>
              <a:defRPr sz="1900"/>
            </a:pPr>
            <a:r>
              <a:t>3  Master panel and exploratory analysis</a:t>
            </a:r>
          </a:p>
          <a:p>
            <a:pPr>
              <a:spcAft>
                <a:spcPts val="1000"/>
              </a:spcAft>
              <a:defRPr sz="1900"/>
            </a:pPr>
            <a:r>
              <a:t>4  Leakage-safe turnout backtesting</a:t>
            </a:r>
          </a:p>
          <a:p>
            <a:pPr>
              <a:spcAft>
                <a:spcPts val="1000"/>
              </a:spcAft>
              <a:defRPr sz="1900"/>
            </a:pPr>
            <a:r>
              <a:t>5  PR party-support backtesting</a:t>
            </a:r>
          </a:p>
          <a:p>
            <a:pPr>
              <a:spcAft>
                <a:spcPts val="1000"/>
              </a:spcAft>
              <a:defRPr sz="1900"/>
            </a:pPr>
            <a:r>
              <a:t>6  Model-based 2026 scenarios + Streamlit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UFH · DIRISA 2026   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/>
            </a:pPr>
            <a:r>
              <a:t>What we measure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332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Participation: registered voters, votes cast and turnout</a:t>
            </a:r>
          </a:p>
          <a:p>
            <a:pPr>
              <a:spcAft>
                <a:spcPts val="1000"/>
              </a:spcAft>
              <a:defRPr sz="1900"/>
            </a:pPr>
            <a:r>
              <a:t>Competition: victory margin and Effective Number of Parties (ENP)</a:t>
            </a:r>
          </a:p>
          <a:p>
            <a:pPr>
              <a:spcAft>
                <a:spcPts val="1000"/>
              </a:spcAft>
              <a:defRPr sz="1900"/>
            </a:pPr>
            <a:r>
              <a:t>Party support: PR vote shares</a:t>
            </a:r>
          </a:p>
          <a:p>
            <a:pPr>
              <a:spcAft>
                <a:spcPts val="1000"/>
              </a:spcAft>
              <a:defRPr sz="1900"/>
            </a:pPr>
            <a:r>
              <a:t>Context: population, age structure, education and service indicators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ENP is calculated from the full party distribution before selected-party grouping.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UFH · DIRISA 2026   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/>
            </a:pPr>
            <a:r>
              <a:t>Validation before 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332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Temporal holdouts rather than random-row splits</a:t>
            </a:r>
          </a:p>
          <a:p>
            <a:pPr>
              <a:spcAft>
                <a:spcPts val="1000"/>
              </a:spcAft>
              <a:defRPr sz="1900"/>
            </a:pPr>
            <a:r>
              <a:t>Same-election outcomes excluded from pre-election turnout predictors</a:t>
            </a:r>
          </a:p>
          <a:p>
            <a:pPr>
              <a:spcAft>
                <a:spcPts val="1000"/>
              </a:spcAft>
              <a:defRPr sz="1900"/>
            </a:pPr>
            <a:r>
              <a:t>2022-informed interpolated demographics excluded from the strict pre-2021 turnout forecast</a:t>
            </a:r>
          </a:p>
          <a:p>
            <a:pPr>
              <a:spcAft>
                <a:spcPts val="1000"/>
              </a:spcAft>
              <a:defRPr sz="1900"/>
            </a:pPr>
            <a:r>
              <a:t>Complex models compared against simple historical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UFH · DIRISA 2026   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/>
            </a:pPr>
            <a:r>
              <a:t>Turnout backtest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332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2021 holdout MAE (percentage points)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Average Change Baseline   7.725</a:t>
            </a:r>
          </a:p>
          <a:p>
            <a:pPr>
              <a:spcAft>
                <a:spcPts val="1000"/>
              </a:spcAft>
              <a:defRPr sz="1900"/>
            </a:pPr>
            <a:r>
              <a:t>Previous Turnout          8.204</a:t>
            </a:r>
          </a:p>
          <a:p>
            <a:pPr>
              <a:spcAft>
                <a:spcPts val="1000"/>
              </a:spcAft>
              <a:defRPr sz="1900"/>
            </a:pPr>
            <a:r>
              <a:t>Random Forest             8.795</a:t>
            </a:r>
          </a:p>
          <a:p>
            <a:pPr>
              <a:spcAft>
                <a:spcPts val="1000"/>
              </a:spcAft>
              <a:defRPr sz="1900"/>
            </a:pPr>
            <a:r>
              <a:t>Ridge                     9.428</a:t>
            </a:r>
          </a:p>
          <a:p>
            <a:pPr>
              <a:spcAft>
                <a:spcPts val="1000"/>
              </a:spcAft>
              <a:defRPr sz="1900"/>
            </a:pPr>
            <a:r>
              <a:t>Linear Regression         9.527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The lowest-error historically validated method is carried forward.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UFH · DIRISA 2026   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/>
            </a:pPr>
            <a:r>
              <a:t>Party-support backtest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332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Selected PR categories: ANC, DA, EFF, UDM, ATM and OTHER</a:t>
            </a:r>
          </a:p>
          <a:p>
            <a:pPr>
              <a:spcAft>
                <a:spcPts val="1000"/>
              </a:spcAft>
              <a:defRPr sz="1900"/>
            </a:pPr>
            <a:r>
              <a:t>Methods selected separately by category using 2021 holdout MAE</a:t>
            </a:r>
          </a:p>
          <a:p>
            <a:pPr>
              <a:spcAft>
                <a:spcPts val="1000"/>
              </a:spcAft>
              <a:defRPr sz="1900"/>
            </a:pPr>
            <a:r>
              <a:t>Overall reconstructed 2021 party-share MAE: ~2.502 percentage points</a:t>
            </a:r>
          </a:p>
          <a:p>
            <a:pPr>
              <a:spcAft>
                <a:spcPts val="1000"/>
              </a:spcAft>
              <a:defRPr sz="1900"/>
            </a:pPr>
            <a:r>
              <a:t>Largest-share historical category matched in 32 of 33 municipalities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This is a historical diagnostic, not a guarantee about 2026.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UFH · DIRISA 2026   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/>
            </a:pPr>
            <a:r>
              <a:t>2026 model-based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332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Turnout central scenario: validated Average Change Baseline</a:t>
            </a:r>
          </a:p>
          <a:p>
            <a:pPr>
              <a:spcAft>
                <a:spcPts val="1000"/>
              </a:spcAft>
              <a:defRPr sz="1900"/>
            </a:pPr>
            <a:r>
              <a:t>Mean central turnout scenario across 33 municipalities: ~47.547%</a:t>
            </a:r>
          </a:p>
          <a:p>
            <a:pPr>
              <a:spcAft>
                <a:spcPts val="1000"/>
              </a:spcAft>
              <a:defRPr sz="1900"/>
            </a:pPr>
            <a:r>
              <a:t>Turnout historical-MAE sensitivity: ~7.725 percentage points</a:t>
            </a:r>
          </a:p>
          <a:p>
            <a:pPr>
              <a:spcAft>
                <a:spcPts val="1000"/>
              </a:spcAft>
              <a:defRPr sz="1900"/>
            </a:pPr>
            <a:r>
              <a:t>Party-share historical-MAE sensitivity: ~2.502 percentage points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Sensitivity bands are not formal confidence intervals.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UFH · DIRISA 2026   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/>
            </a:pPr>
            <a:r>
              <a:t>Interactive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332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Streamlit reads authoritative Phase 1–6 outputs directly.</a:t>
            </a:r>
          </a:p>
          <a:p>
            <a:pPr>
              <a:spcAft>
                <a:spcPts val="1000"/>
              </a:spcAft>
              <a:defRPr sz="1900"/>
            </a:pPr>
            <a:r>
              <a:t>Municipality profile · history · participation/context · model validation · 2026 scenarios · methodology/QC</a:t>
            </a:r>
          </a:p>
          <a:p>
            <a:pPr>
              <a:spcAft>
                <a:spcPts val="1000"/>
              </a:spcAft>
              <a:defRPr sz="1900"/>
            </a:pPr>
            <a:r>
              <a:t>No dummy-data fallback: missing required outputs stop the app rather than displaying invented 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UFH · DIRISA 2026   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/>
            </a:pPr>
            <a: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332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Five LGE cycles provide limited temporal depth.</a:t>
            </a:r>
          </a:p>
          <a:p>
            <a:pPr>
              <a:spcAft>
                <a:spcPts val="1000"/>
              </a:spcAft>
              <a:defRPr sz="1900"/>
            </a:pPr>
            <a:r>
              <a:t>Historical municipality changes require approximate harmonisation.</a:t>
            </a:r>
          </a:p>
          <a:p>
            <a:pPr>
              <a:spcAft>
                <a:spcPts val="1000"/>
              </a:spcAft>
              <a:defRPr sz="1900"/>
            </a:pPr>
            <a:r>
              <a:t>2021 turnout was difficult to predict.</a:t>
            </a:r>
          </a:p>
          <a:p>
            <a:pPr>
              <a:spcAft>
                <a:spcPts val="1000"/>
              </a:spcAft>
              <a:defRPr sz="1900"/>
            </a:pPr>
            <a:r>
              <a:t>New parties and structural political changes are difficult to infer from historical LGEs.</a:t>
            </a:r>
          </a:p>
          <a:p>
            <a:pPr>
              <a:spcAft>
                <a:spcPts val="1000"/>
              </a:spcAft>
              <a:defRPr sz="1900"/>
            </a:pPr>
            <a:r>
              <a:t>Municipality-level associations do not identify individual voter behaviour.</a:t>
            </a:r>
          </a:p>
          <a:p>
            <a:pPr>
              <a:spcAft>
                <a:spcPts val="1000"/>
              </a:spcAft>
              <a:defRPr sz="1900"/>
            </a:pPr>
            <a:r>
              <a:t>Historical-MAE bands communicate sensitivity, not probability.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UFH · DIRISA 2026   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/>
            </a:pPr>
            <a:r>
              <a:t>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417320"/>
            <a:ext cx="10332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A reproducible Eastern Cape pipeline from raw IEC files to deployment</a:t>
            </a:r>
          </a:p>
          <a:p>
            <a:pPr>
              <a:spcAft>
                <a:spcPts val="1000"/>
              </a:spcAft>
              <a:defRPr sz="1900"/>
            </a:pPr>
            <a:r>
              <a:t>Transparent harmonisation and provenance</a:t>
            </a:r>
          </a:p>
          <a:p>
            <a:pPr>
              <a:spcAft>
                <a:spcPts val="1000"/>
              </a:spcAft>
              <a:defRPr sz="1900"/>
            </a:pPr>
            <a:r>
              <a:t>Baseline-aware, leakage-conscious validation</a:t>
            </a:r>
          </a:p>
          <a:p>
            <a:pPr>
              <a:spcAft>
                <a:spcPts val="1000"/>
              </a:spcAft>
              <a:defRPr sz="1900"/>
            </a:pPr>
            <a:r>
              <a:t>Separate turnout and PR party-support modelling</a:t>
            </a:r>
          </a:p>
          <a:p>
            <a:pPr>
              <a:spcAft>
                <a:spcPts val="1000"/>
              </a:spcAft>
              <a:defRPr sz="1900"/>
            </a:pPr>
            <a:r>
              <a:t>Scenario outputs with explicit sensitivity and limitations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The contribution is a transparent, testable evidence framework—not certainty about 2026.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0080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/>
            </a:pPr>
            <a:r>
              <a:t>UFH · DIRISA 2026     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